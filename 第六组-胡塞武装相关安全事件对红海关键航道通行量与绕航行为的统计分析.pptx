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60" r:id="rId2"/>
    <p:sldId id="261" r:id="rId3"/>
    <p:sldId id="361" r:id="rId4"/>
    <p:sldId id="291" r:id="rId5"/>
    <p:sldId id="352" r:id="rId6"/>
    <p:sldId id="353" r:id="rId7"/>
    <p:sldId id="354" r:id="rId8"/>
    <p:sldId id="355" r:id="rId9"/>
    <p:sldId id="357" r:id="rId10"/>
    <p:sldId id="358" r:id="rId11"/>
    <p:sldId id="356" r:id="rId12"/>
    <p:sldId id="359" r:id="rId13"/>
    <p:sldId id="360" r:id="rId14"/>
    <p:sldId id="351" r:id="rId15"/>
    <p:sldId id="340" r:id="rId16"/>
    <p:sldId id="341" r:id="rId17"/>
    <p:sldId id="342" r:id="rId18"/>
    <p:sldId id="343" r:id="rId19"/>
    <p:sldId id="344" r:id="rId20"/>
    <p:sldId id="345" r:id="rId21"/>
    <p:sldId id="295" r:id="rId22"/>
    <p:sldId id="346" r:id="rId23"/>
    <p:sldId id="347" r:id="rId24"/>
    <p:sldId id="348" r:id="rId25"/>
    <p:sldId id="350" r:id="rId26"/>
    <p:sldId id="349" r:id="rId27"/>
    <p:sldId id="313" r:id="rId28"/>
    <p:sldId id="362" r:id="rId29"/>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0" userDrawn="1">
          <p15:clr>
            <a:srgbClr val="A4A3A4"/>
          </p15:clr>
        </p15:guide>
        <p15:guide id="2" pos="39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5EAB"/>
    <a:srgbClr val="DDE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4" d="100"/>
          <a:sy n="104" d="100"/>
        </p:scale>
        <p:origin x="284" y="76"/>
      </p:cViewPr>
      <p:guideLst>
        <p:guide orient="horz" pos="2200"/>
        <p:guide pos="393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977C3-5D49-4AE3-94A3-4A850F718679}" type="datetimeFigureOut">
              <a:rPr lang="zh-CN" altLang="en-US" smtClean="0"/>
              <a:t>2026/6/14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3FDB9-DDE0-4054-8528-4EF247FF799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2026/6/14</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1.wdp"/><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8.png"/><Relationship Id="rId7" Type="http://schemas.openxmlformats.org/officeDocument/2006/relationships/image" Target="../media/image28.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1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8.png"/><Relationship Id="rId7" Type="http://schemas.openxmlformats.org/officeDocument/2006/relationships/image" Target="../media/image34.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1.png"/><Relationship Id="rId7"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8.png"/><Relationship Id="rId5" Type="http://schemas.openxmlformats.org/officeDocument/2006/relationships/image" Target="../media/image12.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6.xml"/><Relationship Id="rId7" Type="http://schemas.openxmlformats.org/officeDocument/2006/relationships/image" Target="../media/image12.png"/><Relationship Id="rId2" Type="http://schemas.openxmlformats.org/officeDocument/2006/relationships/tags" Target="../tags/tag5.xml"/><Relationship Id="rId1" Type="http://schemas.openxmlformats.org/officeDocument/2006/relationships/tags" Target="../tags/tag4.xml"/><Relationship Id="rId6" Type="http://schemas.microsoft.com/office/2007/relationships/hdphoto" Target="../media/hdphoto1.wdp"/><Relationship Id="rId5" Type="http://schemas.openxmlformats.org/officeDocument/2006/relationships/image" Target="../media/image11.png"/><Relationship Id="rId10" Type="http://schemas.openxmlformats.org/officeDocument/2006/relationships/image" Target="../media/image41.png"/><Relationship Id="rId4" Type="http://schemas.openxmlformats.org/officeDocument/2006/relationships/slideLayout" Target="../slideLayouts/slideLayout2.xml"/><Relationship Id="rId9" Type="http://schemas.openxmlformats.org/officeDocument/2006/relationships/image" Target="../media/image40.png"/></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9.xml"/><Relationship Id="rId7" Type="http://schemas.microsoft.com/office/2007/relationships/hdphoto" Target="../media/hdphoto1.wdp"/><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1.png"/><Relationship Id="rId5" Type="http://schemas.openxmlformats.org/officeDocument/2006/relationships/slideLayout" Target="../slideLayouts/slideLayout2.xml"/><Relationship Id="rId10" Type="http://schemas.openxmlformats.org/officeDocument/2006/relationships/image" Target="../media/image42.png"/><Relationship Id="rId4" Type="http://schemas.openxmlformats.org/officeDocument/2006/relationships/tags" Target="../tags/tag10.xml"/><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13.xml"/><Relationship Id="rId7" Type="http://schemas.microsoft.com/office/2007/relationships/hdphoto" Target="../media/hdphoto1.wdp"/><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1.png"/><Relationship Id="rId5" Type="http://schemas.openxmlformats.org/officeDocument/2006/relationships/slideLayout" Target="../slideLayouts/slideLayout2.xml"/><Relationship Id="rId10" Type="http://schemas.openxmlformats.org/officeDocument/2006/relationships/image" Target="../media/image43.png"/><Relationship Id="rId4" Type="http://schemas.openxmlformats.org/officeDocument/2006/relationships/tags" Target="../tags/tag14.xml"/><Relationship Id="rId9"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17.xml"/><Relationship Id="rId7" Type="http://schemas.openxmlformats.org/officeDocument/2006/relationships/image" Target="../media/image11.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Layout" Target="../slideLayouts/slideLayout2.xml"/><Relationship Id="rId11" Type="http://schemas.openxmlformats.org/officeDocument/2006/relationships/image" Target="../media/image44.png"/><Relationship Id="rId5" Type="http://schemas.openxmlformats.org/officeDocument/2006/relationships/tags" Target="../tags/tag19.xml"/><Relationship Id="rId10" Type="http://schemas.openxmlformats.org/officeDocument/2006/relationships/image" Target="../media/image8.png"/><Relationship Id="rId4" Type="http://schemas.openxmlformats.org/officeDocument/2006/relationships/tags" Target="../tags/tag18.xml"/><Relationship Id="rId9"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2.xml"/><Relationship Id="rId7" Type="http://schemas.openxmlformats.org/officeDocument/2006/relationships/image" Target="../media/image12.png"/><Relationship Id="rId2" Type="http://schemas.openxmlformats.org/officeDocument/2006/relationships/tags" Target="../tags/tag21.xml"/><Relationship Id="rId1" Type="http://schemas.openxmlformats.org/officeDocument/2006/relationships/tags" Target="../tags/tag20.xml"/><Relationship Id="rId6" Type="http://schemas.microsoft.com/office/2007/relationships/hdphoto" Target="../media/hdphoto1.wdp"/><Relationship Id="rId11" Type="http://schemas.openxmlformats.org/officeDocument/2006/relationships/image" Target="../media/image44.png"/><Relationship Id="rId5" Type="http://schemas.openxmlformats.org/officeDocument/2006/relationships/image" Target="../media/image11.png"/><Relationship Id="rId10" Type="http://schemas.openxmlformats.org/officeDocument/2006/relationships/image" Target="../media/image43.png"/><Relationship Id="rId4" Type="http://schemas.openxmlformats.org/officeDocument/2006/relationships/slideLayout" Target="../slideLayouts/slideLayout2.xml"/><Relationship Id="rId9"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45.jpeg"/></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hyperlink" Target="https://github.com/Kelvin2005/Statistics_Project" TargetMode="External"/><Relationship Id="rId5" Type="http://schemas.openxmlformats.org/officeDocument/2006/relationships/image" Target="../media/image8.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764852" y="1350313"/>
            <a:ext cx="6117528" cy="6117528"/>
          </a:xfrm>
          <a:prstGeom prst="rect">
            <a:avLst/>
          </a:prstGeom>
        </p:spPr>
      </p:pic>
      <p:pic>
        <p:nvPicPr>
          <p:cNvPr id="8" name="图片 7"/>
          <p:cNvPicPr>
            <a:picLocks noChangeAspect="1"/>
          </p:cNvPicPr>
          <p:nvPr/>
        </p:nvPicPr>
        <p:blipFill rotWithShape="1">
          <a:blip r:embed="rId4">
            <a:extLst>
              <a:ext uri="{28A0092B-C50C-407E-A947-70E740481C1C}">
                <a14:useLocalDpi xmlns:a14="http://schemas.microsoft.com/office/drawing/2010/main" val="0"/>
              </a:ext>
            </a:extLst>
          </a:blip>
          <a:srcRect t="7863"/>
          <a:stretch>
            <a:fillRect/>
          </a:stretch>
        </p:blipFill>
        <p:spPr>
          <a:xfrm>
            <a:off x="191346" y="116631"/>
            <a:ext cx="11809309" cy="5226782"/>
          </a:xfrm>
          <a:prstGeom prst="rect">
            <a:avLst/>
          </a:prstGeom>
        </p:spPr>
      </p:pic>
      <p:sp>
        <p:nvSpPr>
          <p:cNvPr id="7" name="矩形 6"/>
          <p:cNvSpPr/>
          <p:nvPr/>
        </p:nvSpPr>
        <p:spPr>
          <a:xfrm>
            <a:off x="191345" y="116631"/>
            <a:ext cx="11809309" cy="5226782"/>
          </a:xfrm>
          <a:prstGeom prst="rect">
            <a:avLst/>
          </a:prstGeom>
          <a:solidFill>
            <a:srgbClr val="024282">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a:ea typeface="宋体" pitchFamily="2" charset="-122"/>
              <a:cs typeface="+mn-cs"/>
            </a:endParaRPr>
          </a:p>
        </p:txBody>
      </p:sp>
      <p:sp>
        <p:nvSpPr>
          <p:cNvPr id="10" name="平行四边形 9"/>
          <p:cNvSpPr/>
          <p:nvPr/>
        </p:nvSpPr>
        <p:spPr>
          <a:xfrm>
            <a:off x="4949527" y="5155867"/>
            <a:ext cx="2292946" cy="38382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11" name="平行四边形 10"/>
          <p:cNvSpPr/>
          <p:nvPr/>
        </p:nvSpPr>
        <p:spPr>
          <a:xfrm>
            <a:off x="2999656" y="5935211"/>
            <a:ext cx="2764598" cy="487239"/>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12" name="平行四边形 11"/>
          <p:cNvSpPr/>
          <p:nvPr/>
        </p:nvSpPr>
        <p:spPr>
          <a:xfrm>
            <a:off x="6427748" y="5935210"/>
            <a:ext cx="2764598" cy="487239"/>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15" name="文本占位符 30"/>
          <p:cNvSpPr txBox="1"/>
          <p:nvPr/>
        </p:nvSpPr>
        <p:spPr>
          <a:xfrm>
            <a:off x="3121932"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 24421001 </a:t>
            </a: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黄婷</a:t>
            </a:r>
          </a:p>
        </p:txBody>
      </p:sp>
      <p:sp>
        <p:nvSpPr>
          <p:cNvPr id="16" name="文本占位符 31"/>
          <p:cNvSpPr txBox="1"/>
          <p:nvPr/>
        </p:nvSpPr>
        <p:spPr>
          <a:xfrm>
            <a:off x="6460218"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24421020 </a:t>
            </a: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高嘉焕</a:t>
            </a:r>
          </a:p>
        </p:txBody>
      </p:sp>
      <p:sp>
        <p:nvSpPr>
          <p:cNvPr id="17" name="文本占位符 32"/>
          <p:cNvSpPr txBox="1"/>
          <p:nvPr/>
        </p:nvSpPr>
        <p:spPr>
          <a:xfrm>
            <a:off x="4791075" y="521310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244277</a:t>
            </a:r>
          </a:p>
        </p:txBody>
      </p:sp>
      <p:sp>
        <p:nvSpPr>
          <p:cNvPr id="24" name="文本占位符 24"/>
          <p:cNvSpPr txBox="1"/>
          <p:nvPr/>
        </p:nvSpPr>
        <p:spPr>
          <a:xfrm>
            <a:off x="995680" y="2200910"/>
            <a:ext cx="10201275" cy="21336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1000"/>
              </a:spcBef>
              <a:spcAft>
                <a:spcPts val="0"/>
              </a:spcAft>
              <a:buClrTx/>
              <a:buSzTx/>
              <a:buFont typeface="Arial" panose="020B0604020202090204" pitchFamily="34" charset="0"/>
              <a:buNone/>
              <a:defRPr/>
            </a:pPr>
            <a:r>
              <a:rPr sz="4800" dirty="0">
                <a:solidFill>
                  <a:sysClr val="window" lastClr="FFFFFF"/>
                </a:solidFill>
              </a:rPr>
              <a:t>胡塞武装相关安全事件对红海关键航道通行量与绕航行为的统计分析</a:t>
            </a:r>
          </a:p>
        </p:txBody>
      </p:sp>
      <p:sp>
        <p:nvSpPr>
          <p:cNvPr id="25" name="文本占位符 27"/>
          <p:cNvSpPr txBox="1"/>
          <p:nvPr/>
        </p:nvSpPr>
        <p:spPr>
          <a:xfrm>
            <a:off x="1166827" y="4542358"/>
            <a:ext cx="9858345" cy="29654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1600" b="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数理统计大作业</a:t>
            </a:r>
          </a:p>
        </p:txBody>
      </p:sp>
      <p:cxnSp>
        <p:nvCxnSpPr>
          <p:cNvPr id="31" name="直接连接符 30"/>
          <p:cNvCxnSpPr/>
          <p:nvPr/>
        </p:nvCxnSpPr>
        <p:spPr>
          <a:xfrm>
            <a:off x="2207568" y="4392452"/>
            <a:ext cx="76328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3879975" y="981574"/>
            <a:ext cx="4918925" cy="1253932"/>
            <a:chOff x="751446" y="486412"/>
            <a:chExt cx="4918925" cy="1253932"/>
          </a:xfrm>
        </p:grpSpPr>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22" name="图片 2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1960350" y="609785"/>
              <a:ext cx="3710021" cy="607920"/>
            </a:xfrm>
            <a:prstGeom prst="rect">
              <a:avLst/>
            </a:prstGeom>
          </p:spPr>
        </p:pic>
        <p:sp>
          <p:nvSpPr>
            <p:cNvPr id="23" name="矩形 22"/>
            <p:cNvSpPr/>
            <p:nvPr/>
          </p:nvSpPr>
          <p:spPr>
            <a:xfrm>
              <a:off x="2167394" y="1226892"/>
              <a:ext cx="3502977" cy="307777"/>
            </a:xfrm>
            <a:prstGeom prst="rect">
              <a:avLst/>
            </a:prstGeom>
          </p:spPr>
          <p:txBody>
            <a:bodyPr wrap="square">
              <a:spAutoFit/>
            </a:bodyPr>
            <a:lstStyle/>
            <a:p>
              <a:pPr lvl="0" algn="dist"/>
              <a:r>
                <a:rPr lang="en-US" altLang="zh-CN" sz="1400" b="1" dirty="0">
                  <a:solidFill>
                    <a:prstClr val="white"/>
                  </a:solidFill>
                </a:rPr>
                <a:t>BEIHANG UNIVERSITY</a:t>
              </a:r>
              <a:endParaRPr kumimoji="0" lang="zh-CN" altLang="en-US" sz="1400" b="1" i="0" u="none" strike="noStrike" kern="1200" cap="none" spc="0" normalizeH="0" baseline="0" noProof="0" dirty="0">
                <a:ln>
                  <a:noFill/>
                </a:ln>
                <a:solidFill>
                  <a:prstClr val="white"/>
                </a:solidFill>
                <a:effectLst/>
                <a:uLnTx/>
                <a:uFillTx/>
                <a:latin typeface="Calibri"/>
                <a:ea typeface="宋体" pitchFamily="2"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4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030031" y="522153"/>
            <a:ext cx="6049548" cy="6049548"/>
          </a:xfrm>
          <a:prstGeom prst="rect">
            <a:avLst/>
          </a:prstGeom>
        </p:spPr>
      </p:pic>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l="12290" r="16132"/>
          <a:stretch>
            <a:fillRect/>
          </a:stretch>
        </p:blipFill>
        <p:spPr>
          <a:xfrm>
            <a:off x="1" y="-1"/>
            <a:ext cx="6240014" cy="6872989"/>
          </a:xfrm>
          <a:prstGeom prst="rect">
            <a:avLst/>
          </a:prstGeom>
        </p:spPr>
      </p:pic>
      <p:sp>
        <p:nvSpPr>
          <p:cNvPr id="3" name="矩形 2"/>
          <p:cNvSpPr/>
          <p:nvPr/>
        </p:nvSpPr>
        <p:spPr>
          <a:xfrm>
            <a:off x="-19601" y="0"/>
            <a:ext cx="6259616" cy="6872990"/>
          </a:xfrm>
          <a:prstGeom prst="rect">
            <a:avLst/>
          </a:prstGeom>
          <a:gradFill flip="none" rotWithShape="1">
            <a:gsLst>
              <a:gs pos="0">
                <a:srgbClr val="024282">
                  <a:alpha val="70000"/>
                </a:srgbClr>
              </a:gs>
              <a:gs pos="59000">
                <a:srgbClr val="024282">
                  <a:alpha val="80000"/>
                </a:srgbClr>
              </a:gs>
              <a:gs pos="100000">
                <a:srgbClr val="024282">
                  <a:alpha val="9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nvGrpSpPr>
          <p:cNvPr id="10" name="组合 9"/>
          <p:cNvGrpSpPr/>
          <p:nvPr/>
        </p:nvGrpSpPr>
        <p:grpSpPr>
          <a:xfrm>
            <a:off x="1251251" y="948678"/>
            <a:ext cx="3022484" cy="1350274"/>
            <a:chOff x="1283804" y="1236710"/>
            <a:chExt cx="3022484" cy="1350274"/>
          </a:xfrm>
        </p:grpSpPr>
        <p:sp>
          <p:nvSpPr>
            <p:cNvPr id="4" name="平行四边形 3"/>
            <p:cNvSpPr/>
            <p:nvPr/>
          </p:nvSpPr>
          <p:spPr>
            <a:xfrm>
              <a:off x="1283804" y="1236710"/>
              <a:ext cx="3022484" cy="1350274"/>
            </a:xfrm>
            <a:prstGeom prst="parallelogram">
              <a:avLst>
                <a:gd name="adj" fmla="val 3020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nvGrpSpPr>
            <p:cNvPr id="6" name="组合 5"/>
            <p:cNvGrpSpPr/>
            <p:nvPr/>
          </p:nvGrpSpPr>
          <p:grpSpPr>
            <a:xfrm>
              <a:off x="1573792" y="1256225"/>
              <a:ext cx="2410259" cy="1330759"/>
              <a:chOff x="4874746" y="232424"/>
              <a:chExt cx="2410259" cy="1330759"/>
            </a:xfrm>
          </p:grpSpPr>
          <p:sp>
            <p:nvSpPr>
              <p:cNvPr id="7" name="文本框 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193843" y="1163073"/>
                <a:ext cx="1772064" cy="400110"/>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2000" b="1" i="0" u="none" strike="noStrike" kern="1200" cap="none" spc="0" normalizeH="0" baseline="0" noProof="0" dirty="0">
                    <a:ln>
                      <a:noFill/>
                    </a:ln>
                    <a:solidFill>
                      <a:srgbClr val="024282"/>
                    </a:solidFill>
                    <a:effectLst/>
                    <a:uLnTx/>
                    <a:uFillTx/>
                    <a:latin typeface="Arial" panose="020B0604020202090204"/>
                    <a:ea typeface="微软雅黑"/>
                    <a:cs typeface="+mn-cs"/>
                    <a:sym typeface="Calibri" panose="020F0502020204030204" pitchFamily="34" charset="0"/>
                  </a:rPr>
                  <a:t>CONTENTS</a:t>
                </a:r>
              </a:p>
            </p:txBody>
          </p:sp>
          <p:sp>
            <p:nvSpPr>
              <p:cNvPr id="8" name="文本框 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4874746" y="232424"/>
                <a:ext cx="2410259" cy="830997"/>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zh-CN" altLang="en-US" sz="4800" b="1" i="0" u="none" strike="noStrike" kern="1200" cap="none" spc="0" normalizeH="0" baseline="0" noProof="0" dirty="0">
                    <a:ln>
                      <a:noFill/>
                    </a:ln>
                    <a:solidFill>
                      <a:srgbClr val="024282"/>
                    </a:solidFill>
                    <a:effectLst/>
                    <a:uLnTx/>
                    <a:uFillTx/>
                    <a:latin typeface="微软雅黑"/>
                    <a:ea typeface="微软雅黑"/>
                    <a:cs typeface="+mn-cs"/>
                    <a:sym typeface="Calibri" panose="020F0502020204030204" pitchFamily="34" charset="0"/>
                  </a:rPr>
                  <a:t>目 录</a:t>
                </a:r>
                <a:endParaRPr kumimoji="0" lang="en-US" altLang="zh-CN" sz="4800" b="1" i="0" u="none" strike="noStrike" kern="1200" cap="none" spc="0" normalizeH="0" baseline="0" noProof="0" dirty="0">
                  <a:ln>
                    <a:noFill/>
                  </a:ln>
                  <a:solidFill>
                    <a:srgbClr val="024282"/>
                  </a:solidFill>
                  <a:effectLst/>
                  <a:uLnTx/>
                  <a:uFillTx/>
                  <a:latin typeface="微软雅黑"/>
                  <a:ea typeface="微软雅黑"/>
                  <a:cs typeface="+mn-cs"/>
                  <a:sym typeface="Calibri" panose="020F0502020204030204" pitchFamily="34" charset="0"/>
                </a:endParaRPr>
              </a:p>
            </p:txBody>
          </p:sp>
          <p:cxnSp>
            <p:nvCxnSpPr>
              <p:cNvPr id="9" name="直接连接符 8"/>
              <p:cNvCxnSpPr/>
              <p:nvPr/>
            </p:nvCxnSpPr>
            <p:spPr>
              <a:xfrm>
                <a:off x="5471592" y="1091557"/>
                <a:ext cx="1224136"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grpSp>
      </p:grpSp>
      <p:grpSp>
        <p:nvGrpSpPr>
          <p:cNvPr id="13" name="组合 12"/>
          <p:cNvGrpSpPr/>
          <p:nvPr/>
        </p:nvGrpSpPr>
        <p:grpSpPr>
          <a:xfrm>
            <a:off x="5519934" y="1112416"/>
            <a:ext cx="1381373" cy="660400"/>
            <a:chOff x="5519936" y="1488468"/>
            <a:chExt cx="1381373" cy="660400"/>
          </a:xfrm>
          <a:effectLst>
            <a:outerShdw blurRad="50800" dist="38100" dir="5400000" algn="t" rotWithShape="0">
              <a:prstClr val="black">
                <a:alpha val="40000"/>
              </a:prstClr>
            </a:outerShdw>
          </a:effectLst>
        </p:grpSpPr>
        <p:sp>
          <p:nvSpPr>
            <p:cNvPr id="11" name="平行四边形 10"/>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a:ea typeface="宋体" pitchFamily="2" charset="-122"/>
                <a:cs typeface="+mn-cs"/>
              </a:endParaRPr>
            </a:p>
          </p:txBody>
        </p:sp>
        <p:sp>
          <p:nvSpPr>
            <p:cNvPr id="12" name="文本框 1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01</a:t>
              </a:r>
            </a:p>
          </p:txBody>
        </p:sp>
      </p:grpSp>
      <p:grpSp>
        <p:nvGrpSpPr>
          <p:cNvPr id="14" name="组合 13"/>
          <p:cNvGrpSpPr/>
          <p:nvPr/>
        </p:nvGrpSpPr>
        <p:grpSpPr>
          <a:xfrm>
            <a:off x="5519935" y="2528573"/>
            <a:ext cx="1381373" cy="660400"/>
            <a:chOff x="5519936" y="1488468"/>
            <a:chExt cx="1381373" cy="660400"/>
          </a:xfrm>
          <a:effectLst>
            <a:outerShdw blurRad="50800" dist="38100" dir="2700000" algn="tl" rotWithShape="0">
              <a:prstClr val="black">
                <a:alpha val="40000"/>
              </a:prstClr>
            </a:outerShdw>
          </a:effectLst>
        </p:grpSpPr>
        <p:sp>
          <p:nvSpPr>
            <p:cNvPr id="15" name="平行四边形 14"/>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16" name="文本框 1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02</a:t>
              </a:r>
            </a:p>
          </p:txBody>
        </p:sp>
      </p:grpSp>
      <p:grpSp>
        <p:nvGrpSpPr>
          <p:cNvPr id="17" name="组合 16"/>
          <p:cNvGrpSpPr/>
          <p:nvPr/>
        </p:nvGrpSpPr>
        <p:grpSpPr>
          <a:xfrm>
            <a:off x="5450291" y="3944730"/>
            <a:ext cx="1381373" cy="660400"/>
            <a:chOff x="5519936" y="1488468"/>
            <a:chExt cx="1381373" cy="660400"/>
          </a:xfrm>
          <a:effectLst>
            <a:outerShdw blurRad="50800" dist="38100" dir="2700000" algn="tl" rotWithShape="0">
              <a:prstClr val="black">
                <a:alpha val="40000"/>
              </a:prstClr>
            </a:outerShdw>
          </a:effectLst>
        </p:grpSpPr>
        <p:sp>
          <p:nvSpPr>
            <p:cNvPr id="18" name="平行四边形 17"/>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19" name="文本框 1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03</a:t>
              </a:r>
            </a:p>
          </p:txBody>
        </p:sp>
      </p:grpSp>
      <p:grpSp>
        <p:nvGrpSpPr>
          <p:cNvPr id="20" name="组合 19"/>
          <p:cNvGrpSpPr/>
          <p:nvPr/>
        </p:nvGrpSpPr>
        <p:grpSpPr>
          <a:xfrm>
            <a:off x="5519934" y="5360888"/>
            <a:ext cx="1381373" cy="660400"/>
            <a:chOff x="5519936" y="1488468"/>
            <a:chExt cx="1381373" cy="660400"/>
          </a:xfrm>
          <a:effectLst>
            <a:outerShdw blurRad="50800" dist="38100" dir="2700000" algn="tl" rotWithShape="0">
              <a:prstClr val="black">
                <a:alpha val="40000"/>
              </a:prstClr>
            </a:outerShdw>
          </a:effectLst>
        </p:grpSpPr>
        <p:sp>
          <p:nvSpPr>
            <p:cNvPr id="21" name="平行四边形 20"/>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22" name="文本框 2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04</a:t>
              </a:r>
            </a:p>
          </p:txBody>
        </p:sp>
      </p:grpSp>
      <p:sp>
        <p:nvSpPr>
          <p:cNvPr id="31" name="文本框 6"/>
          <p:cNvSpPr txBox="1">
            <a:spLocks noChangeArrowheads="1"/>
          </p:cNvSpPr>
          <p:nvPr/>
        </p:nvSpPr>
        <p:spPr bwMode="auto">
          <a:xfrm>
            <a:off x="7389472" y="1140029"/>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研究问题</a:t>
            </a:r>
          </a:p>
        </p:txBody>
      </p:sp>
      <p:sp>
        <p:nvSpPr>
          <p:cNvPr id="35" name="文本框 6"/>
          <p:cNvSpPr txBox="1">
            <a:spLocks noChangeArrowheads="1"/>
          </p:cNvSpPr>
          <p:nvPr/>
        </p:nvSpPr>
        <p:spPr bwMode="auto">
          <a:xfrm>
            <a:off x="7389472" y="2588222"/>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背景</a:t>
            </a:r>
          </a:p>
        </p:txBody>
      </p:sp>
      <p:sp>
        <p:nvSpPr>
          <p:cNvPr id="38" name="文本框 6"/>
          <p:cNvSpPr txBox="1">
            <a:spLocks noChangeArrowheads="1"/>
          </p:cNvSpPr>
          <p:nvPr/>
        </p:nvSpPr>
        <p:spPr bwMode="auto">
          <a:xfrm>
            <a:off x="7389472" y="4004379"/>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数据来源和变量构造</a:t>
            </a:r>
          </a:p>
        </p:txBody>
      </p:sp>
      <p:sp>
        <p:nvSpPr>
          <p:cNvPr id="41" name="文本框 6"/>
          <p:cNvSpPr txBox="1">
            <a:spLocks noChangeArrowheads="1"/>
          </p:cNvSpPr>
          <p:nvPr/>
        </p:nvSpPr>
        <p:spPr bwMode="auto">
          <a:xfrm>
            <a:off x="7389472" y="5436165"/>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研究方法</a:t>
            </a:r>
          </a:p>
        </p:txBody>
      </p:sp>
      <p:pic>
        <p:nvPicPr>
          <p:cNvPr id="23" name="图片 22"/>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9813545" y="6447112"/>
            <a:ext cx="2093426" cy="334487"/>
          </a:xfrm>
          <a:prstGeom prst="rect">
            <a:avLst/>
          </a:prstGeom>
        </p:spPr>
      </p:pic>
      <p:grpSp>
        <p:nvGrpSpPr>
          <p:cNvPr id="43" name="组合 42"/>
          <p:cNvGrpSpPr/>
          <p:nvPr/>
        </p:nvGrpSpPr>
        <p:grpSpPr>
          <a:xfrm>
            <a:off x="9114765" y="102733"/>
            <a:ext cx="2879308" cy="743473"/>
            <a:chOff x="825667" y="458497"/>
            <a:chExt cx="4856203" cy="1253932"/>
          </a:xfrm>
        </p:grpSpPr>
        <p:pic>
          <p:nvPicPr>
            <p:cNvPr id="44" name="图片 4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45" name="图片 4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7" name="矩形 46"/>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602C0-F4EB-9E00-1EED-06F4A8427C2E}"/>
            </a:ext>
          </a:extLst>
        </p:cNvPr>
        <p:cNvGrpSpPr/>
        <p:nvPr/>
      </p:nvGrpSpPr>
      <p:grpSpPr>
        <a:xfrm>
          <a:off x="0" y="0"/>
          <a:ext cx="0" cy="0"/>
          <a:chOff x="0" y="0"/>
          <a:chExt cx="0" cy="0"/>
        </a:xfrm>
      </p:grpSpPr>
      <p:pic>
        <p:nvPicPr>
          <p:cNvPr id="46" name="图片 45">
            <a:extLst>
              <a:ext uri="{FF2B5EF4-FFF2-40B4-BE49-F238E27FC236}">
                <a16:creationId xmlns:a16="http://schemas.microsoft.com/office/drawing/2014/main" id="{A9777056-7309-5E57-79CA-40DEFDE957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030031" y="522153"/>
            <a:ext cx="6049548" cy="6049548"/>
          </a:xfrm>
          <a:prstGeom prst="rect">
            <a:avLst/>
          </a:prstGeom>
        </p:spPr>
      </p:pic>
      <p:pic>
        <p:nvPicPr>
          <p:cNvPr id="2" name="图片 1">
            <a:extLst>
              <a:ext uri="{FF2B5EF4-FFF2-40B4-BE49-F238E27FC236}">
                <a16:creationId xmlns:a16="http://schemas.microsoft.com/office/drawing/2014/main" id="{42110E6A-F4B9-8736-9D85-18F7D03A0AF1}"/>
              </a:ext>
            </a:extLst>
          </p:cNvPr>
          <p:cNvPicPr>
            <a:picLocks noChangeAspect="1"/>
          </p:cNvPicPr>
          <p:nvPr/>
        </p:nvPicPr>
        <p:blipFill rotWithShape="1">
          <a:blip r:embed="rId3">
            <a:extLst>
              <a:ext uri="{28A0092B-C50C-407E-A947-70E740481C1C}">
                <a14:useLocalDpi xmlns:a14="http://schemas.microsoft.com/office/drawing/2010/main" val="0"/>
              </a:ext>
            </a:extLst>
          </a:blip>
          <a:srcRect l="12290" r="16132"/>
          <a:stretch>
            <a:fillRect/>
          </a:stretch>
        </p:blipFill>
        <p:spPr>
          <a:xfrm>
            <a:off x="1" y="-1"/>
            <a:ext cx="6240014" cy="6872989"/>
          </a:xfrm>
          <a:prstGeom prst="rect">
            <a:avLst/>
          </a:prstGeom>
        </p:spPr>
      </p:pic>
      <p:sp>
        <p:nvSpPr>
          <p:cNvPr id="3" name="矩形 2">
            <a:extLst>
              <a:ext uri="{FF2B5EF4-FFF2-40B4-BE49-F238E27FC236}">
                <a16:creationId xmlns:a16="http://schemas.microsoft.com/office/drawing/2014/main" id="{8D61895C-73A2-507E-19F7-0FEE9E0AA337}"/>
              </a:ext>
            </a:extLst>
          </p:cNvPr>
          <p:cNvSpPr/>
          <p:nvPr/>
        </p:nvSpPr>
        <p:spPr>
          <a:xfrm>
            <a:off x="-19601" y="0"/>
            <a:ext cx="6259616" cy="6872990"/>
          </a:xfrm>
          <a:prstGeom prst="rect">
            <a:avLst/>
          </a:prstGeom>
          <a:gradFill flip="none" rotWithShape="1">
            <a:gsLst>
              <a:gs pos="0">
                <a:srgbClr val="024282">
                  <a:alpha val="70000"/>
                </a:srgbClr>
              </a:gs>
              <a:gs pos="59000">
                <a:srgbClr val="024282">
                  <a:alpha val="80000"/>
                </a:srgbClr>
              </a:gs>
              <a:gs pos="100000">
                <a:srgbClr val="024282">
                  <a:alpha val="9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nvGrpSpPr>
          <p:cNvPr id="10" name="组合 9">
            <a:extLst>
              <a:ext uri="{FF2B5EF4-FFF2-40B4-BE49-F238E27FC236}">
                <a16:creationId xmlns:a16="http://schemas.microsoft.com/office/drawing/2014/main" id="{0F81BE2A-10AC-5A24-EFC2-8CA40DF3826C}"/>
              </a:ext>
            </a:extLst>
          </p:cNvPr>
          <p:cNvGrpSpPr/>
          <p:nvPr/>
        </p:nvGrpSpPr>
        <p:grpSpPr>
          <a:xfrm>
            <a:off x="1251251" y="948678"/>
            <a:ext cx="3022484" cy="1350274"/>
            <a:chOff x="1283804" y="1236710"/>
            <a:chExt cx="3022484" cy="1350274"/>
          </a:xfrm>
        </p:grpSpPr>
        <p:sp>
          <p:nvSpPr>
            <p:cNvPr id="4" name="平行四边形 3">
              <a:extLst>
                <a:ext uri="{FF2B5EF4-FFF2-40B4-BE49-F238E27FC236}">
                  <a16:creationId xmlns:a16="http://schemas.microsoft.com/office/drawing/2014/main" id="{97E7C909-8E06-432D-7CB1-2DC62CBE67C7}"/>
                </a:ext>
              </a:extLst>
            </p:cNvPr>
            <p:cNvSpPr/>
            <p:nvPr/>
          </p:nvSpPr>
          <p:spPr>
            <a:xfrm>
              <a:off x="1283804" y="1236710"/>
              <a:ext cx="3022484" cy="1350274"/>
            </a:xfrm>
            <a:prstGeom prst="parallelogram">
              <a:avLst>
                <a:gd name="adj" fmla="val 3020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nvGrpSpPr>
            <p:cNvPr id="6" name="组合 5">
              <a:extLst>
                <a:ext uri="{FF2B5EF4-FFF2-40B4-BE49-F238E27FC236}">
                  <a16:creationId xmlns:a16="http://schemas.microsoft.com/office/drawing/2014/main" id="{B4750C68-91BD-2058-8C9B-60331207D6CF}"/>
                </a:ext>
              </a:extLst>
            </p:cNvPr>
            <p:cNvGrpSpPr/>
            <p:nvPr/>
          </p:nvGrpSpPr>
          <p:grpSpPr>
            <a:xfrm>
              <a:off x="1573792" y="1256225"/>
              <a:ext cx="2410259" cy="1330759"/>
              <a:chOff x="4874746" y="232424"/>
              <a:chExt cx="2410259" cy="1330759"/>
            </a:xfrm>
          </p:grpSpPr>
          <p:sp>
            <p:nvSpPr>
              <p:cNvPr id="7" name="文本框 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F3C465CF-EA08-A3DC-D42B-46DBFF6E8F3E}"/>
                  </a:ext>
                </a:extLst>
              </p:cNvPr>
              <p:cNvSpPr txBox="1">
                <a:spLocks noChangeArrowheads="1"/>
              </p:cNvSpPr>
              <p:nvPr/>
            </p:nvSpPr>
            <p:spPr bwMode="auto">
              <a:xfrm>
                <a:off x="5193843" y="1163073"/>
                <a:ext cx="1772064" cy="400110"/>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2000" b="1" i="0" u="none" strike="noStrike" kern="1200" cap="none" spc="0" normalizeH="0" baseline="0" noProof="0" dirty="0">
                    <a:ln>
                      <a:noFill/>
                    </a:ln>
                    <a:solidFill>
                      <a:srgbClr val="024282"/>
                    </a:solidFill>
                    <a:effectLst/>
                    <a:uLnTx/>
                    <a:uFillTx/>
                    <a:latin typeface="Arial" panose="020B0604020202090204"/>
                    <a:ea typeface="微软雅黑"/>
                    <a:cs typeface="+mn-cs"/>
                    <a:sym typeface="Calibri" panose="020F0502020204030204" pitchFamily="34" charset="0"/>
                  </a:rPr>
                  <a:t>CONTENTS</a:t>
                </a:r>
              </a:p>
            </p:txBody>
          </p:sp>
          <p:sp>
            <p:nvSpPr>
              <p:cNvPr id="8" name="文本框 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A6B77BDC-18F7-1322-70FC-E3A1A98F3D1E}"/>
                  </a:ext>
                </a:extLst>
              </p:cNvPr>
              <p:cNvSpPr txBox="1">
                <a:spLocks noChangeArrowheads="1"/>
              </p:cNvSpPr>
              <p:nvPr/>
            </p:nvSpPr>
            <p:spPr bwMode="auto">
              <a:xfrm>
                <a:off x="4874746" y="232424"/>
                <a:ext cx="2410259" cy="830997"/>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zh-CN" altLang="en-US" sz="4800" b="1" i="0" u="none" strike="noStrike" kern="1200" cap="none" spc="0" normalizeH="0" baseline="0" noProof="0" dirty="0">
                    <a:ln>
                      <a:noFill/>
                    </a:ln>
                    <a:solidFill>
                      <a:srgbClr val="024282"/>
                    </a:solidFill>
                    <a:effectLst/>
                    <a:uLnTx/>
                    <a:uFillTx/>
                    <a:latin typeface="微软雅黑"/>
                    <a:ea typeface="微软雅黑"/>
                    <a:cs typeface="+mn-cs"/>
                    <a:sym typeface="Calibri" panose="020F0502020204030204" pitchFamily="34" charset="0"/>
                  </a:rPr>
                  <a:t>目 录</a:t>
                </a:r>
                <a:endParaRPr kumimoji="0" lang="en-US" altLang="zh-CN" sz="4800" b="1" i="0" u="none" strike="noStrike" kern="1200" cap="none" spc="0" normalizeH="0" baseline="0" noProof="0" dirty="0">
                  <a:ln>
                    <a:noFill/>
                  </a:ln>
                  <a:solidFill>
                    <a:srgbClr val="024282"/>
                  </a:solidFill>
                  <a:effectLst/>
                  <a:uLnTx/>
                  <a:uFillTx/>
                  <a:latin typeface="微软雅黑"/>
                  <a:ea typeface="微软雅黑"/>
                  <a:cs typeface="+mn-cs"/>
                  <a:sym typeface="Calibri" panose="020F0502020204030204" pitchFamily="34" charset="0"/>
                </a:endParaRPr>
              </a:p>
            </p:txBody>
          </p:sp>
          <p:cxnSp>
            <p:nvCxnSpPr>
              <p:cNvPr id="9" name="直接连接符 8">
                <a:extLst>
                  <a:ext uri="{FF2B5EF4-FFF2-40B4-BE49-F238E27FC236}">
                    <a16:creationId xmlns:a16="http://schemas.microsoft.com/office/drawing/2014/main" id="{0867BEFA-9E18-2DAA-43B2-B226B16F161B}"/>
                  </a:ext>
                </a:extLst>
              </p:cNvPr>
              <p:cNvCxnSpPr/>
              <p:nvPr/>
            </p:nvCxnSpPr>
            <p:spPr>
              <a:xfrm>
                <a:off x="5471592" y="1091557"/>
                <a:ext cx="1224136"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grpSp>
      </p:grpSp>
      <p:grpSp>
        <p:nvGrpSpPr>
          <p:cNvPr id="13" name="组合 12">
            <a:extLst>
              <a:ext uri="{FF2B5EF4-FFF2-40B4-BE49-F238E27FC236}">
                <a16:creationId xmlns:a16="http://schemas.microsoft.com/office/drawing/2014/main" id="{EC5F92CF-4BEF-E2B8-8A73-D710705D2AB0}"/>
              </a:ext>
            </a:extLst>
          </p:cNvPr>
          <p:cNvGrpSpPr/>
          <p:nvPr/>
        </p:nvGrpSpPr>
        <p:grpSpPr>
          <a:xfrm>
            <a:off x="5519934" y="1112416"/>
            <a:ext cx="1381373" cy="660400"/>
            <a:chOff x="5519936" y="1488468"/>
            <a:chExt cx="1381373" cy="660400"/>
          </a:xfrm>
          <a:effectLst>
            <a:outerShdw blurRad="50800" dist="38100" dir="5400000" algn="t" rotWithShape="0">
              <a:prstClr val="black">
                <a:alpha val="40000"/>
              </a:prstClr>
            </a:outerShdw>
          </a:effectLst>
        </p:grpSpPr>
        <p:sp>
          <p:nvSpPr>
            <p:cNvPr id="11" name="平行四边形 10">
              <a:extLst>
                <a:ext uri="{FF2B5EF4-FFF2-40B4-BE49-F238E27FC236}">
                  <a16:creationId xmlns:a16="http://schemas.microsoft.com/office/drawing/2014/main" id="{ECA5A794-F4E5-B0B5-D26B-520E699A2B06}"/>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a:ea typeface="宋体" pitchFamily="2" charset="-122"/>
                <a:cs typeface="+mn-cs"/>
              </a:endParaRPr>
            </a:p>
          </p:txBody>
        </p:sp>
        <p:sp>
          <p:nvSpPr>
            <p:cNvPr id="12" name="文本框 1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BEDF2A88-3A11-71EF-9262-AF847F493D48}"/>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05</a:t>
              </a:r>
            </a:p>
          </p:txBody>
        </p:sp>
      </p:grpSp>
      <p:grpSp>
        <p:nvGrpSpPr>
          <p:cNvPr id="14" name="组合 13">
            <a:extLst>
              <a:ext uri="{FF2B5EF4-FFF2-40B4-BE49-F238E27FC236}">
                <a16:creationId xmlns:a16="http://schemas.microsoft.com/office/drawing/2014/main" id="{1313CF7C-5ACB-312A-FA7F-3881F08B5E1E}"/>
              </a:ext>
            </a:extLst>
          </p:cNvPr>
          <p:cNvGrpSpPr/>
          <p:nvPr/>
        </p:nvGrpSpPr>
        <p:grpSpPr>
          <a:xfrm>
            <a:off x="5519935" y="2528573"/>
            <a:ext cx="1381373" cy="660400"/>
            <a:chOff x="5519936" y="1488468"/>
            <a:chExt cx="1381373" cy="660400"/>
          </a:xfrm>
          <a:effectLst>
            <a:outerShdw blurRad="50800" dist="38100" dir="2700000" algn="tl" rotWithShape="0">
              <a:prstClr val="black">
                <a:alpha val="40000"/>
              </a:prstClr>
            </a:outerShdw>
          </a:effectLst>
        </p:grpSpPr>
        <p:sp>
          <p:nvSpPr>
            <p:cNvPr id="15" name="平行四边形 14">
              <a:extLst>
                <a:ext uri="{FF2B5EF4-FFF2-40B4-BE49-F238E27FC236}">
                  <a16:creationId xmlns:a16="http://schemas.microsoft.com/office/drawing/2014/main" id="{E02B56AD-5580-C094-8DE3-E62AD418645D}"/>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16" name="文本框 1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D7C04654-E819-E51D-ECEC-1E11E3DE07C2}"/>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06</a:t>
              </a:r>
            </a:p>
          </p:txBody>
        </p:sp>
      </p:grpSp>
      <p:grpSp>
        <p:nvGrpSpPr>
          <p:cNvPr id="17" name="组合 16">
            <a:extLst>
              <a:ext uri="{FF2B5EF4-FFF2-40B4-BE49-F238E27FC236}">
                <a16:creationId xmlns:a16="http://schemas.microsoft.com/office/drawing/2014/main" id="{4B8658FC-6227-9AAF-0124-56F9E6ED2CB6}"/>
              </a:ext>
            </a:extLst>
          </p:cNvPr>
          <p:cNvGrpSpPr/>
          <p:nvPr/>
        </p:nvGrpSpPr>
        <p:grpSpPr>
          <a:xfrm>
            <a:off x="5450291" y="3944730"/>
            <a:ext cx="1381373" cy="660400"/>
            <a:chOff x="5519936" y="1488468"/>
            <a:chExt cx="1381373" cy="660400"/>
          </a:xfrm>
          <a:effectLst>
            <a:outerShdw blurRad="50800" dist="38100" dir="2700000" algn="tl" rotWithShape="0">
              <a:prstClr val="black">
                <a:alpha val="40000"/>
              </a:prstClr>
            </a:outerShdw>
          </a:effectLst>
        </p:grpSpPr>
        <p:sp>
          <p:nvSpPr>
            <p:cNvPr id="18" name="平行四边形 17">
              <a:extLst>
                <a:ext uri="{FF2B5EF4-FFF2-40B4-BE49-F238E27FC236}">
                  <a16:creationId xmlns:a16="http://schemas.microsoft.com/office/drawing/2014/main" id="{E2EAEE93-5A6D-E45D-55D1-6283B707E88D}"/>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19" name="文本框 1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B19A1BCD-6CA1-A449-D4B8-95375F8F1B87}"/>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07</a:t>
              </a:r>
            </a:p>
          </p:txBody>
        </p:sp>
      </p:grpSp>
      <p:grpSp>
        <p:nvGrpSpPr>
          <p:cNvPr id="20" name="组合 19">
            <a:extLst>
              <a:ext uri="{FF2B5EF4-FFF2-40B4-BE49-F238E27FC236}">
                <a16:creationId xmlns:a16="http://schemas.microsoft.com/office/drawing/2014/main" id="{EFC33868-7648-E8A6-B2EA-55A8F3ADF1E4}"/>
              </a:ext>
            </a:extLst>
          </p:cNvPr>
          <p:cNvGrpSpPr/>
          <p:nvPr/>
        </p:nvGrpSpPr>
        <p:grpSpPr>
          <a:xfrm>
            <a:off x="5519934" y="5360888"/>
            <a:ext cx="1381373" cy="660400"/>
            <a:chOff x="5519936" y="1488468"/>
            <a:chExt cx="1381373" cy="660400"/>
          </a:xfrm>
          <a:effectLst>
            <a:outerShdw blurRad="50800" dist="38100" dir="2700000" algn="tl" rotWithShape="0">
              <a:prstClr val="black">
                <a:alpha val="40000"/>
              </a:prstClr>
            </a:outerShdw>
          </a:effectLst>
        </p:grpSpPr>
        <p:sp>
          <p:nvSpPr>
            <p:cNvPr id="21" name="平行四边形 20">
              <a:extLst>
                <a:ext uri="{FF2B5EF4-FFF2-40B4-BE49-F238E27FC236}">
                  <a16:creationId xmlns:a16="http://schemas.microsoft.com/office/drawing/2014/main" id="{DA87931A-3535-11BE-3D69-14F253D0B5D7}"/>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22" name="文本框 2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2FEB2B6C-9E21-D6D3-DD92-BA53086369A9}"/>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90204" pitchFamily="34" charset="0"/>
                  <a:ea typeface="微软雅黑" panose="020B0503020204020204" pitchFamily="34" charset="-122"/>
                </a:defRPr>
              </a:lvl1pPr>
              <a:lvl2pPr marL="742950" indent="-285750">
                <a:defRPr sz="1300">
                  <a:solidFill>
                    <a:schemeClr val="tx1"/>
                  </a:solidFill>
                  <a:latin typeface="Arial" panose="020B0604020202090204" pitchFamily="34" charset="0"/>
                  <a:ea typeface="微软雅黑" panose="020B0503020204020204" pitchFamily="34" charset="-122"/>
                </a:defRPr>
              </a:lvl2pPr>
              <a:lvl3pPr marL="1143000" indent="-228600">
                <a:defRPr sz="1300">
                  <a:solidFill>
                    <a:schemeClr val="tx1"/>
                  </a:solidFill>
                  <a:latin typeface="Arial" panose="020B0604020202090204" pitchFamily="34" charset="0"/>
                  <a:ea typeface="微软雅黑" panose="020B0503020204020204" pitchFamily="34" charset="-122"/>
                </a:defRPr>
              </a:lvl3pPr>
              <a:lvl4pPr marL="1600200" indent="-228600">
                <a:defRPr sz="1300">
                  <a:solidFill>
                    <a:schemeClr val="tx1"/>
                  </a:solidFill>
                  <a:latin typeface="Arial" panose="020B0604020202090204" pitchFamily="34" charset="0"/>
                  <a:ea typeface="微软雅黑" panose="020B0503020204020204" pitchFamily="34" charset="-122"/>
                </a:defRPr>
              </a:lvl4pPr>
              <a:lvl5pPr marL="2057400" indent="-228600">
                <a:defRPr sz="1300">
                  <a:solidFill>
                    <a:schemeClr val="tx1"/>
                  </a:solidFill>
                  <a:latin typeface="Arial" panose="020B060402020209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9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08</a:t>
              </a:r>
            </a:p>
          </p:txBody>
        </p:sp>
      </p:grpSp>
      <p:sp>
        <p:nvSpPr>
          <p:cNvPr id="31" name="文本框 6">
            <a:extLst>
              <a:ext uri="{FF2B5EF4-FFF2-40B4-BE49-F238E27FC236}">
                <a16:creationId xmlns:a16="http://schemas.microsoft.com/office/drawing/2014/main" id="{BE35A809-D197-7703-9B01-B523375D2C61}"/>
              </a:ext>
            </a:extLst>
          </p:cNvPr>
          <p:cNvSpPr txBox="1">
            <a:spLocks noChangeArrowheads="1"/>
          </p:cNvSpPr>
          <p:nvPr/>
        </p:nvSpPr>
        <p:spPr bwMode="auto">
          <a:xfrm>
            <a:off x="7407883" y="1182988"/>
            <a:ext cx="1620957"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0" algn="ctr">
              <a:lnSpc>
                <a:spcPct val="90000"/>
              </a:lnSpc>
              <a:spcBef>
                <a:spcPts val="1000"/>
              </a:spcBef>
              <a:defRPr/>
            </a:pPr>
            <a:r>
              <a:rPr lang="zh-CN" altLang="en-US" sz="2800" b="1" dirty="0">
                <a:solidFill>
                  <a:srgbClr val="024282"/>
                </a:solidFill>
                <a:latin typeface="微软雅黑" panose="020B0503020204020204" pitchFamily="34" charset="-122"/>
                <a:ea typeface="微软雅黑" panose="020B0503020204020204" pitchFamily="34" charset="-122"/>
              </a:rPr>
              <a:t>实证结果</a:t>
            </a:r>
          </a:p>
        </p:txBody>
      </p:sp>
      <p:sp>
        <p:nvSpPr>
          <p:cNvPr id="35" name="文本框 6">
            <a:extLst>
              <a:ext uri="{FF2B5EF4-FFF2-40B4-BE49-F238E27FC236}">
                <a16:creationId xmlns:a16="http://schemas.microsoft.com/office/drawing/2014/main" id="{78F1FAAE-09B3-DE09-655A-4B049EDFA01C}"/>
              </a:ext>
            </a:extLst>
          </p:cNvPr>
          <p:cNvSpPr txBox="1">
            <a:spLocks noChangeArrowheads="1"/>
          </p:cNvSpPr>
          <p:nvPr/>
        </p:nvSpPr>
        <p:spPr bwMode="auto">
          <a:xfrm>
            <a:off x="7407883" y="2631181"/>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讨论与解释</a:t>
            </a:r>
          </a:p>
        </p:txBody>
      </p:sp>
      <p:sp>
        <p:nvSpPr>
          <p:cNvPr id="38" name="文本框 6">
            <a:extLst>
              <a:ext uri="{FF2B5EF4-FFF2-40B4-BE49-F238E27FC236}">
                <a16:creationId xmlns:a16="http://schemas.microsoft.com/office/drawing/2014/main" id="{A0972F4A-29AE-ADB3-1DE3-803F24EDC093}"/>
              </a:ext>
            </a:extLst>
          </p:cNvPr>
          <p:cNvSpPr txBox="1">
            <a:spLocks noChangeArrowheads="1"/>
          </p:cNvSpPr>
          <p:nvPr/>
        </p:nvSpPr>
        <p:spPr bwMode="auto">
          <a:xfrm>
            <a:off x="7407883" y="4047338"/>
            <a:ext cx="23391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稳健型与局限</a:t>
            </a:r>
          </a:p>
        </p:txBody>
      </p:sp>
      <p:sp>
        <p:nvSpPr>
          <p:cNvPr id="41" name="文本框 6">
            <a:extLst>
              <a:ext uri="{FF2B5EF4-FFF2-40B4-BE49-F238E27FC236}">
                <a16:creationId xmlns:a16="http://schemas.microsoft.com/office/drawing/2014/main" id="{92500378-58D4-4657-17AE-824B128308F9}"/>
              </a:ext>
            </a:extLst>
          </p:cNvPr>
          <p:cNvSpPr txBox="1">
            <a:spLocks noChangeArrowheads="1"/>
          </p:cNvSpPr>
          <p:nvPr/>
        </p:nvSpPr>
        <p:spPr bwMode="auto">
          <a:xfrm>
            <a:off x="7407883" y="5479124"/>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结论</a:t>
            </a:r>
          </a:p>
        </p:txBody>
      </p:sp>
      <p:pic>
        <p:nvPicPr>
          <p:cNvPr id="23" name="图片 22">
            <a:extLst>
              <a:ext uri="{FF2B5EF4-FFF2-40B4-BE49-F238E27FC236}">
                <a16:creationId xmlns:a16="http://schemas.microsoft.com/office/drawing/2014/main" id="{BCC558BA-8161-4416-612A-ADFF45C25B7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9813545" y="6447112"/>
            <a:ext cx="2093426" cy="334487"/>
          </a:xfrm>
          <a:prstGeom prst="rect">
            <a:avLst/>
          </a:prstGeom>
        </p:spPr>
      </p:pic>
      <p:grpSp>
        <p:nvGrpSpPr>
          <p:cNvPr id="43" name="组合 42">
            <a:extLst>
              <a:ext uri="{FF2B5EF4-FFF2-40B4-BE49-F238E27FC236}">
                <a16:creationId xmlns:a16="http://schemas.microsoft.com/office/drawing/2014/main" id="{F5FFAFBD-EA0D-5DAF-0E22-1F8DBA4FCF74}"/>
              </a:ext>
            </a:extLst>
          </p:cNvPr>
          <p:cNvGrpSpPr/>
          <p:nvPr/>
        </p:nvGrpSpPr>
        <p:grpSpPr>
          <a:xfrm>
            <a:off x="9114765" y="102733"/>
            <a:ext cx="2879308" cy="743473"/>
            <a:chOff x="825667" y="458497"/>
            <a:chExt cx="4856203" cy="1253932"/>
          </a:xfrm>
        </p:grpSpPr>
        <p:pic>
          <p:nvPicPr>
            <p:cNvPr id="44" name="图片 43">
              <a:extLst>
                <a:ext uri="{FF2B5EF4-FFF2-40B4-BE49-F238E27FC236}">
                  <a16:creationId xmlns:a16="http://schemas.microsoft.com/office/drawing/2014/main" id="{6CBF12A0-DB79-67A5-E008-0F946824A41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45" name="图片 44">
              <a:extLst>
                <a:ext uri="{FF2B5EF4-FFF2-40B4-BE49-F238E27FC236}">
                  <a16:creationId xmlns:a16="http://schemas.microsoft.com/office/drawing/2014/main" id="{49A8CA31-3092-FEC4-0241-8375664C8A1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7" name="矩形 46">
              <a:extLst>
                <a:ext uri="{FF2B5EF4-FFF2-40B4-BE49-F238E27FC236}">
                  <a16:creationId xmlns:a16="http://schemas.microsoft.com/office/drawing/2014/main" id="{D43673B1-845F-68F4-FE01-B78C669E62D0}"/>
                </a:ext>
              </a:extLst>
            </p:cNvPr>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spTree>
    <p:extLst>
      <p:ext uri="{BB962C8B-B14F-4D97-AF65-F5344CB8AC3E}">
        <p14:creationId xmlns:p14="http://schemas.microsoft.com/office/powerpoint/2010/main" val="11027521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17529" y="140750"/>
            <a:ext cx="7019929" cy="7019929"/>
          </a:xfrm>
          <a:prstGeom prst="rect">
            <a:avLst/>
          </a:prstGeom>
        </p:spPr>
      </p:pic>
      <p:sp>
        <p:nvSpPr>
          <p:cNvPr id="2" name="文本占位符 3"/>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a:t>
            </a:r>
            <a:r>
              <a:rPr lang="en-US" altLang="zh-CN" sz="19900" dirty="0">
                <a:latin typeface="Arial Black" panose="020B0A04020102020204" pitchFamily="34" charset="0"/>
              </a:rPr>
              <a:t>1</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zh-CN" altLang="en-US" sz="6600" dirty="0"/>
              <a:t>研究问题</a:t>
            </a:r>
            <a:endPar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p:cNvGrpSpPr/>
          <p:nvPr/>
        </p:nvGrpSpPr>
        <p:grpSpPr>
          <a:xfrm>
            <a:off x="-3049556" y="-2033814"/>
            <a:ext cx="7489372" cy="4795157"/>
            <a:chOff x="-3802743" y="-2148114"/>
            <a:chExt cx="7489372" cy="4795157"/>
          </a:xfrm>
        </p:grpSpPr>
        <p:sp>
          <p:nvSpPr>
            <p:cNvPr id="5" name="平行四边形 4"/>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grpSp>
        <p:nvGrpSpPr>
          <p:cNvPr id="7" name="组合 6"/>
          <p:cNvGrpSpPr/>
          <p:nvPr/>
        </p:nvGrpSpPr>
        <p:grpSpPr>
          <a:xfrm flipH="1" flipV="1">
            <a:off x="7824192" y="4149080"/>
            <a:ext cx="7489372" cy="4651141"/>
            <a:chOff x="-3802743" y="-2004098"/>
            <a:chExt cx="7489372" cy="4651141"/>
          </a:xfrm>
        </p:grpSpPr>
        <p:sp>
          <p:nvSpPr>
            <p:cNvPr id="8" name="平行四边形 7"/>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9" name="平行四边形 8"/>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16" name="直接连接符 15"/>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60134" y="6274257"/>
            <a:ext cx="2583927" cy="412859"/>
          </a:xfrm>
          <a:prstGeom prst="rect">
            <a:avLst/>
          </a:prstGeom>
        </p:spPr>
      </p:pic>
      <p:grpSp>
        <p:nvGrpSpPr>
          <p:cNvPr id="23" name="组合 22"/>
          <p:cNvGrpSpPr/>
          <p:nvPr/>
        </p:nvGrpSpPr>
        <p:grpSpPr>
          <a:xfrm>
            <a:off x="9114765" y="102733"/>
            <a:ext cx="2879308" cy="743473"/>
            <a:chOff x="825667" y="458497"/>
            <a:chExt cx="4856203" cy="1253932"/>
          </a:xfrm>
        </p:grpSpPr>
        <p:pic>
          <p:nvPicPr>
            <p:cNvPr id="24" name="图片 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26" name="矩形 2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5B919-514C-05D1-724B-A85E306653F5}"/>
            </a:ext>
          </a:extLst>
        </p:cNvPr>
        <p:cNvGrpSpPr/>
        <p:nvPr/>
      </p:nvGrpSpPr>
      <p:grpSpPr>
        <a:xfrm>
          <a:off x="0" y="0"/>
          <a:ext cx="0" cy="0"/>
          <a:chOff x="0" y="0"/>
          <a:chExt cx="0" cy="0"/>
        </a:xfrm>
      </p:grpSpPr>
      <p:pic>
        <p:nvPicPr>
          <p:cNvPr id="23" name="图片 22">
            <a:extLst>
              <a:ext uri="{FF2B5EF4-FFF2-40B4-BE49-F238E27FC236}">
                <a16:creationId xmlns:a16="http://schemas.microsoft.com/office/drawing/2014/main" id="{001ABF65-BA30-EB46-61B7-3B3281F9A005}"/>
              </a:ext>
            </a:extLst>
          </p:cNvPr>
          <p:cNvPicPr>
            <a:picLocks noChangeAspect="1"/>
          </p:cNvPicPr>
          <p:nvPr/>
        </p:nvPicPr>
        <p:blipFill>
          <a:blip r:embed="rId3"/>
          <a:stretch>
            <a:fillRect/>
          </a:stretch>
        </p:blipFill>
        <p:spPr>
          <a:xfrm>
            <a:off x="1464972" y="4365369"/>
            <a:ext cx="6842407" cy="2151637"/>
          </a:xfrm>
          <a:prstGeom prst="rect">
            <a:avLst/>
          </a:prstGeom>
        </p:spPr>
      </p:pic>
      <p:grpSp>
        <p:nvGrpSpPr>
          <p:cNvPr id="4" name="组合 3">
            <a:extLst>
              <a:ext uri="{FF2B5EF4-FFF2-40B4-BE49-F238E27FC236}">
                <a16:creationId xmlns:a16="http://schemas.microsoft.com/office/drawing/2014/main" id="{759BB372-4873-818B-A608-AF73314B3CF5}"/>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E4EFABCF-E3B1-AEDB-DF9A-6C508EF00493}"/>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58E95187-4E16-B92F-195B-F4822F1362F0}"/>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a:extLst>
              <a:ext uri="{FF2B5EF4-FFF2-40B4-BE49-F238E27FC236}">
                <a16:creationId xmlns:a16="http://schemas.microsoft.com/office/drawing/2014/main" id="{696FE495-5162-ACDE-CCE2-A3D28374F5B9}"/>
              </a:ext>
            </a:extLst>
          </p:cNvPr>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6BF2D759-A588-3D94-CD92-5E2645F5C127}"/>
              </a:ext>
            </a:extLst>
          </p:cNvPr>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研究问题</a:t>
            </a:r>
          </a:p>
        </p:txBody>
      </p:sp>
      <p:pic>
        <p:nvPicPr>
          <p:cNvPr id="52" name="图片 51">
            <a:extLst>
              <a:ext uri="{FF2B5EF4-FFF2-40B4-BE49-F238E27FC236}">
                <a16:creationId xmlns:a16="http://schemas.microsoft.com/office/drawing/2014/main" id="{197CDD72-4CEA-D8AE-1343-5549B995C5D3}"/>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3F3A638-D256-511C-99D5-8529388FA186}"/>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0424FA23-7EA7-6D91-6576-BB8CD55E51E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508A21D3-7FCC-D156-F4AF-B3D0110CB460}"/>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CBD14D5F-B8E5-7CC0-AC1B-B95E083F493F}"/>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pic>
        <p:nvPicPr>
          <p:cNvPr id="13" name="图片 12">
            <a:extLst>
              <a:ext uri="{FF2B5EF4-FFF2-40B4-BE49-F238E27FC236}">
                <a16:creationId xmlns:a16="http://schemas.microsoft.com/office/drawing/2014/main" id="{829013E3-501B-7448-7EE6-91ED4431F501}"/>
              </a:ext>
            </a:extLst>
          </p:cNvPr>
          <p:cNvPicPr>
            <a:picLocks noChangeAspect="1"/>
          </p:cNvPicPr>
          <p:nvPr/>
        </p:nvPicPr>
        <p:blipFill>
          <a:blip r:embed="rId8"/>
          <a:stretch>
            <a:fillRect/>
          </a:stretch>
        </p:blipFill>
        <p:spPr>
          <a:xfrm>
            <a:off x="335361" y="1626937"/>
            <a:ext cx="5924290" cy="1691643"/>
          </a:xfrm>
          <a:prstGeom prst="rect">
            <a:avLst/>
          </a:prstGeom>
        </p:spPr>
      </p:pic>
      <p:sp>
        <p:nvSpPr>
          <p:cNvPr id="14" name="文本框 13">
            <a:extLst>
              <a:ext uri="{FF2B5EF4-FFF2-40B4-BE49-F238E27FC236}">
                <a16:creationId xmlns:a16="http://schemas.microsoft.com/office/drawing/2014/main" id="{7BB3E862-2E09-9281-92E6-5F25871D87C5}"/>
              </a:ext>
            </a:extLst>
          </p:cNvPr>
          <p:cNvSpPr txBox="1"/>
          <p:nvPr/>
        </p:nvSpPr>
        <p:spPr>
          <a:xfrm>
            <a:off x="285270" y="886997"/>
            <a:ext cx="5974381" cy="646331"/>
          </a:xfrm>
          <a:prstGeom prst="rect">
            <a:avLst/>
          </a:prstGeom>
          <a:noFill/>
        </p:spPr>
        <p:txBody>
          <a:bodyPr wrap="square" rtlCol="0">
            <a:spAutoFit/>
          </a:bodyPr>
          <a:lstStyle/>
          <a:p>
            <a:r>
              <a:rPr lang="en-US" altLang="zh-CN" dirty="0"/>
              <a:t>2023</a:t>
            </a:r>
            <a:r>
              <a:rPr lang="zh-CN" altLang="en-US" dirty="0"/>
              <a:t>年</a:t>
            </a:r>
            <a:r>
              <a:rPr lang="en-US" altLang="zh-CN" dirty="0"/>
              <a:t>11</a:t>
            </a:r>
            <a:r>
              <a:rPr lang="zh-CN" altLang="en-US" dirty="0"/>
              <a:t>月</a:t>
            </a:r>
            <a:r>
              <a:rPr lang="en-US" altLang="zh-CN" dirty="0"/>
              <a:t>19</a:t>
            </a:r>
            <a:r>
              <a:rPr lang="zh-CN" altLang="en-US" dirty="0"/>
              <a:t>日，红海发生胡塞武装袭击，美国海事管理局发布通告预警，必然会对港口活动产生扰动。</a:t>
            </a:r>
          </a:p>
        </p:txBody>
      </p:sp>
      <p:sp>
        <p:nvSpPr>
          <p:cNvPr id="15" name="矩形 14">
            <a:extLst>
              <a:ext uri="{FF2B5EF4-FFF2-40B4-BE49-F238E27FC236}">
                <a16:creationId xmlns:a16="http://schemas.microsoft.com/office/drawing/2014/main" id="{51A4E59A-7928-9EBE-2163-44962DEC8FE8}"/>
              </a:ext>
            </a:extLst>
          </p:cNvPr>
          <p:cNvSpPr/>
          <p:nvPr/>
        </p:nvSpPr>
        <p:spPr>
          <a:xfrm>
            <a:off x="472536" y="3483840"/>
            <a:ext cx="5670509" cy="812269"/>
          </a:xfrm>
          <a:prstGeom prst="rect">
            <a:avLst/>
          </a:prstGeom>
          <a:solidFill>
            <a:srgbClr val="DD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7B5A78DA-9AFF-EEA1-5831-B1326F7FBA88}"/>
              </a:ext>
            </a:extLst>
          </p:cNvPr>
          <p:cNvSpPr txBox="1"/>
          <p:nvPr/>
        </p:nvSpPr>
        <p:spPr>
          <a:xfrm>
            <a:off x="573005" y="3553100"/>
            <a:ext cx="5425031"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胡塞武装相关安全事件增加后，红海航线通行量和好望角绕航指标是否出现可识别的动态变化？</a:t>
            </a:r>
          </a:p>
        </p:txBody>
      </p:sp>
      <p:sp>
        <p:nvSpPr>
          <p:cNvPr id="17" name="矩形 16">
            <a:extLst>
              <a:ext uri="{FF2B5EF4-FFF2-40B4-BE49-F238E27FC236}">
                <a16:creationId xmlns:a16="http://schemas.microsoft.com/office/drawing/2014/main" id="{9AC0A862-0C0B-EB23-8E4B-B3229E140361}"/>
              </a:ext>
            </a:extLst>
          </p:cNvPr>
          <p:cNvSpPr/>
          <p:nvPr/>
        </p:nvSpPr>
        <p:spPr>
          <a:xfrm>
            <a:off x="294016" y="3483840"/>
            <a:ext cx="178519" cy="812269"/>
          </a:xfrm>
          <a:prstGeom prst="rect">
            <a:avLst/>
          </a:prstGeom>
          <a:solidFill>
            <a:srgbClr val="275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18FB1344-857E-D4F2-EEF2-D7199BDFE04A}"/>
              </a:ext>
            </a:extLst>
          </p:cNvPr>
          <p:cNvSpPr/>
          <p:nvPr/>
        </p:nvSpPr>
        <p:spPr>
          <a:xfrm>
            <a:off x="573005" y="5204065"/>
            <a:ext cx="912031" cy="429584"/>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下 23">
            <a:extLst>
              <a:ext uri="{FF2B5EF4-FFF2-40B4-BE49-F238E27FC236}">
                <a16:creationId xmlns:a16="http://schemas.microsoft.com/office/drawing/2014/main" id="{20F48E3F-D93C-BCA1-D40E-E4E0913BDC89}"/>
              </a:ext>
            </a:extLst>
          </p:cNvPr>
          <p:cNvSpPr/>
          <p:nvPr/>
        </p:nvSpPr>
        <p:spPr>
          <a:xfrm rot="10800000">
            <a:off x="9115315" y="4817477"/>
            <a:ext cx="490954" cy="895988"/>
          </a:xfrm>
          <a:prstGeom prst="down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50AF49D9-EB42-6560-9B07-EA8B6EC9FB82}"/>
              </a:ext>
            </a:extLst>
          </p:cNvPr>
          <p:cNvSpPr txBox="1"/>
          <p:nvPr/>
        </p:nvSpPr>
        <p:spPr>
          <a:xfrm>
            <a:off x="7211871" y="1856464"/>
            <a:ext cx="3884667" cy="2031325"/>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H1: </a:t>
            </a:r>
            <a:r>
              <a:rPr lang="zh-CN" altLang="en-US" dirty="0">
                <a:latin typeface="微软雅黑" panose="020B0503020204020204" pitchFamily="34" charset="-122"/>
                <a:ea typeface="微软雅黑" panose="020B0503020204020204" pitchFamily="34" charset="-122"/>
              </a:rPr>
              <a:t>安全事件具有持续性。</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H2: </a:t>
            </a:r>
            <a:r>
              <a:rPr lang="zh-CN" altLang="en-US" dirty="0">
                <a:latin typeface="微软雅黑" panose="020B0503020204020204" pitchFamily="34" charset="-122"/>
                <a:ea typeface="微软雅黑" panose="020B0503020204020204" pitchFamily="34" charset="-122"/>
              </a:rPr>
              <a:t>安全事件对航道通行结构的影响具有滞后性。</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H3: 2023 </a:t>
            </a:r>
            <a:r>
              <a:rPr lang="zh-CN" altLang="en-US" dirty="0">
                <a:latin typeface="微软雅黑" panose="020B0503020204020204" pitchFamily="34" charset="-122"/>
                <a:ea typeface="微软雅黑" panose="020B0503020204020204" pitchFamily="34" charset="-122"/>
              </a:rPr>
              <a:t>年 </a:t>
            </a:r>
            <a:r>
              <a:rPr lang="en-US" altLang="zh-CN" dirty="0">
                <a:latin typeface="微软雅黑" panose="020B0503020204020204" pitchFamily="34" charset="-122"/>
                <a:ea typeface="微软雅黑" panose="020B0503020204020204" pitchFamily="34" charset="-122"/>
              </a:rPr>
              <a:t>11 </a:t>
            </a:r>
            <a:r>
              <a:rPr lang="zh-CN" altLang="en-US" dirty="0">
                <a:latin typeface="微软雅黑" panose="020B0503020204020204" pitchFamily="34" charset="-122"/>
                <a:ea typeface="微软雅黑" panose="020B0503020204020204" pitchFamily="34" charset="-122"/>
              </a:rPr>
              <a:t>月 </a:t>
            </a:r>
            <a:r>
              <a:rPr lang="en-US" altLang="zh-CN" dirty="0">
                <a:latin typeface="微软雅黑" panose="020B0503020204020204" pitchFamily="34" charset="-122"/>
                <a:ea typeface="微软雅黑" panose="020B0503020204020204" pitchFamily="34" charset="-122"/>
              </a:rPr>
              <a:t>19 </a:t>
            </a:r>
            <a:r>
              <a:rPr lang="zh-CN" altLang="en-US" dirty="0">
                <a:latin typeface="微软雅黑" panose="020B0503020204020204" pitchFamily="34" charset="-122"/>
                <a:ea typeface="微软雅黑" panose="020B0503020204020204" pitchFamily="34" charset="-122"/>
              </a:rPr>
              <a:t>日升级节点后，航道结构出现断点式变化。</a:t>
            </a:r>
          </a:p>
        </p:txBody>
      </p:sp>
      <p:sp>
        <p:nvSpPr>
          <p:cNvPr id="28" name="圆角矩形 6">
            <a:extLst>
              <a:ext uri="{FF2B5EF4-FFF2-40B4-BE49-F238E27FC236}">
                <a16:creationId xmlns:a16="http://schemas.microsoft.com/office/drawing/2014/main" id="{1AC42837-BE4D-79F7-A194-75A73FAAACE5}"/>
              </a:ext>
            </a:extLst>
          </p:cNvPr>
          <p:cNvSpPr/>
          <p:nvPr>
            <p:custDataLst>
              <p:tags r:id="rId1"/>
            </p:custDataLst>
          </p:nvPr>
        </p:nvSpPr>
        <p:spPr>
          <a:xfrm>
            <a:off x="7211871" y="1127454"/>
            <a:ext cx="2372360" cy="490220"/>
          </a:xfrm>
          <a:prstGeom prst="roundRect">
            <a:avLst>
              <a:gd name="adj" fmla="val 37046"/>
            </a:avLst>
          </a:prstGeom>
          <a:gradFill>
            <a:gsLst>
              <a:gs pos="53000">
                <a:srgbClr val="024282"/>
              </a:gs>
              <a:gs pos="95000">
                <a:srgbClr val="024282">
                  <a:alpha val="0"/>
                </a:srgbClr>
              </a:gs>
              <a:gs pos="0">
                <a:srgbClr val="024282"/>
              </a:gs>
            </a:gsLst>
            <a:lin ang="20700000" scaled="0"/>
          </a:gra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三条经验假设</a:t>
            </a:r>
          </a:p>
        </p:txBody>
      </p:sp>
    </p:spTree>
    <p:extLst>
      <p:ext uri="{BB962C8B-B14F-4D97-AF65-F5344CB8AC3E}">
        <p14:creationId xmlns:p14="http://schemas.microsoft.com/office/powerpoint/2010/main" val="3317804672"/>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1CECC-4808-3943-D3D8-AAC8D30036F9}"/>
            </a:ext>
          </a:extLst>
        </p:cNvPr>
        <p:cNvGrpSpPr/>
        <p:nvPr/>
      </p:nvGrpSpPr>
      <p:grpSpPr>
        <a:xfrm>
          <a:off x="0" y="0"/>
          <a:ext cx="0" cy="0"/>
          <a:chOff x="0" y="0"/>
          <a:chExt cx="0" cy="0"/>
        </a:xfrm>
      </p:grpSpPr>
      <p:pic>
        <p:nvPicPr>
          <p:cNvPr id="27" name="图片 26">
            <a:extLst>
              <a:ext uri="{FF2B5EF4-FFF2-40B4-BE49-F238E27FC236}">
                <a16:creationId xmlns:a16="http://schemas.microsoft.com/office/drawing/2014/main" id="{44F1DA7B-61CE-6885-62E8-1152E09A2EE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22D925E2-9DF2-1D89-5CF1-CCA85CB6B981}"/>
              </a:ext>
            </a:extLst>
          </p:cNvPr>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02</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56B4E4CA-2ED9-CE51-53CD-91FAC3EC1750}"/>
              </a:ext>
            </a:extLst>
          </p:cNvPr>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背景</a:t>
            </a:r>
          </a:p>
        </p:txBody>
      </p:sp>
      <p:grpSp>
        <p:nvGrpSpPr>
          <p:cNvPr id="4" name="组合 3">
            <a:extLst>
              <a:ext uri="{FF2B5EF4-FFF2-40B4-BE49-F238E27FC236}">
                <a16:creationId xmlns:a16="http://schemas.microsoft.com/office/drawing/2014/main" id="{62B8E99A-1B75-A4D6-E50A-41394865103B}"/>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BA84EAFF-6B7E-96BC-76D5-4E2B2DE90312}"/>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600EA2BE-2A67-E66F-020A-1A1D0690A3C2}"/>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grpSp>
        <p:nvGrpSpPr>
          <p:cNvPr id="7" name="组合 6">
            <a:extLst>
              <a:ext uri="{FF2B5EF4-FFF2-40B4-BE49-F238E27FC236}">
                <a16:creationId xmlns:a16="http://schemas.microsoft.com/office/drawing/2014/main" id="{7CC6C418-A654-1D28-0382-915611BE2248}"/>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D3590F3F-6184-A3FC-6029-A30CFF82D482}"/>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9" name="平行四边形 8">
              <a:extLst>
                <a:ext uri="{FF2B5EF4-FFF2-40B4-BE49-F238E27FC236}">
                  <a16:creationId xmlns:a16="http://schemas.microsoft.com/office/drawing/2014/main" id="{971D8DC9-851A-02F5-B3A4-866113482FC2}"/>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16" name="直接连接符 15">
            <a:extLst>
              <a:ext uri="{FF2B5EF4-FFF2-40B4-BE49-F238E27FC236}">
                <a16:creationId xmlns:a16="http://schemas.microsoft.com/office/drawing/2014/main" id="{7599FF4D-19C8-574B-978D-CB34E036B0CB}"/>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82E00B00-2AF0-D48C-184A-F2DD60BBC4B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E050B1E4-6D95-D044-09D3-168883641647}"/>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3E28023E-8E5C-34AB-5707-A6DD6D5AC7A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C9E3D039-402C-B7DB-4886-CC57FF2AE1C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64C260BB-8BC3-06BC-D804-7519FEF20CC8}"/>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Tree>
    <p:extLst>
      <p:ext uri="{BB962C8B-B14F-4D97-AF65-F5344CB8AC3E}">
        <p14:creationId xmlns:p14="http://schemas.microsoft.com/office/powerpoint/2010/main" val="293777254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06D9F-C28E-B289-385B-987C5A97248A}"/>
            </a:ext>
          </a:extLst>
        </p:cNvPr>
        <p:cNvGrpSpPr/>
        <p:nvPr/>
      </p:nvGrpSpPr>
      <p:grpSpPr>
        <a:xfrm>
          <a:off x="0" y="0"/>
          <a:ext cx="0" cy="0"/>
          <a:chOff x="0" y="0"/>
          <a:chExt cx="0" cy="0"/>
        </a:xfrm>
      </p:grpSpPr>
      <p:sp>
        <p:nvSpPr>
          <p:cNvPr id="34" name="矩形: 圆角 33">
            <a:extLst>
              <a:ext uri="{FF2B5EF4-FFF2-40B4-BE49-F238E27FC236}">
                <a16:creationId xmlns:a16="http://schemas.microsoft.com/office/drawing/2014/main" id="{89EF7107-CC16-B65A-66CB-2AB63A98DB0C}"/>
              </a:ext>
            </a:extLst>
          </p:cNvPr>
          <p:cNvSpPr/>
          <p:nvPr/>
        </p:nvSpPr>
        <p:spPr>
          <a:xfrm>
            <a:off x="5069251" y="4524487"/>
            <a:ext cx="6198121" cy="1919817"/>
          </a:xfrm>
          <a:prstGeom prst="roundRect">
            <a:avLst/>
          </a:prstGeom>
          <a:solidFill>
            <a:schemeClr val="accent1">
              <a:lumMod val="20000"/>
              <a:lumOff val="80000"/>
            </a:schemeClr>
          </a:solidFill>
          <a:ln>
            <a:solidFill>
              <a:srgbClr val="275EAB"/>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78A960E9-A85E-8FAD-9C8F-45A0410D209C}"/>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35682FE8-EBFE-23E5-9AF9-76F8AD227DF3}"/>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E4B2CD74-A0E6-717F-9B9F-D1FD0458434D}"/>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a:extLst>
              <a:ext uri="{FF2B5EF4-FFF2-40B4-BE49-F238E27FC236}">
                <a16:creationId xmlns:a16="http://schemas.microsoft.com/office/drawing/2014/main" id="{69B7D408-2663-9080-844D-0AFDDA6AC914}"/>
              </a:ext>
            </a:extLst>
          </p:cNvPr>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E51A7FC5-EF7B-9803-21E2-6DE3F1FA7C44}"/>
              </a:ext>
            </a:extLst>
          </p:cNvPr>
          <p:cNvSpPr txBox="1"/>
          <p:nvPr/>
        </p:nvSpPr>
        <p:spPr>
          <a:xfrm>
            <a:off x="1137382" y="276510"/>
            <a:ext cx="6463913" cy="405255"/>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defRPr/>
            </a:pPr>
            <a:r>
              <a:rPr lang="zh-CN" altLang="en-US" dirty="0"/>
              <a:t>理论机制：安全冲击、航运成本与绕航决策</a:t>
            </a:r>
            <a:endPar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pic>
        <p:nvPicPr>
          <p:cNvPr id="52" name="图片 51">
            <a:extLst>
              <a:ext uri="{FF2B5EF4-FFF2-40B4-BE49-F238E27FC236}">
                <a16:creationId xmlns:a16="http://schemas.microsoft.com/office/drawing/2014/main" id="{9D4DD060-4C91-F22D-203A-4452E38B06EE}"/>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20DEB5DB-2CCF-5096-E1DC-ADA98999D32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EB1FFDC-4198-9C5A-245A-793D06AE7B2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87737EF7-DA52-A154-9B73-E96B2FDAE11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CC4D289C-7FA9-806D-18A3-39A333EE032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2" name="文本框 1">
            <a:extLst>
              <a:ext uri="{FF2B5EF4-FFF2-40B4-BE49-F238E27FC236}">
                <a16:creationId xmlns:a16="http://schemas.microsoft.com/office/drawing/2014/main" id="{87C55597-41FC-02D3-D144-169940C04DC5}"/>
              </a:ext>
            </a:extLst>
          </p:cNvPr>
          <p:cNvSpPr txBox="1"/>
          <p:nvPr/>
        </p:nvSpPr>
        <p:spPr>
          <a:xfrm>
            <a:off x="285270" y="1074578"/>
            <a:ext cx="5989627" cy="369332"/>
          </a:xfrm>
          <a:prstGeom prst="rect">
            <a:avLst/>
          </a:prstGeom>
          <a:noFill/>
        </p:spPr>
        <p:txBody>
          <a:bodyPr wrap="square" rtlCol="0">
            <a:spAutoFit/>
          </a:bodyPr>
          <a:lstStyle/>
          <a:p>
            <a:r>
              <a:rPr lang="zh-CN" altLang="en-US" dirty="0">
                <a:latin typeface="+mn-ea"/>
              </a:rPr>
              <a:t>基于简单的航运路线选择框架：</a:t>
            </a:r>
            <a:r>
              <a:rPr lang="zh-CN" altLang="en-US" b="1" dirty="0">
                <a:latin typeface="+mn-ea"/>
              </a:rPr>
              <a:t>红海路径</a:t>
            </a:r>
            <a:r>
              <a:rPr lang="en-US" altLang="zh-CN" dirty="0">
                <a:latin typeface="+mn-ea"/>
              </a:rPr>
              <a:t>/</a:t>
            </a:r>
            <a:r>
              <a:rPr lang="zh-CN" altLang="en-US" b="1" dirty="0">
                <a:latin typeface="+mn-ea"/>
              </a:rPr>
              <a:t>好望角路径 </a:t>
            </a:r>
            <a:r>
              <a:rPr lang="en-US" altLang="zh-CN" b="1" dirty="0">
                <a:latin typeface="+mn-ea"/>
              </a:rPr>
              <a:t>(r)</a:t>
            </a:r>
            <a:endParaRPr lang="zh-CN" altLang="en-US" b="1" dirty="0">
              <a:latin typeface="+mn-ea"/>
            </a:endParaRPr>
          </a:p>
        </p:txBody>
      </p:sp>
      <p:pic>
        <p:nvPicPr>
          <p:cNvPr id="3" name="图片 2">
            <a:extLst>
              <a:ext uri="{FF2B5EF4-FFF2-40B4-BE49-F238E27FC236}">
                <a16:creationId xmlns:a16="http://schemas.microsoft.com/office/drawing/2014/main" id="{60856DE6-02C0-E6AF-47A6-E806FBDDD3E5}"/>
              </a:ext>
            </a:extLst>
          </p:cNvPr>
          <p:cNvPicPr>
            <a:picLocks noChangeAspect="1"/>
          </p:cNvPicPr>
          <p:nvPr/>
        </p:nvPicPr>
        <p:blipFill>
          <a:blip r:embed="rId6"/>
          <a:srcRect t="12012" r="2642"/>
          <a:stretch>
            <a:fillRect/>
          </a:stretch>
        </p:blipFill>
        <p:spPr>
          <a:xfrm>
            <a:off x="392209" y="1718087"/>
            <a:ext cx="2720291" cy="3223349"/>
          </a:xfrm>
          <a:prstGeom prst="rect">
            <a:avLst/>
          </a:prstGeom>
        </p:spPr>
      </p:pic>
      <p:pic>
        <p:nvPicPr>
          <p:cNvPr id="9" name="图片 8">
            <a:extLst>
              <a:ext uri="{FF2B5EF4-FFF2-40B4-BE49-F238E27FC236}">
                <a16:creationId xmlns:a16="http://schemas.microsoft.com/office/drawing/2014/main" id="{54E34C16-30BF-8674-B957-AFA700CF004C}"/>
              </a:ext>
            </a:extLst>
          </p:cNvPr>
          <p:cNvPicPr>
            <a:picLocks noChangeAspect="1"/>
          </p:cNvPicPr>
          <p:nvPr/>
        </p:nvPicPr>
        <p:blipFill>
          <a:blip r:embed="rId7"/>
          <a:srcRect l="3188" t="13738" r="13228" b="12194"/>
          <a:stretch>
            <a:fillRect/>
          </a:stretch>
        </p:blipFill>
        <p:spPr>
          <a:xfrm>
            <a:off x="478306" y="5179791"/>
            <a:ext cx="4130516" cy="549967"/>
          </a:xfrm>
          <a:prstGeom prst="rect">
            <a:avLst/>
          </a:prstGeom>
        </p:spPr>
      </p:pic>
      <p:sp>
        <p:nvSpPr>
          <p:cNvPr id="11" name="文本框 10">
            <a:extLst>
              <a:ext uri="{FF2B5EF4-FFF2-40B4-BE49-F238E27FC236}">
                <a16:creationId xmlns:a16="http://schemas.microsoft.com/office/drawing/2014/main" id="{D8B51B59-7371-7F17-F37C-9EEBD3EC2B9A}"/>
              </a:ext>
            </a:extLst>
          </p:cNvPr>
          <p:cNvSpPr txBox="1"/>
          <p:nvPr/>
        </p:nvSpPr>
        <p:spPr>
          <a:xfrm>
            <a:off x="478306" y="5856486"/>
            <a:ext cx="659076" cy="369332"/>
          </a:xfrm>
          <a:prstGeom prst="rect">
            <a:avLst/>
          </a:prstGeom>
          <a:noFill/>
        </p:spPr>
        <p:txBody>
          <a:bodyPr wrap="square" rtlCol="0">
            <a:spAutoFit/>
          </a:bodyPr>
          <a:lstStyle/>
          <a:p>
            <a:r>
              <a:rPr lang="zh-CN" altLang="en-US" dirty="0"/>
              <a:t>其中</a:t>
            </a:r>
          </a:p>
        </p:txBody>
      </p:sp>
      <p:pic>
        <p:nvPicPr>
          <p:cNvPr id="19" name="图片 18">
            <a:extLst>
              <a:ext uri="{FF2B5EF4-FFF2-40B4-BE49-F238E27FC236}">
                <a16:creationId xmlns:a16="http://schemas.microsoft.com/office/drawing/2014/main" id="{25FF522B-62D5-0242-D73D-1F4FFC01FCA7}"/>
              </a:ext>
            </a:extLst>
          </p:cNvPr>
          <p:cNvPicPr>
            <a:picLocks noChangeAspect="1"/>
          </p:cNvPicPr>
          <p:nvPr/>
        </p:nvPicPr>
        <p:blipFill>
          <a:blip r:embed="rId8"/>
          <a:srcRect r="13405"/>
          <a:stretch>
            <a:fillRect/>
          </a:stretch>
        </p:blipFill>
        <p:spPr>
          <a:xfrm>
            <a:off x="1253487" y="5767610"/>
            <a:ext cx="1661547" cy="549967"/>
          </a:xfrm>
          <a:prstGeom prst="rect">
            <a:avLst/>
          </a:prstGeom>
        </p:spPr>
      </p:pic>
      <p:sp>
        <p:nvSpPr>
          <p:cNvPr id="21" name="圆角矩形 6">
            <a:extLst>
              <a:ext uri="{FF2B5EF4-FFF2-40B4-BE49-F238E27FC236}">
                <a16:creationId xmlns:a16="http://schemas.microsoft.com/office/drawing/2014/main" id="{8DDC038D-993C-E73E-9EF7-F7725508681C}"/>
              </a:ext>
            </a:extLst>
          </p:cNvPr>
          <p:cNvSpPr/>
          <p:nvPr/>
        </p:nvSpPr>
        <p:spPr>
          <a:xfrm>
            <a:off x="5069251" y="1708813"/>
            <a:ext cx="2650076" cy="431272"/>
          </a:xfrm>
          <a:prstGeom prst="roundRect">
            <a:avLst>
              <a:gd name="adj" fmla="val 37046"/>
            </a:avLst>
          </a:prstGeom>
          <a:gradFill>
            <a:gsLst>
              <a:gs pos="53000">
                <a:srgbClr val="024282"/>
              </a:gs>
              <a:gs pos="95000">
                <a:srgbClr val="024282">
                  <a:alpha val="0"/>
                </a:srgbClr>
              </a:gs>
              <a:gs pos="0">
                <a:srgbClr val="024282"/>
              </a:gs>
            </a:gsLst>
            <a:lin ang="20700000" scaled="0"/>
          </a:gra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一般情况下</a:t>
            </a:r>
            <a:endParaRPr kumimoji="0" lang="en-US" altLang="zh-CN"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endParaRPr>
          </a:p>
        </p:txBody>
      </p:sp>
      <p:sp>
        <p:nvSpPr>
          <p:cNvPr id="26" name="矩形: 圆角 25">
            <a:extLst>
              <a:ext uri="{FF2B5EF4-FFF2-40B4-BE49-F238E27FC236}">
                <a16:creationId xmlns:a16="http://schemas.microsoft.com/office/drawing/2014/main" id="{BF67E07F-A969-A4C3-C338-A30242B3556A}"/>
              </a:ext>
            </a:extLst>
          </p:cNvPr>
          <p:cNvSpPr/>
          <p:nvPr/>
        </p:nvSpPr>
        <p:spPr>
          <a:xfrm>
            <a:off x="5532249" y="2343048"/>
            <a:ext cx="5543550" cy="346234"/>
          </a:xfrm>
          <a:prstGeom prst="roundRect">
            <a:avLst>
              <a:gd name="adj" fmla="val 50000"/>
            </a:avLst>
          </a:prstGeom>
          <a:noFill/>
          <a:ln w="19050" cap="flat" cmpd="sng" algn="ctr">
            <a:solidFill>
              <a:srgbClr val="02428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选择红海路径：航线较短，具有时间和燃油成本优势</a:t>
            </a:r>
            <a:endParaRPr kumimoji="0" lang="en-US" altLang="zh-CN"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29" name="圆角矩形 6">
            <a:extLst>
              <a:ext uri="{FF2B5EF4-FFF2-40B4-BE49-F238E27FC236}">
                <a16:creationId xmlns:a16="http://schemas.microsoft.com/office/drawing/2014/main" id="{2C7483FC-DA39-C786-96E8-A9B75FEDA047}"/>
              </a:ext>
            </a:extLst>
          </p:cNvPr>
          <p:cNvSpPr/>
          <p:nvPr/>
        </p:nvSpPr>
        <p:spPr>
          <a:xfrm>
            <a:off x="5069251" y="2916299"/>
            <a:ext cx="2650076" cy="431272"/>
          </a:xfrm>
          <a:prstGeom prst="roundRect">
            <a:avLst>
              <a:gd name="adj" fmla="val 37046"/>
            </a:avLst>
          </a:prstGeom>
          <a:gradFill>
            <a:gsLst>
              <a:gs pos="53000">
                <a:srgbClr val="024282"/>
              </a:gs>
              <a:gs pos="95000">
                <a:srgbClr val="024282">
                  <a:alpha val="0"/>
                </a:srgbClr>
              </a:gs>
              <a:gs pos="0">
                <a:srgbClr val="024282"/>
              </a:gs>
            </a:gsLst>
            <a:lin ang="20700000" scaled="0"/>
          </a:gra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发生安全事件冲击时</a:t>
            </a:r>
            <a:endParaRPr kumimoji="0" lang="en-US" altLang="zh-CN"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endParaRPr>
          </a:p>
        </p:txBody>
      </p:sp>
      <p:sp>
        <p:nvSpPr>
          <p:cNvPr id="31" name="矩形: 圆角 30">
            <a:extLst>
              <a:ext uri="{FF2B5EF4-FFF2-40B4-BE49-F238E27FC236}">
                <a16:creationId xmlns:a16="http://schemas.microsoft.com/office/drawing/2014/main" id="{264AA099-B129-8B22-FDAF-3C9119B6A60E}"/>
              </a:ext>
            </a:extLst>
          </p:cNvPr>
          <p:cNvSpPr/>
          <p:nvPr/>
        </p:nvSpPr>
        <p:spPr>
          <a:xfrm>
            <a:off x="5532249" y="3574588"/>
            <a:ext cx="5543550" cy="346234"/>
          </a:xfrm>
          <a:prstGeom prst="roundRect">
            <a:avLst>
              <a:gd name="adj" fmla="val 50000"/>
            </a:avLst>
          </a:prstGeom>
          <a:noFill/>
          <a:ln w="19050" cap="flat" cmpd="sng" algn="ctr">
            <a:solidFill>
              <a:srgbClr val="02428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改变风险相关成本项，提高保险成本和风险感知。</a:t>
            </a:r>
            <a:endParaRPr kumimoji="0" lang="en-US" altLang="zh-CN"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2" name="箭头: 下 31">
            <a:extLst>
              <a:ext uri="{FF2B5EF4-FFF2-40B4-BE49-F238E27FC236}">
                <a16:creationId xmlns:a16="http://schemas.microsoft.com/office/drawing/2014/main" id="{4DE48617-4888-9018-0FF2-D57A582029CB}"/>
              </a:ext>
            </a:extLst>
          </p:cNvPr>
          <p:cNvSpPr/>
          <p:nvPr/>
        </p:nvSpPr>
        <p:spPr>
          <a:xfrm>
            <a:off x="8010232" y="4010320"/>
            <a:ext cx="293792" cy="424669"/>
          </a:xfrm>
          <a:prstGeom prst="downArrow">
            <a:avLst/>
          </a:prstGeom>
          <a:solidFill>
            <a:srgbClr val="275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文本框 32">
            <a:extLst>
              <a:ext uri="{FF2B5EF4-FFF2-40B4-BE49-F238E27FC236}">
                <a16:creationId xmlns:a16="http://schemas.microsoft.com/office/drawing/2014/main" id="{EE0C24DD-5AEF-1D4B-0646-4EC92FAFECC3}"/>
              </a:ext>
            </a:extLst>
          </p:cNvPr>
          <p:cNvSpPr txBox="1"/>
          <p:nvPr/>
        </p:nvSpPr>
        <p:spPr>
          <a:xfrm>
            <a:off x="5189488" y="4706114"/>
            <a:ext cx="3933600"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将原问题归到该机制的三个层次：</a:t>
            </a:r>
            <a:endParaRPr lang="en-US" altLang="zh-CN"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7B0632C8-190F-FE96-ADC3-397D26CC87A3}"/>
              </a:ext>
            </a:extLst>
          </p:cNvPr>
          <p:cNvSpPr txBox="1"/>
          <p:nvPr/>
        </p:nvSpPr>
        <p:spPr>
          <a:xfrm>
            <a:off x="5512243" y="5812428"/>
            <a:ext cx="3614642"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外生节点后结构是否突变</a:t>
            </a:r>
            <a:endParaRPr lang="zh-CN" altLang="en-US" dirty="0"/>
          </a:p>
        </p:txBody>
      </p:sp>
      <p:sp>
        <p:nvSpPr>
          <p:cNvPr id="39" name="文本框 38">
            <a:extLst>
              <a:ext uri="{FF2B5EF4-FFF2-40B4-BE49-F238E27FC236}">
                <a16:creationId xmlns:a16="http://schemas.microsoft.com/office/drawing/2014/main" id="{4245292F-9373-A34B-4EC6-EA14B3EFBC8B}"/>
              </a:ext>
            </a:extLst>
          </p:cNvPr>
          <p:cNvSpPr txBox="1"/>
          <p:nvPr/>
        </p:nvSpPr>
        <p:spPr>
          <a:xfrm>
            <a:off x="5512243" y="5470419"/>
            <a:ext cx="3614642"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风险是否影响选择</a:t>
            </a:r>
            <a:endParaRPr lang="en-US" altLang="zh-CN" dirty="0">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2C57F0FA-61BB-647C-59C5-82ABFE78355A}"/>
              </a:ext>
            </a:extLst>
          </p:cNvPr>
          <p:cNvSpPr txBox="1"/>
          <p:nvPr/>
        </p:nvSpPr>
        <p:spPr>
          <a:xfrm>
            <a:off x="5509903" y="5149187"/>
            <a:ext cx="3614642"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风险信号是否持续</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83197148"/>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4B4D3-195C-6017-66F6-797B15FC7552}"/>
            </a:ext>
          </a:extLst>
        </p:cNvPr>
        <p:cNvGrpSpPr/>
        <p:nvPr/>
      </p:nvGrpSpPr>
      <p:grpSpPr>
        <a:xfrm>
          <a:off x="0" y="0"/>
          <a:ext cx="0" cy="0"/>
          <a:chOff x="0" y="0"/>
          <a:chExt cx="0" cy="0"/>
        </a:xfrm>
      </p:grpSpPr>
      <p:pic>
        <p:nvPicPr>
          <p:cNvPr id="27" name="图片 26">
            <a:extLst>
              <a:ext uri="{FF2B5EF4-FFF2-40B4-BE49-F238E27FC236}">
                <a16:creationId xmlns:a16="http://schemas.microsoft.com/office/drawing/2014/main" id="{3A279747-DA68-7230-151F-6ADE67B4BA5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5C3387CD-81FF-E9A3-5567-1C885B4FF756}"/>
              </a:ext>
            </a:extLst>
          </p:cNvPr>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03</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B02CAA4E-4AE4-0943-54D3-15A9B5B18ACE}"/>
              </a:ext>
            </a:extLst>
          </p:cNvPr>
          <p:cNvSpPr txBox="1"/>
          <p:nvPr/>
        </p:nvSpPr>
        <p:spPr>
          <a:xfrm>
            <a:off x="1750899" y="3262086"/>
            <a:ext cx="773560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zh-CN" altLang="en-US" sz="6600" dirty="0"/>
              <a:t>数据来源和变量构造</a:t>
            </a:r>
            <a:endPar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a:extLst>
              <a:ext uri="{FF2B5EF4-FFF2-40B4-BE49-F238E27FC236}">
                <a16:creationId xmlns:a16="http://schemas.microsoft.com/office/drawing/2014/main" id="{18D1B4FB-5DCC-C93A-FED8-3D7423E06B49}"/>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8716043A-742E-27D2-9C01-53042B7FFB8B}"/>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F6376E9F-89A6-489C-B59C-43117126E6C2}"/>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grpSp>
        <p:nvGrpSpPr>
          <p:cNvPr id="7" name="组合 6">
            <a:extLst>
              <a:ext uri="{FF2B5EF4-FFF2-40B4-BE49-F238E27FC236}">
                <a16:creationId xmlns:a16="http://schemas.microsoft.com/office/drawing/2014/main" id="{683C3686-6722-FD7F-DDE1-7C762D31A3F8}"/>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5209F7F-1719-6B2D-C853-6EA0C614418D}"/>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9" name="平行四边形 8">
              <a:extLst>
                <a:ext uri="{FF2B5EF4-FFF2-40B4-BE49-F238E27FC236}">
                  <a16:creationId xmlns:a16="http://schemas.microsoft.com/office/drawing/2014/main" id="{4120EE66-C434-300A-4726-6B0FE86E44A2}"/>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16" name="直接连接符 15">
            <a:extLst>
              <a:ext uri="{FF2B5EF4-FFF2-40B4-BE49-F238E27FC236}">
                <a16:creationId xmlns:a16="http://schemas.microsoft.com/office/drawing/2014/main" id="{DA451804-37B0-3685-9427-CAB344D37999}"/>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0F7A4C84-3EC3-1288-9182-4752E4B29EB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6776AE06-2AD6-C345-99E7-09BB26477C66}"/>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16E70951-3DAD-3851-21B7-691B3D72DA6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E0EBBAB5-74EE-7456-5408-EB185C3A6C9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51C20A0F-4341-D68B-A088-E58D5D534F9C}"/>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Tree>
    <p:extLst>
      <p:ext uri="{BB962C8B-B14F-4D97-AF65-F5344CB8AC3E}">
        <p14:creationId xmlns:p14="http://schemas.microsoft.com/office/powerpoint/2010/main" val="153241373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AE930-FF70-48E9-E6CC-6C6F8820E5D3}"/>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6AF099F4-DED2-F061-C2DE-FD8D1162CA89}"/>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7FF67272-1F95-B45C-5E1D-5717EEDF8561}"/>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CA534BBC-9899-152F-926E-C071D1576B5E}"/>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a:extLst>
              <a:ext uri="{FF2B5EF4-FFF2-40B4-BE49-F238E27FC236}">
                <a16:creationId xmlns:a16="http://schemas.microsoft.com/office/drawing/2014/main" id="{D080F7BE-3612-CF01-B1D3-12A6D7186EF2}"/>
              </a:ext>
            </a:extLst>
          </p:cNvPr>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9676EA7A-D7A6-0452-BA5C-CF1765C951F1}"/>
              </a:ext>
            </a:extLst>
          </p:cNvPr>
          <p:cNvSpPr txBox="1"/>
          <p:nvPr/>
        </p:nvSpPr>
        <p:spPr>
          <a:xfrm>
            <a:off x="1137382" y="276510"/>
            <a:ext cx="6463913" cy="405255"/>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defRPr/>
            </a:pPr>
            <a:r>
              <a:rPr lang="zh-CN" altLang="en-US" dirty="0"/>
              <a:t>数据来源：</a:t>
            </a:r>
            <a:r>
              <a:rPr lang="en-US" altLang="zh-CN" dirty="0"/>
              <a:t>ACLED</a:t>
            </a:r>
            <a:endPar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3" name="组合 42">
            <a:extLst>
              <a:ext uri="{FF2B5EF4-FFF2-40B4-BE49-F238E27FC236}">
                <a16:creationId xmlns:a16="http://schemas.microsoft.com/office/drawing/2014/main" id="{BC74D0D2-6923-0323-2A01-92FE3D958FA4}"/>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25C5A415-ECB9-0FE0-EC7A-6232BF66199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9E38F570-6FA9-84CC-A2EE-5274942D109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83CB4416-BA61-D282-1F9B-EA2EC9ED73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8" name="文本框 7">
            <a:extLst>
              <a:ext uri="{FF2B5EF4-FFF2-40B4-BE49-F238E27FC236}">
                <a16:creationId xmlns:a16="http://schemas.microsoft.com/office/drawing/2014/main" id="{E66EA63B-5B83-4E0F-2384-08F87AF3D019}"/>
              </a:ext>
            </a:extLst>
          </p:cNvPr>
          <p:cNvSpPr txBox="1"/>
          <p:nvPr/>
        </p:nvSpPr>
        <p:spPr>
          <a:xfrm>
            <a:off x="441358" y="1614008"/>
            <a:ext cx="4547951" cy="1477328"/>
          </a:xfrm>
          <a:prstGeom prst="rect">
            <a:avLst/>
          </a:prstGeom>
          <a:noFill/>
        </p:spPr>
        <p:txBody>
          <a:bodyPr wrap="square" rtlCol="0">
            <a:spAutoFit/>
          </a:bodyPr>
          <a:lstStyle/>
          <a:p>
            <a:r>
              <a:rPr lang="zh-CN" altLang="en-US" dirty="0"/>
              <a:t> </a:t>
            </a:r>
            <a:r>
              <a:rPr lang="en-US" altLang="zh-CN" dirty="0"/>
              <a:t>2023 </a:t>
            </a:r>
            <a:r>
              <a:rPr lang="zh-CN" altLang="en-US" dirty="0"/>
              <a:t>年 </a:t>
            </a:r>
            <a:r>
              <a:rPr lang="en-US" altLang="zh-CN" dirty="0"/>
              <a:t>1 </a:t>
            </a:r>
            <a:r>
              <a:rPr lang="zh-CN" altLang="en-US" dirty="0"/>
              <a:t>月 </a:t>
            </a:r>
            <a:r>
              <a:rPr lang="en-US" altLang="zh-CN" dirty="0"/>
              <a:t>1 </a:t>
            </a:r>
            <a:r>
              <a:rPr lang="zh-CN" altLang="en-US" dirty="0"/>
              <a:t>日至 </a:t>
            </a:r>
            <a:r>
              <a:rPr lang="en-US" altLang="zh-CN" dirty="0"/>
              <a:t>2025 </a:t>
            </a:r>
            <a:r>
              <a:rPr lang="zh-CN" altLang="en-US" dirty="0"/>
              <a:t>年 </a:t>
            </a:r>
            <a:r>
              <a:rPr lang="en-US" altLang="zh-CN" dirty="0"/>
              <a:t>5 </a:t>
            </a:r>
            <a:r>
              <a:rPr lang="zh-CN" altLang="en-US" dirty="0"/>
              <a:t>月 </a:t>
            </a:r>
            <a:r>
              <a:rPr lang="en-US" altLang="zh-CN" dirty="0"/>
              <a:t>28 </a:t>
            </a:r>
            <a:r>
              <a:rPr lang="zh-CN" altLang="en-US" dirty="0"/>
              <a:t>日期间的 </a:t>
            </a:r>
            <a:r>
              <a:rPr lang="en-US" altLang="zh-CN" dirty="0"/>
              <a:t>22688 </a:t>
            </a:r>
            <a:r>
              <a:rPr lang="zh-CN" altLang="en-US" dirty="0"/>
              <a:t>条胡塞、红海、亚丁湾及相关地区事件数据。</a:t>
            </a:r>
            <a:endParaRPr lang="en-US" altLang="zh-CN" dirty="0"/>
          </a:p>
          <a:p>
            <a:r>
              <a:rPr lang="zh-CN" altLang="en-US" dirty="0"/>
              <a:t>筛选规则基于 </a:t>
            </a:r>
            <a:r>
              <a:rPr lang="en-US" altLang="zh-CN" dirty="0"/>
              <a:t>actor</a:t>
            </a:r>
            <a:r>
              <a:rPr lang="zh-CN" altLang="en-US" dirty="0"/>
              <a:t>、</a:t>
            </a:r>
            <a:r>
              <a:rPr lang="en-US" altLang="zh-CN" dirty="0"/>
              <a:t>location</a:t>
            </a:r>
            <a:r>
              <a:rPr lang="zh-CN" altLang="en-US" dirty="0"/>
              <a:t>、</a:t>
            </a:r>
            <a:r>
              <a:rPr lang="en-US" altLang="zh-CN" dirty="0"/>
              <a:t>admin</a:t>
            </a:r>
            <a:r>
              <a:rPr lang="zh-CN" altLang="en-US" dirty="0"/>
              <a:t>、</a:t>
            </a:r>
            <a:r>
              <a:rPr lang="en-US" altLang="zh-CN" dirty="0"/>
              <a:t>notes </a:t>
            </a:r>
            <a:r>
              <a:rPr lang="zh-CN" altLang="en-US" dirty="0"/>
              <a:t>和 </a:t>
            </a:r>
            <a:r>
              <a:rPr lang="en-US" altLang="zh-CN" dirty="0"/>
              <a:t>tags </a:t>
            </a:r>
            <a:r>
              <a:rPr lang="zh-CN" altLang="en-US" dirty="0"/>
              <a:t>等字段中的关键词。</a:t>
            </a:r>
          </a:p>
        </p:txBody>
      </p:sp>
      <p:sp>
        <p:nvSpPr>
          <p:cNvPr id="13" name="圆角矩形 6">
            <a:extLst>
              <a:ext uri="{FF2B5EF4-FFF2-40B4-BE49-F238E27FC236}">
                <a16:creationId xmlns:a16="http://schemas.microsoft.com/office/drawing/2014/main" id="{69E36E6D-9446-9BA5-6C85-75E2F812DC23}"/>
              </a:ext>
            </a:extLst>
          </p:cNvPr>
          <p:cNvSpPr/>
          <p:nvPr/>
        </p:nvSpPr>
        <p:spPr>
          <a:xfrm>
            <a:off x="441357" y="1054826"/>
            <a:ext cx="4388393" cy="431272"/>
          </a:xfrm>
          <a:prstGeom prst="roundRect">
            <a:avLst>
              <a:gd name="adj" fmla="val 37046"/>
            </a:avLst>
          </a:prstGeom>
          <a:gradFill>
            <a:gsLst>
              <a:gs pos="53000">
                <a:srgbClr val="024282"/>
              </a:gs>
              <a:gs pos="95000">
                <a:srgbClr val="024282">
                  <a:alpha val="0"/>
                </a:srgbClr>
              </a:gs>
              <a:gs pos="0">
                <a:srgbClr val="024282"/>
              </a:gs>
            </a:gsLst>
            <a:lin ang="20700000" scaled="0"/>
          </a:gra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ACLED</a:t>
            </a:r>
            <a:r>
              <a:rPr kumimoji="0" lang="zh-CN" altLang="en-US"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：武装冲突地点与事件数据库</a:t>
            </a:r>
            <a:endParaRPr kumimoji="0" lang="en-US" altLang="zh-CN"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endParaRPr>
          </a:p>
        </p:txBody>
      </p:sp>
      <p:pic>
        <p:nvPicPr>
          <p:cNvPr id="15" name="图片 14">
            <a:extLst>
              <a:ext uri="{FF2B5EF4-FFF2-40B4-BE49-F238E27FC236}">
                <a16:creationId xmlns:a16="http://schemas.microsoft.com/office/drawing/2014/main" id="{5DBFC711-D0FA-5E7A-2530-13312AB85A6F}"/>
              </a:ext>
            </a:extLst>
          </p:cNvPr>
          <p:cNvPicPr>
            <a:picLocks noChangeAspect="1"/>
          </p:cNvPicPr>
          <p:nvPr/>
        </p:nvPicPr>
        <p:blipFill>
          <a:blip r:embed="rId4"/>
          <a:stretch>
            <a:fillRect/>
          </a:stretch>
        </p:blipFill>
        <p:spPr>
          <a:xfrm>
            <a:off x="621873" y="3333969"/>
            <a:ext cx="3591426" cy="2362530"/>
          </a:xfrm>
          <a:prstGeom prst="rect">
            <a:avLst/>
          </a:prstGeom>
        </p:spPr>
      </p:pic>
      <p:sp>
        <p:nvSpPr>
          <p:cNvPr id="17" name="矩形: 圆角 16">
            <a:extLst>
              <a:ext uri="{FF2B5EF4-FFF2-40B4-BE49-F238E27FC236}">
                <a16:creationId xmlns:a16="http://schemas.microsoft.com/office/drawing/2014/main" id="{F76BD36C-1F82-3890-5313-8C2821486C44}"/>
              </a:ext>
            </a:extLst>
          </p:cNvPr>
          <p:cNvSpPr/>
          <p:nvPr/>
        </p:nvSpPr>
        <p:spPr>
          <a:xfrm>
            <a:off x="797799" y="4185374"/>
            <a:ext cx="2405669" cy="1058618"/>
          </a:xfrm>
          <a:prstGeom prst="roundRect">
            <a:avLst/>
          </a:prstGeom>
          <a:noFill/>
          <a:ln>
            <a:solidFill>
              <a:schemeClr val="tx2">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E4CCEE76-49A5-6EF4-92CA-9C935675E87F}"/>
              </a:ext>
            </a:extLst>
          </p:cNvPr>
          <p:cNvSpPr txBox="1"/>
          <p:nvPr/>
        </p:nvSpPr>
        <p:spPr>
          <a:xfrm>
            <a:off x="1337848" y="5931595"/>
            <a:ext cx="4191512" cy="369332"/>
          </a:xfrm>
          <a:prstGeom prst="rect">
            <a:avLst/>
          </a:prstGeom>
          <a:noFill/>
        </p:spPr>
        <p:txBody>
          <a:bodyPr wrap="square" rtlCol="0">
            <a:spAutoFit/>
          </a:bodyPr>
          <a:lstStyle/>
          <a:p>
            <a:r>
              <a:rPr lang="zh-CN" altLang="en-US" dirty="0"/>
              <a:t>整合为日度袭击事件数 </a:t>
            </a:r>
            <a:r>
              <a:rPr lang="en-US" altLang="zh-CN" dirty="0" err="1"/>
              <a:t>attack_count</a:t>
            </a:r>
            <a:endParaRPr lang="zh-CN" altLang="en-US" dirty="0"/>
          </a:p>
        </p:txBody>
      </p:sp>
      <p:sp>
        <p:nvSpPr>
          <p:cNvPr id="22" name="箭头: 右 21">
            <a:extLst>
              <a:ext uri="{FF2B5EF4-FFF2-40B4-BE49-F238E27FC236}">
                <a16:creationId xmlns:a16="http://schemas.microsoft.com/office/drawing/2014/main" id="{6369351D-B1C9-B77F-8669-76E8BB0A0606}"/>
              </a:ext>
            </a:extLst>
          </p:cNvPr>
          <p:cNvSpPr/>
          <p:nvPr/>
        </p:nvSpPr>
        <p:spPr>
          <a:xfrm>
            <a:off x="523137" y="5963539"/>
            <a:ext cx="669477" cy="320517"/>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a:extLst>
              <a:ext uri="{FF2B5EF4-FFF2-40B4-BE49-F238E27FC236}">
                <a16:creationId xmlns:a16="http://schemas.microsoft.com/office/drawing/2014/main" id="{712ADFE0-E36B-BB9B-B1B0-AA7D8CF1E7AF}"/>
              </a:ext>
            </a:extLst>
          </p:cNvPr>
          <p:cNvPicPr>
            <a:picLocks noChangeAspect="1"/>
          </p:cNvPicPr>
          <p:nvPr/>
        </p:nvPicPr>
        <p:blipFill>
          <a:blip r:embed="rId5"/>
          <a:stretch>
            <a:fillRect/>
          </a:stretch>
        </p:blipFill>
        <p:spPr>
          <a:xfrm>
            <a:off x="5165235" y="1784226"/>
            <a:ext cx="6659682" cy="3570884"/>
          </a:xfrm>
          <a:prstGeom prst="rect">
            <a:avLst/>
          </a:prstGeom>
        </p:spPr>
      </p:pic>
    </p:spTree>
    <p:extLst>
      <p:ext uri="{BB962C8B-B14F-4D97-AF65-F5344CB8AC3E}">
        <p14:creationId xmlns:p14="http://schemas.microsoft.com/office/powerpoint/2010/main" val="3998477591"/>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FFA46-C017-15A3-C7A6-478E0FB44E57}"/>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C4C7EFE2-ACB5-DBE1-8039-AC51B397974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9119A7AF-EFA4-746F-0367-4AF92A9FD401}"/>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6DD8465F-4AEF-6973-7850-4072C6D6B1BC}"/>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a:extLst>
              <a:ext uri="{FF2B5EF4-FFF2-40B4-BE49-F238E27FC236}">
                <a16:creationId xmlns:a16="http://schemas.microsoft.com/office/drawing/2014/main" id="{D9B469A1-CFF0-1309-143A-C4BC296CB38E}"/>
              </a:ext>
            </a:extLst>
          </p:cNvPr>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1A4E9C71-C569-7467-36A9-882532A7ACBD}"/>
              </a:ext>
            </a:extLst>
          </p:cNvPr>
          <p:cNvSpPr txBox="1"/>
          <p:nvPr/>
        </p:nvSpPr>
        <p:spPr>
          <a:xfrm>
            <a:off x="1137382" y="276510"/>
            <a:ext cx="6463913" cy="405255"/>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defRPr/>
            </a:pPr>
            <a:r>
              <a:rPr lang="zh-CN" altLang="en-US" dirty="0"/>
              <a:t>数据来源：</a:t>
            </a:r>
            <a:r>
              <a:rPr lang="en-US" altLang="zh-CN" dirty="0" err="1"/>
              <a:t>PortWatch</a:t>
            </a:r>
            <a:r>
              <a:rPr lang="en-US" altLang="zh-CN" dirty="0"/>
              <a:t> </a:t>
            </a:r>
            <a:endPar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3" name="组合 42">
            <a:extLst>
              <a:ext uri="{FF2B5EF4-FFF2-40B4-BE49-F238E27FC236}">
                <a16:creationId xmlns:a16="http://schemas.microsoft.com/office/drawing/2014/main" id="{A7ECC09E-B054-FEE0-D79A-FD9F1FE62AFE}"/>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61328FA1-EF1B-27A0-BD2C-B92056DA603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9503888B-425E-2E3F-0F32-2ED69D11F77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C10F677F-F3A6-7B3C-E907-FABB3020863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8" name="文本框 7">
            <a:extLst>
              <a:ext uri="{FF2B5EF4-FFF2-40B4-BE49-F238E27FC236}">
                <a16:creationId xmlns:a16="http://schemas.microsoft.com/office/drawing/2014/main" id="{0CE43833-3FF9-CB2A-5138-409119900F1E}"/>
              </a:ext>
            </a:extLst>
          </p:cNvPr>
          <p:cNvSpPr txBox="1"/>
          <p:nvPr/>
        </p:nvSpPr>
        <p:spPr>
          <a:xfrm>
            <a:off x="441358" y="1614008"/>
            <a:ext cx="4547951" cy="923330"/>
          </a:xfrm>
          <a:prstGeom prst="rect">
            <a:avLst/>
          </a:prstGeom>
          <a:noFill/>
        </p:spPr>
        <p:txBody>
          <a:bodyPr wrap="square" rtlCol="0">
            <a:spAutoFit/>
          </a:bodyPr>
          <a:lstStyle/>
          <a:p>
            <a:r>
              <a:rPr lang="zh-CN" altLang="en-US" dirty="0"/>
              <a:t>该表覆盖 </a:t>
            </a:r>
            <a:r>
              <a:rPr lang="en-US" altLang="zh-CN" dirty="0"/>
              <a:t>2023 </a:t>
            </a:r>
            <a:r>
              <a:rPr lang="zh-CN" altLang="en-US" dirty="0"/>
              <a:t>年 </a:t>
            </a:r>
            <a:r>
              <a:rPr lang="en-US" altLang="zh-CN" dirty="0"/>
              <a:t>10 </a:t>
            </a:r>
            <a:r>
              <a:rPr lang="zh-CN" altLang="en-US" dirty="0"/>
              <a:t>月 </a:t>
            </a:r>
            <a:r>
              <a:rPr lang="en-US" altLang="zh-CN" dirty="0"/>
              <a:t>1 </a:t>
            </a:r>
            <a:r>
              <a:rPr lang="zh-CN" altLang="en-US" dirty="0"/>
              <a:t>日至 </a:t>
            </a:r>
            <a:r>
              <a:rPr lang="en-US" altLang="zh-CN" dirty="0"/>
              <a:t>2026 </a:t>
            </a:r>
            <a:r>
              <a:rPr lang="zh-CN" altLang="en-US" dirty="0"/>
              <a:t>年 </a:t>
            </a:r>
            <a:r>
              <a:rPr lang="en-US" altLang="zh-CN" dirty="0"/>
              <a:t>5 </a:t>
            </a:r>
            <a:r>
              <a:rPr lang="zh-CN" altLang="en-US" dirty="0"/>
              <a:t>月 </a:t>
            </a:r>
            <a:r>
              <a:rPr lang="en-US" altLang="zh-CN" dirty="0"/>
              <a:t>24 </a:t>
            </a:r>
            <a:r>
              <a:rPr lang="zh-CN" altLang="en-US" dirty="0"/>
              <a:t>日，共 </a:t>
            </a:r>
            <a:r>
              <a:rPr lang="en-US" altLang="zh-CN" dirty="0"/>
              <a:t>967 </a:t>
            </a:r>
            <a:r>
              <a:rPr lang="zh-CN" altLang="en-US" dirty="0"/>
              <a:t>个日度观测，包含三个关键通道：</a:t>
            </a:r>
          </a:p>
        </p:txBody>
      </p:sp>
      <p:sp>
        <p:nvSpPr>
          <p:cNvPr id="13" name="圆角矩形 6">
            <a:extLst>
              <a:ext uri="{FF2B5EF4-FFF2-40B4-BE49-F238E27FC236}">
                <a16:creationId xmlns:a16="http://schemas.microsoft.com/office/drawing/2014/main" id="{F16D35FB-6915-AE5E-B7D3-48A87C280953}"/>
              </a:ext>
            </a:extLst>
          </p:cNvPr>
          <p:cNvSpPr/>
          <p:nvPr/>
        </p:nvSpPr>
        <p:spPr>
          <a:xfrm>
            <a:off x="441357" y="1054826"/>
            <a:ext cx="4640007" cy="431272"/>
          </a:xfrm>
          <a:prstGeom prst="roundRect">
            <a:avLst>
              <a:gd name="adj" fmla="val 37046"/>
            </a:avLst>
          </a:prstGeom>
          <a:gradFill>
            <a:gsLst>
              <a:gs pos="53000">
                <a:srgbClr val="024282"/>
              </a:gs>
              <a:gs pos="95000">
                <a:srgbClr val="024282">
                  <a:alpha val="0"/>
                </a:srgbClr>
              </a:gs>
              <a:gs pos="0">
                <a:srgbClr val="024282"/>
              </a:gs>
            </a:gsLst>
            <a:lin ang="20700000" scaled="0"/>
          </a:gra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err="1">
                <a:ln>
                  <a:noFill/>
                </a:ln>
                <a:solidFill>
                  <a:prstClr val="white"/>
                </a:solidFill>
                <a:effectLst/>
                <a:uLnTx/>
                <a:uFillTx/>
                <a:latin typeface="微软雅黑"/>
                <a:ea typeface="微软雅黑" panose="020B0503020204020204" pitchFamily="34" charset="-122"/>
                <a:cs typeface="+mn-cs"/>
              </a:rPr>
              <a:t>PortWatch</a:t>
            </a:r>
            <a:r>
              <a:rPr kumimoji="0" lang="zh-CN" altLang="en-US"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：全球港口监测系统</a:t>
            </a:r>
            <a:endParaRPr kumimoji="0" lang="en-US" altLang="zh-CN"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endParaRPr>
          </a:p>
        </p:txBody>
      </p:sp>
      <p:pic>
        <p:nvPicPr>
          <p:cNvPr id="30" name="图片 29">
            <a:extLst>
              <a:ext uri="{FF2B5EF4-FFF2-40B4-BE49-F238E27FC236}">
                <a16:creationId xmlns:a16="http://schemas.microsoft.com/office/drawing/2014/main" id="{26B4A5B3-ED26-5692-F8C1-9B1029BDB65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65235" y="1784226"/>
            <a:ext cx="6659681" cy="3570884"/>
          </a:xfrm>
          <a:prstGeom prst="rect">
            <a:avLst/>
          </a:prstGeom>
        </p:spPr>
      </p:pic>
      <p:pic>
        <p:nvPicPr>
          <p:cNvPr id="3" name="图片 2">
            <a:extLst>
              <a:ext uri="{FF2B5EF4-FFF2-40B4-BE49-F238E27FC236}">
                <a16:creationId xmlns:a16="http://schemas.microsoft.com/office/drawing/2014/main" id="{B358388C-55D6-9A67-09BD-AB06B52BEA1A}"/>
              </a:ext>
            </a:extLst>
          </p:cNvPr>
          <p:cNvPicPr>
            <a:picLocks noChangeAspect="1"/>
          </p:cNvPicPr>
          <p:nvPr/>
        </p:nvPicPr>
        <p:blipFill>
          <a:blip r:embed="rId5"/>
          <a:stretch>
            <a:fillRect/>
          </a:stretch>
        </p:blipFill>
        <p:spPr>
          <a:xfrm>
            <a:off x="240123" y="2665248"/>
            <a:ext cx="4925112" cy="1238423"/>
          </a:xfrm>
          <a:prstGeom prst="rect">
            <a:avLst/>
          </a:prstGeom>
        </p:spPr>
      </p:pic>
      <p:sp>
        <p:nvSpPr>
          <p:cNvPr id="9" name="文本框 8">
            <a:extLst>
              <a:ext uri="{FF2B5EF4-FFF2-40B4-BE49-F238E27FC236}">
                <a16:creationId xmlns:a16="http://schemas.microsoft.com/office/drawing/2014/main" id="{CF051E9B-AFB2-FFB8-643A-2F008AADC47F}"/>
              </a:ext>
            </a:extLst>
          </p:cNvPr>
          <p:cNvSpPr txBox="1"/>
          <p:nvPr/>
        </p:nvSpPr>
        <p:spPr>
          <a:xfrm>
            <a:off x="441357" y="4173101"/>
            <a:ext cx="2547320" cy="1754326"/>
          </a:xfrm>
          <a:prstGeom prst="rect">
            <a:avLst/>
          </a:prstGeom>
          <a:noFill/>
        </p:spPr>
        <p:txBody>
          <a:bodyPr wrap="square" rtlCol="0">
            <a:spAutoFit/>
          </a:bodyPr>
          <a:lstStyle/>
          <a:p>
            <a:r>
              <a:rPr lang="zh-CN" altLang="en-US" b="1" dirty="0"/>
              <a:t>定义：</a:t>
            </a:r>
            <a:endParaRPr lang="en-US" altLang="zh-CN" b="1" dirty="0"/>
          </a:p>
          <a:p>
            <a:r>
              <a:rPr lang="zh-CN" altLang="en-US" dirty="0"/>
              <a:t>好望角日通行量</a:t>
            </a:r>
            <a:endParaRPr lang="en-US" altLang="zh-CN" dirty="0"/>
          </a:p>
          <a:p>
            <a:r>
              <a:rPr lang="zh-CN" altLang="en-US" dirty="0"/>
              <a:t>苏伊士运河日通行量</a:t>
            </a:r>
            <a:endParaRPr lang="en-US" altLang="zh-CN" dirty="0"/>
          </a:p>
          <a:p>
            <a:r>
              <a:rPr lang="zh-CN" altLang="en-US" b="1" dirty="0"/>
              <a:t>绕航指数</a:t>
            </a:r>
            <a:endParaRPr lang="en-US" altLang="zh-CN" b="1" dirty="0"/>
          </a:p>
          <a:p>
            <a:endParaRPr lang="en-US" altLang="zh-CN" b="1" dirty="0"/>
          </a:p>
          <a:p>
            <a:r>
              <a:rPr lang="zh-CN" altLang="en-US" dirty="0"/>
              <a:t>苏伊士通行占比</a:t>
            </a:r>
            <a:r>
              <a:rPr lang="zh-CN" altLang="en-US" b="1" dirty="0"/>
              <a:t> </a:t>
            </a:r>
            <a:endParaRPr lang="zh-CN" altLang="en-US" dirty="0"/>
          </a:p>
        </p:txBody>
      </p:sp>
      <p:pic>
        <p:nvPicPr>
          <p:cNvPr id="12" name="图片 11">
            <a:extLst>
              <a:ext uri="{FF2B5EF4-FFF2-40B4-BE49-F238E27FC236}">
                <a16:creationId xmlns:a16="http://schemas.microsoft.com/office/drawing/2014/main" id="{3992E7E5-F004-B78D-3690-CC80C1598B5E}"/>
              </a:ext>
            </a:extLst>
          </p:cNvPr>
          <p:cNvPicPr>
            <a:picLocks noChangeAspect="1"/>
          </p:cNvPicPr>
          <p:nvPr/>
        </p:nvPicPr>
        <p:blipFill>
          <a:blip r:embed="rId6"/>
          <a:stretch>
            <a:fillRect/>
          </a:stretch>
        </p:blipFill>
        <p:spPr>
          <a:xfrm>
            <a:off x="2715333" y="4528231"/>
            <a:ext cx="447737" cy="257211"/>
          </a:xfrm>
          <a:prstGeom prst="rect">
            <a:avLst/>
          </a:prstGeom>
        </p:spPr>
      </p:pic>
      <p:pic>
        <p:nvPicPr>
          <p:cNvPr id="16" name="图片 15">
            <a:extLst>
              <a:ext uri="{FF2B5EF4-FFF2-40B4-BE49-F238E27FC236}">
                <a16:creationId xmlns:a16="http://schemas.microsoft.com/office/drawing/2014/main" id="{F695E37F-0E75-6AB1-59B9-32A967B48543}"/>
              </a:ext>
            </a:extLst>
          </p:cNvPr>
          <p:cNvPicPr>
            <a:picLocks noChangeAspect="1"/>
          </p:cNvPicPr>
          <p:nvPr/>
        </p:nvPicPr>
        <p:blipFill>
          <a:blip r:embed="rId7"/>
          <a:stretch>
            <a:fillRect/>
          </a:stretch>
        </p:blipFill>
        <p:spPr>
          <a:xfrm>
            <a:off x="2715333" y="4807568"/>
            <a:ext cx="419158" cy="266737"/>
          </a:xfrm>
          <a:prstGeom prst="rect">
            <a:avLst/>
          </a:prstGeom>
        </p:spPr>
      </p:pic>
      <p:pic>
        <p:nvPicPr>
          <p:cNvPr id="20" name="图片 19">
            <a:extLst>
              <a:ext uri="{FF2B5EF4-FFF2-40B4-BE49-F238E27FC236}">
                <a16:creationId xmlns:a16="http://schemas.microsoft.com/office/drawing/2014/main" id="{13CA2C21-12D8-CB87-ABFD-039444DC553F}"/>
              </a:ext>
            </a:extLst>
          </p:cNvPr>
          <p:cNvPicPr>
            <a:picLocks noChangeAspect="1"/>
          </p:cNvPicPr>
          <p:nvPr/>
        </p:nvPicPr>
        <p:blipFill>
          <a:blip r:embed="rId8"/>
          <a:stretch>
            <a:fillRect/>
          </a:stretch>
        </p:blipFill>
        <p:spPr>
          <a:xfrm>
            <a:off x="2241904" y="5080770"/>
            <a:ext cx="1190791" cy="647790"/>
          </a:xfrm>
          <a:prstGeom prst="rect">
            <a:avLst/>
          </a:prstGeom>
        </p:spPr>
      </p:pic>
      <p:pic>
        <p:nvPicPr>
          <p:cNvPr id="23" name="图片 22">
            <a:extLst>
              <a:ext uri="{FF2B5EF4-FFF2-40B4-BE49-F238E27FC236}">
                <a16:creationId xmlns:a16="http://schemas.microsoft.com/office/drawing/2014/main" id="{580BFC6D-8C70-8316-1469-E3BFE6A7E62B}"/>
              </a:ext>
            </a:extLst>
          </p:cNvPr>
          <p:cNvPicPr>
            <a:picLocks noChangeAspect="1"/>
          </p:cNvPicPr>
          <p:nvPr/>
        </p:nvPicPr>
        <p:blipFill>
          <a:blip r:embed="rId9"/>
          <a:stretch>
            <a:fillRect/>
          </a:stretch>
        </p:blipFill>
        <p:spPr>
          <a:xfrm>
            <a:off x="2196147" y="5693111"/>
            <a:ext cx="1876687" cy="600159"/>
          </a:xfrm>
          <a:prstGeom prst="rect">
            <a:avLst/>
          </a:prstGeom>
        </p:spPr>
      </p:pic>
    </p:spTree>
    <p:extLst>
      <p:ext uri="{BB962C8B-B14F-4D97-AF65-F5344CB8AC3E}">
        <p14:creationId xmlns:p14="http://schemas.microsoft.com/office/powerpoint/2010/main" val="1016193417"/>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43DFA-D807-F581-CC25-1196099DE290}"/>
            </a:ext>
          </a:extLst>
        </p:cNvPr>
        <p:cNvGrpSpPr/>
        <p:nvPr/>
      </p:nvGrpSpPr>
      <p:grpSpPr>
        <a:xfrm>
          <a:off x="0" y="0"/>
          <a:ext cx="0" cy="0"/>
          <a:chOff x="0" y="0"/>
          <a:chExt cx="0" cy="0"/>
        </a:xfrm>
      </p:grpSpPr>
      <p:pic>
        <p:nvPicPr>
          <p:cNvPr id="27" name="图片 26">
            <a:extLst>
              <a:ext uri="{FF2B5EF4-FFF2-40B4-BE49-F238E27FC236}">
                <a16:creationId xmlns:a16="http://schemas.microsoft.com/office/drawing/2014/main" id="{629A7528-1E62-99E8-929A-98FAB5C8183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DE99DB3D-5A4A-1AFA-2819-0405EFC117A3}"/>
              </a:ext>
            </a:extLst>
          </p:cNvPr>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a:t>
            </a:r>
            <a:r>
              <a:rPr lang="en-US" altLang="zh-CN" sz="19900" dirty="0">
                <a:latin typeface="Arial Black" panose="020B0A04020102020204" pitchFamily="34" charset="0"/>
              </a:rPr>
              <a:t>4</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8044767B-413B-56C5-6FA7-44B98BE9BE5C}"/>
              </a:ext>
            </a:extLst>
          </p:cNvPr>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zh-CN" altLang="en-US" sz="6600" dirty="0"/>
              <a:t>研究方法</a:t>
            </a:r>
            <a:endPar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a:extLst>
              <a:ext uri="{FF2B5EF4-FFF2-40B4-BE49-F238E27FC236}">
                <a16:creationId xmlns:a16="http://schemas.microsoft.com/office/drawing/2014/main" id="{7B2B50FD-7E88-FCBD-313D-FABBA70447CE}"/>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B6B1B218-147F-118C-85E0-D80C28B178AB}"/>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ABCBE463-EB17-2522-2E86-B377BB2D46B9}"/>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grpSp>
        <p:nvGrpSpPr>
          <p:cNvPr id="7" name="组合 6">
            <a:extLst>
              <a:ext uri="{FF2B5EF4-FFF2-40B4-BE49-F238E27FC236}">
                <a16:creationId xmlns:a16="http://schemas.microsoft.com/office/drawing/2014/main" id="{CA2D6139-A877-BE4B-56D6-57D116C3D4ED}"/>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E5D4DD0B-2942-6ED3-00B6-9AB98488989B}"/>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9" name="平行四边形 8">
              <a:extLst>
                <a:ext uri="{FF2B5EF4-FFF2-40B4-BE49-F238E27FC236}">
                  <a16:creationId xmlns:a16="http://schemas.microsoft.com/office/drawing/2014/main" id="{A097F2EE-7D8D-4913-EDE3-10B550A71AB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16" name="直接连接符 15">
            <a:extLst>
              <a:ext uri="{FF2B5EF4-FFF2-40B4-BE49-F238E27FC236}">
                <a16:creationId xmlns:a16="http://schemas.microsoft.com/office/drawing/2014/main" id="{09CF6508-CFB4-DAF5-2CFD-F9E2913F6D6A}"/>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0B5E1B69-B7F2-6A98-C4A3-560E902F3C4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0A4415AE-B500-C7DF-9348-488850DDE269}"/>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08FD0842-EC57-BA36-1A8A-847F699F3A7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923287E8-1CA1-719F-F399-DF1FA6752FF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AEE42099-F808-4292-EE1B-E36240C65321}"/>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Tree>
    <p:extLst>
      <p:ext uri="{BB962C8B-B14F-4D97-AF65-F5344CB8AC3E}">
        <p14:creationId xmlns:p14="http://schemas.microsoft.com/office/powerpoint/2010/main" val="3001334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0C2AE-7B26-EC48-6FD1-C4E5DB8EDADA}"/>
            </a:ext>
          </a:extLst>
        </p:cNvPr>
        <p:cNvGrpSpPr/>
        <p:nvPr/>
      </p:nvGrpSpPr>
      <p:grpSpPr>
        <a:xfrm>
          <a:off x="0" y="0"/>
          <a:ext cx="0" cy="0"/>
          <a:chOff x="0" y="0"/>
          <a:chExt cx="0" cy="0"/>
        </a:xfrm>
      </p:grpSpPr>
      <p:sp>
        <p:nvSpPr>
          <p:cNvPr id="63" name="矩形: 圆角 62">
            <a:extLst>
              <a:ext uri="{FF2B5EF4-FFF2-40B4-BE49-F238E27FC236}">
                <a16:creationId xmlns:a16="http://schemas.microsoft.com/office/drawing/2014/main" id="{152839AB-E53A-6CC4-1E29-8D6673CEE81B}"/>
              </a:ext>
            </a:extLst>
          </p:cNvPr>
          <p:cNvSpPr/>
          <p:nvPr/>
        </p:nvSpPr>
        <p:spPr>
          <a:xfrm>
            <a:off x="6635849" y="3465742"/>
            <a:ext cx="4973580" cy="1000714"/>
          </a:xfrm>
          <a:prstGeom prst="roundRect">
            <a:avLst/>
          </a:prstGeom>
          <a:solidFill>
            <a:srgbClr val="DDECFC"/>
          </a:solidFill>
          <a:ln>
            <a:solidFill>
              <a:srgbClr val="275EAB"/>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矩形: 圆角 60">
            <a:extLst>
              <a:ext uri="{FF2B5EF4-FFF2-40B4-BE49-F238E27FC236}">
                <a16:creationId xmlns:a16="http://schemas.microsoft.com/office/drawing/2014/main" id="{5ADC2080-0376-24A1-B24B-3AF67D4FB8D9}"/>
              </a:ext>
            </a:extLst>
          </p:cNvPr>
          <p:cNvSpPr/>
          <p:nvPr/>
        </p:nvSpPr>
        <p:spPr>
          <a:xfrm>
            <a:off x="6635849" y="4716459"/>
            <a:ext cx="4973580" cy="1331920"/>
          </a:xfrm>
          <a:prstGeom prst="roundRect">
            <a:avLst/>
          </a:prstGeom>
          <a:solidFill>
            <a:srgbClr val="DDECFC"/>
          </a:solidFill>
          <a:ln>
            <a:solidFill>
              <a:srgbClr val="275EAB"/>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a:extLst>
              <a:ext uri="{FF2B5EF4-FFF2-40B4-BE49-F238E27FC236}">
                <a16:creationId xmlns:a16="http://schemas.microsoft.com/office/drawing/2014/main" id="{E8E7DECA-C7C1-3F64-9574-B159080981FB}"/>
              </a:ext>
            </a:extLst>
          </p:cNvPr>
          <p:cNvSpPr/>
          <p:nvPr/>
        </p:nvSpPr>
        <p:spPr>
          <a:xfrm>
            <a:off x="6637460" y="859168"/>
            <a:ext cx="4973580" cy="2356571"/>
          </a:xfrm>
          <a:prstGeom prst="roundRect">
            <a:avLst/>
          </a:prstGeom>
          <a:solidFill>
            <a:srgbClr val="DDECFC"/>
          </a:solidFill>
          <a:ln>
            <a:solidFill>
              <a:srgbClr val="275EAB"/>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0560AFB6-3F59-8CDB-BAAB-54584CB96C31}"/>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8DCFD0B3-7387-F1E8-959B-160B52902B2F}"/>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35ECFFBB-8EC2-2E8C-C5C8-94FBFB6C58F0}"/>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a:extLst>
              <a:ext uri="{FF2B5EF4-FFF2-40B4-BE49-F238E27FC236}">
                <a16:creationId xmlns:a16="http://schemas.microsoft.com/office/drawing/2014/main" id="{B61D9B2A-F7F5-4808-8FC3-7B5236D9E886}"/>
              </a:ext>
            </a:extLst>
          </p:cNvPr>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AC7DC485-9E0F-D2C8-88DC-71D2ECB97CD0}"/>
              </a:ext>
            </a:extLst>
          </p:cNvPr>
          <p:cNvSpPr txBox="1"/>
          <p:nvPr/>
        </p:nvSpPr>
        <p:spPr>
          <a:xfrm>
            <a:off x="1137382" y="276510"/>
            <a:ext cx="6463913" cy="405255"/>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defRPr/>
            </a:pPr>
            <a:r>
              <a:rPr lang="zh-CN" altLang="en-US" dirty="0"/>
              <a:t>研究方法一：三变量</a:t>
            </a:r>
            <a:r>
              <a:rPr lang="en-US" altLang="zh-CN" dirty="0"/>
              <a:t>VAR</a:t>
            </a:r>
            <a:r>
              <a:rPr lang="zh-CN" altLang="en-US" dirty="0"/>
              <a:t>系统</a:t>
            </a:r>
            <a:endPar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3" name="组合 42">
            <a:extLst>
              <a:ext uri="{FF2B5EF4-FFF2-40B4-BE49-F238E27FC236}">
                <a16:creationId xmlns:a16="http://schemas.microsoft.com/office/drawing/2014/main" id="{2DA0DA68-4561-72E1-DA1B-42766B062F2A}"/>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B6F1CAE7-4495-6D36-69B6-DE5896367A5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E0517B2D-041A-043D-6856-7950F29125E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75DBA22E-10A0-2A04-F52C-70BFDF3795A6}"/>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2" name="文本框 1">
            <a:extLst>
              <a:ext uri="{FF2B5EF4-FFF2-40B4-BE49-F238E27FC236}">
                <a16:creationId xmlns:a16="http://schemas.microsoft.com/office/drawing/2014/main" id="{97E70184-C861-A3CC-5E98-9EC5F121C4BD}"/>
              </a:ext>
            </a:extLst>
          </p:cNvPr>
          <p:cNvSpPr txBox="1"/>
          <p:nvPr/>
        </p:nvSpPr>
        <p:spPr>
          <a:xfrm>
            <a:off x="303609" y="1335620"/>
            <a:ext cx="1037138"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构造</a:t>
            </a:r>
          </a:p>
        </p:txBody>
      </p:sp>
      <p:pic>
        <p:nvPicPr>
          <p:cNvPr id="14" name="图片 13">
            <a:extLst>
              <a:ext uri="{FF2B5EF4-FFF2-40B4-BE49-F238E27FC236}">
                <a16:creationId xmlns:a16="http://schemas.microsoft.com/office/drawing/2014/main" id="{BF0ED264-B236-B301-1493-CB0A0F2AF2CB}"/>
              </a:ext>
            </a:extLst>
          </p:cNvPr>
          <p:cNvPicPr>
            <a:picLocks noChangeAspect="1"/>
          </p:cNvPicPr>
          <p:nvPr/>
        </p:nvPicPr>
        <p:blipFill>
          <a:blip r:embed="rId4"/>
          <a:srcRect t="13366"/>
          <a:stretch>
            <a:fillRect/>
          </a:stretch>
        </p:blipFill>
        <p:spPr>
          <a:xfrm>
            <a:off x="1007798" y="1028465"/>
            <a:ext cx="1586894" cy="1042558"/>
          </a:xfrm>
          <a:prstGeom prst="rect">
            <a:avLst/>
          </a:prstGeom>
        </p:spPr>
      </p:pic>
      <p:sp>
        <p:nvSpPr>
          <p:cNvPr id="15" name="文本框 14">
            <a:extLst>
              <a:ext uri="{FF2B5EF4-FFF2-40B4-BE49-F238E27FC236}">
                <a16:creationId xmlns:a16="http://schemas.microsoft.com/office/drawing/2014/main" id="{05F645DE-BD26-9960-9587-A185E0B8D2F4}"/>
              </a:ext>
            </a:extLst>
          </p:cNvPr>
          <p:cNvSpPr txBox="1"/>
          <p:nvPr/>
        </p:nvSpPr>
        <p:spPr>
          <a:xfrm>
            <a:off x="2600685" y="966288"/>
            <a:ext cx="2037455"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安全事件数量</a:t>
            </a:r>
          </a:p>
        </p:txBody>
      </p:sp>
      <p:sp>
        <p:nvSpPr>
          <p:cNvPr id="18" name="文本框 17">
            <a:extLst>
              <a:ext uri="{FF2B5EF4-FFF2-40B4-BE49-F238E27FC236}">
                <a16:creationId xmlns:a16="http://schemas.microsoft.com/office/drawing/2014/main" id="{711115D4-B7AE-8546-3CDC-32B061626B49}"/>
              </a:ext>
            </a:extLst>
          </p:cNvPr>
          <p:cNvSpPr txBox="1"/>
          <p:nvPr/>
        </p:nvSpPr>
        <p:spPr>
          <a:xfrm>
            <a:off x="2600685" y="1335620"/>
            <a:ext cx="2037455"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曼德海峡通行数</a:t>
            </a:r>
          </a:p>
        </p:txBody>
      </p:sp>
      <p:sp>
        <p:nvSpPr>
          <p:cNvPr id="21" name="文本框 20">
            <a:extLst>
              <a:ext uri="{FF2B5EF4-FFF2-40B4-BE49-F238E27FC236}">
                <a16:creationId xmlns:a16="http://schemas.microsoft.com/office/drawing/2014/main" id="{FF9CA959-FB1C-EFEE-5FFF-F39E28134F32}"/>
              </a:ext>
            </a:extLst>
          </p:cNvPr>
          <p:cNvSpPr txBox="1"/>
          <p:nvPr/>
        </p:nvSpPr>
        <p:spPr>
          <a:xfrm>
            <a:off x="2600685" y="1704952"/>
            <a:ext cx="2037455"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好望角通行数</a:t>
            </a:r>
          </a:p>
        </p:txBody>
      </p:sp>
      <p:sp>
        <p:nvSpPr>
          <p:cNvPr id="22" name="文本框 21">
            <a:extLst>
              <a:ext uri="{FF2B5EF4-FFF2-40B4-BE49-F238E27FC236}">
                <a16:creationId xmlns:a16="http://schemas.microsoft.com/office/drawing/2014/main" id="{E9065670-9BF2-2736-672E-5031CDDEEBD2}"/>
              </a:ext>
            </a:extLst>
          </p:cNvPr>
          <p:cNvSpPr txBox="1"/>
          <p:nvPr/>
        </p:nvSpPr>
        <p:spPr>
          <a:xfrm>
            <a:off x="434774" y="2285815"/>
            <a:ext cx="380863"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设</a:t>
            </a:r>
          </a:p>
        </p:txBody>
      </p:sp>
      <p:pic>
        <p:nvPicPr>
          <p:cNvPr id="25" name="图片 24">
            <a:extLst>
              <a:ext uri="{FF2B5EF4-FFF2-40B4-BE49-F238E27FC236}">
                <a16:creationId xmlns:a16="http://schemas.microsoft.com/office/drawing/2014/main" id="{77D2B032-0226-4C53-EBE0-164BBE795C87}"/>
              </a:ext>
            </a:extLst>
          </p:cNvPr>
          <p:cNvPicPr>
            <a:picLocks noChangeAspect="1"/>
          </p:cNvPicPr>
          <p:nvPr/>
        </p:nvPicPr>
        <p:blipFill>
          <a:blip r:embed="rId5"/>
          <a:stretch>
            <a:fillRect/>
          </a:stretch>
        </p:blipFill>
        <p:spPr>
          <a:xfrm>
            <a:off x="1064646" y="2970903"/>
            <a:ext cx="4382112" cy="638264"/>
          </a:xfrm>
          <a:prstGeom prst="rect">
            <a:avLst/>
          </a:prstGeom>
        </p:spPr>
      </p:pic>
      <p:sp>
        <p:nvSpPr>
          <p:cNvPr id="27" name="矩形 26">
            <a:extLst>
              <a:ext uri="{FF2B5EF4-FFF2-40B4-BE49-F238E27FC236}">
                <a16:creationId xmlns:a16="http://schemas.microsoft.com/office/drawing/2014/main" id="{7CA2120A-A635-3D68-F69E-C52E47E21B49}"/>
              </a:ext>
            </a:extLst>
          </p:cNvPr>
          <p:cNvSpPr/>
          <p:nvPr/>
        </p:nvSpPr>
        <p:spPr>
          <a:xfrm>
            <a:off x="2386487" y="3548291"/>
            <a:ext cx="1563489" cy="362792"/>
          </a:xfrm>
          <a:prstGeom prst="rect">
            <a:avLst/>
          </a:prstGeom>
        </p:spPr>
        <p:txBody>
          <a:bodyPr wrap="square">
            <a:spAutoFit/>
          </a:bodyPr>
          <a:lstStyle/>
          <a:p>
            <a:pPr algn="l">
              <a:lnSpc>
                <a:spcPct val="120000"/>
              </a:lnSpc>
            </a:pPr>
            <a:r>
              <a:rPr lang="zh-CN" altLang="en-US" sz="1600" dirty="0">
                <a:solidFill>
                  <a:srgbClr val="E7E6E6">
                    <a:lumMod val="50000"/>
                  </a:srgbClr>
                </a:solidFill>
                <a:latin typeface="微软雅黑"/>
                <a:ea typeface="微软雅黑"/>
              </a:rPr>
              <a:t>安全事件方程</a:t>
            </a:r>
            <a:endParaRPr lang="zh-CN" altLang="en-US" sz="1600" b="1" dirty="0">
              <a:solidFill>
                <a:srgbClr val="E7E6E6">
                  <a:lumMod val="50000"/>
                </a:srgbClr>
              </a:solidFill>
              <a:latin typeface="微软雅黑"/>
              <a:ea typeface="微软雅黑"/>
            </a:endParaRPr>
          </a:p>
        </p:txBody>
      </p:sp>
      <p:pic>
        <p:nvPicPr>
          <p:cNvPr id="29" name="图片 28">
            <a:extLst>
              <a:ext uri="{FF2B5EF4-FFF2-40B4-BE49-F238E27FC236}">
                <a16:creationId xmlns:a16="http://schemas.microsoft.com/office/drawing/2014/main" id="{78048DEC-4C2E-715A-D01E-98EAF8AD46F1}"/>
              </a:ext>
            </a:extLst>
          </p:cNvPr>
          <p:cNvPicPr>
            <a:picLocks noChangeAspect="1"/>
          </p:cNvPicPr>
          <p:nvPr/>
        </p:nvPicPr>
        <p:blipFill>
          <a:blip r:embed="rId6"/>
          <a:stretch>
            <a:fillRect/>
          </a:stretch>
        </p:blipFill>
        <p:spPr>
          <a:xfrm>
            <a:off x="1103872" y="2285815"/>
            <a:ext cx="3534268" cy="447737"/>
          </a:xfrm>
          <a:prstGeom prst="rect">
            <a:avLst/>
          </a:prstGeom>
        </p:spPr>
      </p:pic>
      <p:sp>
        <p:nvSpPr>
          <p:cNvPr id="32" name="箭头: 右 31">
            <a:extLst>
              <a:ext uri="{FF2B5EF4-FFF2-40B4-BE49-F238E27FC236}">
                <a16:creationId xmlns:a16="http://schemas.microsoft.com/office/drawing/2014/main" id="{A152905F-477A-1C60-746E-4F29939A959E}"/>
              </a:ext>
            </a:extLst>
          </p:cNvPr>
          <p:cNvSpPr/>
          <p:nvPr/>
        </p:nvSpPr>
        <p:spPr>
          <a:xfrm>
            <a:off x="289540" y="3609167"/>
            <a:ext cx="669477" cy="320517"/>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图片 33">
            <a:extLst>
              <a:ext uri="{FF2B5EF4-FFF2-40B4-BE49-F238E27FC236}">
                <a16:creationId xmlns:a16="http://schemas.microsoft.com/office/drawing/2014/main" id="{E4796092-6AFB-959E-9689-1D5AF8E7DAA8}"/>
              </a:ext>
            </a:extLst>
          </p:cNvPr>
          <p:cNvPicPr>
            <a:picLocks noChangeAspect="1"/>
          </p:cNvPicPr>
          <p:nvPr/>
        </p:nvPicPr>
        <p:blipFill>
          <a:blip r:embed="rId7"/>
          <a:stretch>
            <a:fillRect/>
          </a:stretch>
        </p:blipFill>
        <p:spPr>
          <a:xfrm>
            <a:off x="1007798" y="4277154"/>
            <a:ext cx="5563376" cy="457264"/>
          </a:xfrm>
          <a:prstGeom prst="rect">
            <a:avLst/>
          </a:prstGeom>
        </p:spPr>
      </p:pic>
      <p:sp>
        <p:nvSpPr>
          <p:cNvPr id="36" name="矩形 35">
            <a:extLst>
              <a:ext uri="{FF2B5EF4-FFF2-40B4-BE49-F238E27FC236}">
                <a16:creationId xmlns:a16="http://schemas.microsoft.com/office/drawing/2014/main" id="{DC7D0D43-D9E2-1B7B-519A-BB0D1CF914AD}"/>
              </a:ext>
            </a:extLst>
          </p:cNvPr>
          <p:cNvSpPr/>
          <p:nvPr/>
        </p:nvSpPr>
        <p:spPr>
          <a:xfrm>
            <a:off x="2386486" y="4781805"/>
            <a:ext cx="1563489" cy="362792"/>
          </a:xfrm>
          <a:prstGeom prst="rect">
            <a:avLst/>
          </a:prstGeom>
        </p:spPr>
        <p:txBody>
          <a:bodyPr wrap="square">
            <a:spAutoFit/>
          </a:bodyPr>
          <a:lstStyle/>
          <a:p>
            <a:pPr algn="l">
              <a:lnSpc>
                <a:spcPct val="120000"/>
              </a:lnSpc>
            </a:pPr>
            <a:r>
              <a:rPr lang="zh-CN" altLang="en-US" sz="1600" dirty="0">
                <a:solidFill>
                  <a:srgbClr val="E7E6E6">
                    <a:lumMod val="50000"/>
                  </a:srgbClr>
                </a:solidFill>
                <a:latin typeface="微软雅黑"/>
                <a:ea typeface="微软雅黑"/>
              </a:rPr>
              <a:t>航道通行方程</a:t>
            </a:r>
            <a:endParaRPr lang="zh-CN" altLang="en-US" sz="1600" b="1" dirty="0">
              <a:solidFill>
                <a:srgbClr val="E7E6E6">
                  <a:lumMod val="50000"/>
                </a:srgbClr>
              </a:solidFill>
              <a:latin typeface="微软雅黑"/>
              <a:ea typeface="微软雅黑"/>
            </a:endParaRPr>
          </a:p>
        </p:txBody>
      </p:sp>
      <p:sp>
        <p:nvSpPr>
          <p:cNvPr id="37" name="矩形: 圆角 36">
            <a:extLst>
              <a:ext uri="{FF2B5EF4-FFF2-40B4-BE49-F238E27FC236}">
                <a16:creationId xmlns:a16="http://schemas.microsoft.com/office/drawing/2014/main" id="{BD0BECD5-6EAD-A010-6653-38A44AA116BC}"/>
              </a:ext>
            </a:extLst>
          </p:cNvPr>
          <p:cNvSpPr/>
          <p:nvPr/>
        </p:nvSpPr>
        <p:spPr>
          <a:xfrm>
            <a:off x="2161415" y="3125105"/>
            <a:ext cx="270024" cy="329859"/>
          </a:xfrm>
          <a:prstGeom prst="roundRect">
            <a:avLst/>
          </a:prstGeom>
          <a:noFill/>
          <a:ln>
            <a:solidFill>
              <a:srgbClr val="275EAB"/>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a:extLst>
              <a:ext uri="{FF2B5EF4-FFF2-40B4-BE49-F238E27FC236}">
                <a16:creationId xmlns:a16="http://schemas.microsoft.com/office/drawing/2014/main" id="{BFB6C266-CE37-1C68-2099-94920C0C1885}"/>
              </a:ext>
            </a:extLst>
          </p:cNvPr>
          <p:cNvSpPr/>
          <p:nvPr/>
        </p:nvSpPr>
        <p:spPr>
          <a:xfrm>
            <a:off x="2116462" y="4323541"/>
            <a:ext cx="270024" cy="329859"/>
          </a:xfrm>
          <a:prstGeom prst="roundRect">
            <a:avLst/>
          </a:prstGeom>
          <a:noFill/>
          <a:ln>
            <a:solidFill>
              <a:srgbClr val="275EAB"/>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箭头连接符 46">
            <a:extLst>
              <a:ext uri="{FF2B5EF4-FFF2-40B4-BE49-F238E27FC236}">
                <a16:creationId xmlns:a16="http://schemas.microsoft.com/office/drawing/2014/main" id="{0137A366-B130-0D17-BC02-9695F475FA91}"/>
              </a:ext>
            </a:extLst>
          </p:cNvPr>
          <p:cNvCxnSpPr/>
          <p:nvPr/>
        </p:nvCxnSpPr>
        <p:spPr>
          <a:xfrm flipH="1">
            <a:off x="2116462" y="3548291"/>
            <a:ext cx="135012" cy="1813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07177EB1-BC24-A32A-BFEE-7D40C29791A0}"/>
              </a:ext>
            </a:extLst>
          </p:cNvPr>
          <p:cNvCxnSpPr>
            <a:cxnSpLocks/>
          </p:cNvCxnSpPr>
          <p:nvPr/>
        </p:nvCxnSpPr>
        <p:spPr>
          <a:xfrm flipH="1" flipV="1">
            <a:off x="2116462" y="4149244"/>
            <a:ext cx="135012" cy="157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155723C5-E86A-6C2B-F6A1-6E165D9FA9F4}"/>
              </a:ext>
            </a:extLst>
          </p:cNvPr>
          <p:cNvSpPr txBox="1"/>
          <p:nvPr/>
        </p:nvSpPr>
        <p:spPr>
          <a:xfrm>
            <a:off x="1007798" y="3756335"/>
            <a:ext cx="1378688" cy="369332"/>
          </a:xfrm>
          <a:prstGeom prst="rect">
            <a:avLst/>
          </a:prstGeom>
          <a:noFill/>
        </p:spPr>
        <p:txBody>
          <a:bodyPr wrap="square" rtlCol="0">
            <a:spAutoFit/>
          </a:bodyPr>
          <a:lstStyle/>
          <a:p>
            <a:r>
              <a:rPr lang="zh-CN" altLang="en-US" dirty="0">
                <a:solidFill>
                  <a:srgbClr val="275EAB"/>
                </a:solidFill>
                <a:latin typeface="微软雅黑" panose="020B0503020204020204" pitchFamily="34" charset="-122"/>
                <a:ea typeface="微软雅黑" panose="020B0503020204020204" pitchFamily="34" charset="-122"/>
              </a:rPr>
              <a:t>关注显著性</a:t>
            </a:r>
          </a:p>
        </p:txBody>
      </p:sp>
      <p:sp>
        <p:nvSpPr>
          <p:cNvPr id="51" name="文本框 50">
            <a:extLst>
              <a:ext uri="{FF2B5EF4-FFF2-40B4-BE49-F238E27FC236}">
                <a16:creationId xmlns:a16="http://schemas.microsoft.com/office/drawing/2014/main" id="{F3832BE7-8D5A-D58B-EBF9-800F5BA5412D}"/>
              </a:ext>
            </a:extLst>
          </p:cNvPr>
          <p:cNvSpPr txBox="1"/>
          <p:nvPr/>
        </p:nvSpPr>
        <p:spPr>
          <a:xfrm>
            <a:off x="6738331" y="1040230"/>
            <a:ext cx="3884666" cy="369332"/>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使用 </a:t>
            </a:r>
            <a:r>
              <a:rPr lang="en-US" altLang="zh-CN" dirty="0">
                <a:latin typeface="微软雅黑 Light" panose="020B0502040204020203" pitchFamily="34" charset="-122"/>
                <a:ea typeface="微软雅黑 Light" panose="020B0502040204020203" pitchFamily="34" charset="-122"/>
              </a:rPr>
              <a:t>AIC </a:t>
            </a:r>
            <a:r>
              <a:rPr lang="zh-CN" altLang="en-US" dirty="0">
                <a:latin typeface="微软雅黑 Light" panose="020B0502040204020203" pitchFamily="34" charset="-122"/>
                <a:ea typeface="微软雅黑 Light" panose="020B0502040204020203" pitchFamily="34" charset="-122"/>
              </a:rPr>
              <a:t>准则选择模型滞后阶数</a:t>
            </a:r>
          </a:p>
        </p:txBody>
      </p:sp>
      <p:pic>
        <p:nvPicPr>
          <p:cNvPr id="53" name="图片 52">
            <a:extLst>
              <a:ext uri="{FF2B5EF4-FFF2-40B4-BE49-F238E27FC236}">
                <a16:creationId xmlns:a16="http://schemas.microsoft.com/office/drawing/2014/main" id="{74937D55-26DC-1D26-56B5-51731D5D18F2}"/>
              </a:ext>
            </a:extLst>
          </p:cNvPr>
          <p:cNvPicPr>
            <a:picLocks noChangeAspect="1"/>
          </p:cNvPicPr>
          <p:nvPr/>
        </p:nvPicPr>
        <p:blipFill>
          <a:blip r:embed="rId8"/>
          <a:srcRect l="3446" t="15225" r="11160" b="15796"/>
          <a:stretch>
            <a:fillRect/>
          </a:stretch>
        </p:blipFill>
        <p:spPr>
          <a:xfrm>
            <a:off x="7947303" y="1541902"/>
            <a:ext cx="2417944" cy="472544"/>
          </a:xfrm>
          <a:prstGeom prst="rect">
            <a:avLst/>
          </a:prstGeom>
        </p:spPr>
      </p:pic>
      <p:sp>
        <p:nvSpPr>
          <p:cNvPr id="54" name="文本框 53">
            <a:extLst>
              <a:ext uri="{FF2B5EF4-FFF2-40B4-BE49-F238E27FC236}">
                <a16:creationId xmlns:a16="http://schemas.microsoft.com/office/drawing/2014/main" id="{9B92B723-31A3-649F-B3DA-795418E63554}"/>
              </a:ext>
            </a:extLst>
          </p:cNvPr>
          <p:cNvSpPr txBox="1"/>
          <p:nvPr/>
        </p:nvSpPr>
        <p:spPr>
          <a:xfrm>
            <a:off x="6738331" y="2151011"/>
            <a:ext cx="4514599" cy="923330"/>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其中 𝐾 是系统变量个数，𝑇 是样本期数。</a:t>
            </a:r>
            <a:r>
              <a:rPr lang="en-US" altLang="zh-CN" dirty="0">
                <a:latin typeface="微软雅黑 Light" panose="020B0502040204020203" pitchFamily="34" charset="-122"/>
                <a:ea typeface="微软雅黑 Light" panose="020B0502040204020203" pitchFamily="34" charset="-122"/>
              </a:rPr>
              <a:t>AIC </a:t>
            </a:r>
            <a:r>
              <a:rPr lang="zh-CN" altLang="en-US" dirty="0">
                <a:latin typeface="微软雅黑 Light" panose="020B0502040204020203" pitchFamily="34" charset="-122"/>
                <a:ea typeface="微软雅黑 Light" panose="020B0502040204020203" pitchFamily="34" charset="-122"/>
              </a:rPr>
              <a:t>越小表示模型在拟合效果和参数复杂度之间的折中越好。</a:t>
            </a:r>
          </a:p>
        </p:txBody>
      </p:sp>
      <p:sp>
        <p:nvSpPr>
          <p:cNvPr id="55" name="文本框 54">
            <a:extLst>
              <a:ext uri="{FF2B5EF4-FFF2-40B4-BE49-F238E27FC236}">
                <a16:creationId xmlns:a16="http://schemas.microsoft.com/office/drawing/2014/main" id="{5D98DAF3-A28E-6B73-4AA8-E8984FDBE651}"/>
              </a:ext>
            </a:extLst>
          </p:cNvPr>
          <p:cNvSpPr txBox="1"/>
          <p:nvPr/>
        </p:nvSpPr>
        <p:spPr>
          <a:xfrm>
            <a:off x="6738331" y="4837471"/>
            <a:ext cx="988043" cy="369332"/>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通过</a:t>
            </a:r>
          </a:p>
        </p:txBody>
      </p:sp>
      <p:pic>
        <p:nvPicPr>
          <p:cNvPr id="57" name="图片 56">
            <a:extLst>
              <a:ext uri="{FF2B5EF4-FFF2-40B4-BE49-F238E27FC236}">
                <a16:creationId xmlns:a16="http://schemas.microsoft.com/office/drawing/2014/main" id="{4C309C77-2FBA-3B0F-4C47-72AB6DA8F7F4}"/>
              </a:ext>
            </a:extLst>
          </p:cNvPr>
          <p:cNvPicPr>
            <a:picLocks noChangeAspect="1"/>
          </p:cNvPicPr>
          <p:nvPr/>
        </p:nvPicPr>
        <p:blipFill>
          <a:blip r:embed="rId9"/>
          <a:srcRect l="2028" t="25926" r="9307" b="10916"/>
          <a:stretch>
            <a:fillRect/>
          </a:stretch>
        </p:blipFill>
        <p:spPr>
          <a:xfrm>
            <a:off x="7585224" y="4821907"/>
            <a:ext cx="1571051" cy="457265"/>
          </a:xfrm>
          <a:prstGeom prst="rect">
            <a:avLst/>
          </a:prstGeom>
        </p:spPr>
      </p:pic>
      <p:sp>
        <p:nvSpPr>
          <p:cNvPr id="58" name="文本框 57">
            <a:extLst>
              <a:ext uri="{FF2B5EF4-FFF2-40B4-BE49-F238E27FC236}">
                <a16:creationId xmlns:a16="http://schemas.microsoft.com/office/drawing/2014/main" id="{A888FDFA-D874-7D7E-0B83-CA618023A694}"/>
              </a:ext>
            </a:extLst>
          </p:cNvPr>
          <p:cNvSpPr txBox="1"/>
          <p:nvPr/>
        </p:nvSpPr>
        <p:spPr>
          <a:xfrm>
            <a:off x="6738331" y="5347250"/>
            <a:ext cx="3522588" cy="646331"/>
          </a:xfrm>
          <a:prstGeom prst="rect">
            <a:avLst/>
          </a:prstGeom>
          <a:noFill/>
        </p:spPr>
        <p:txBody>
          <a:bodyPr wrap="square" rtlCol="0">
            <a:spAutoFit/>
          </a:bodyPr>
          <a:lstStyle/>
          <a:p>
            <a:r>
              <a:rPr lang="zh-CN" altLang="en-US" dirty="0"/>
              <a:t>观测安全事件冲击后若干周内的通行量动态变化。</a:t>
            </a:r>
          </a:p>
        </p:txBody>
      </p:sp>
      <p:sp>
        <p:nvSpPr>
          <p:cNvPr id="64" name="文本框 63">
            <a:extLst>
              <a:ext uri="{FF2B5EF4-FFF2-40B4-BE49-F238E27FC236}">
                <a16:creationId xmlns:a16="http://schemas.microsoft.com/office/drawing/2014/main" id="{25D6269B-8622-A57C-238B-5220DCF688BB}"/>
              </a:ext>
            </a:extLst>
          </p:cNvPr>
          <p:cNvSpPr txBox="1"/>
          <p:nvPr/>
        </p:nvSpPr>
        <p:spPr>
          <a:xfrm>
            <a:off x="6738331" y="3630823"/>
            <a:ext cx="4602684" cy="646331"/>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使用最小二乘估计计算 </a:t>
            </a:r>
            <a:r>
              <a:rPr lang="en-US" altLang="zh-CN" dirty="0">
                <a:latin typeface="微软雅黑 Light" panose="020B0502040204020203" pitchFamily="34" charset="-122"/>
                <a:ea typeface="微软雅黑 Light" panose="020B0502040204020203" pitchFamily="34" charset="-122"/>
              </a:rPr>
              <a:t>VAR(p) </a:t>
            </a:r>
            <a:r>
              <a:rPr lang="zh-CN" altLang="en-US" dirty="0">
                <a:latin typeface="微软雅黑 Light" panose="020B0502040204020203" pitchFamily="34" charset="-122"/>
                <a:ea typeface="微软雅黑 Light" panose="020B0502040204020203" pitchFamily="34" charset="-122"/>
              </a:rPr>
              <a:t>的系数矩阵和相应滞后项、常数项</a:t>
            </a:r>
          </a:p>
        </p:txBody>
      </p:sp>
      <p:sp>
        <p:nvSpPr>
          <p:cNvPr id="65" name="文本框 64">
            <a:extLst>
              <a:ext uri="{FF2B5EF4-FFF2-40B4-BE49-F238E27FC236}">
                <a16:creationId xmlns:a16="http://schemas.microsoft.com/office/drawing/2014/main" id="{8F1AEC37-75F1-B92C-6AD4-5BA174A507FB}"/>
              </a:ext>
            </a:extLst>
          </p:cNvPr>
          <p:cNvSpPr txBox="1"/>
          <p:nvPr/>
        </p:nvSpPr>
        <p:spPr>
          <a:xfrm>
            <a:off x="533911" y="5206803"/>
            <a:ext cx="5562089" cy="923330"/>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把 “安全事件” 和 “航道通行量” 作为</a:t>
            </a:r>
            <a:r>
              <a:rPr lang="zh-CN" altLang="en-US" b="1" dirty="0">
                <a:latin typeface="微软雅黑 Light" panose="020B0502040204020203" pitchFamily="34" charset="-122"/>
                <a:ea typeface="微软雅黑 Light" panose="020B0502040204020203" pitchFamily="34" charset="-122"/>
              </a:rPr>
              <a:t>相互关联</a:t>
            </a:r>
            <a:r>
              <a:rPr lang="zh-CN" altLang="en-US" dirty="0">
                <a:latin typeface="微软雅黑 Light" panose="020B0502040204020203" pitchFamily="34" charset="-122"/>
                <a:ea typeface="微软雅黑 Light" panose="020B0502040204020203" pitchFamily="34" charset="-122"/>
              </a:rPr>
              <a:t>的时间序列系统处理，避免在缺少完整控制变量时过早设定单向因果结构。</a:t>
            </a:r>
          </a:p>
        </p:txBody>
      </p:sp>
    </p:spTree>
    <p:extLst>
      <p:ext uri="{BB962C8B-B14F-4D97-AF65-F5344CB8AC3E}">
        <p14:creationId xmlns:p14="http://schemas.microsoft.com/office/powerpoint/2010/main" val="2765103744"/>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1E846-A59C-3BE2-1DA6-CB650DEE3745}"/>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17517202-3AD4-28F1-0AA6-3342B318368C}"/>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91C2506E-9F59-FE0D-B8C6-EBF347722921}"/>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A639B148-BCA4-2524-7692-EA70AC5B0858}"/>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a:extLst>
              <a:ext uri="{FF2B5EF4-FFF2-40B4-BE49-F238E27FC236}">
                <a16:creationId xmlns:a16="http://schemas.microsoft.com/office/drawing/2014/main" id="{36C11EB7-C50E-793C-4D9B-657724667600}"/>
              </a:ext>
            </a:extLst>
          </p:cNvPr>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93B4A1DC-4720-FB74-CB0D-042F600D8080}"/>
              </a:ext>
            </a:extLst>
          </p:cNvPr>
          <p:cNvSpPr txBox="1"/>
          <p:nvPr/>
        </p:nvSpPr>
        <p:spPr>
          <a:xfrm>
            <a:off x="1137382" y="276510"/>
            <a:ext cx="6463913" cy="405255"/>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defRPr/>
            </a:pPr>
            <a:r>
              <a:rPr lang="zh-CN" altLang="en-US" dirty="0"/>
              <a:t>研究方法二：中断时间序列与结构突变检验</a:t>
            </a:r>
            <a:endPar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3" name="组合 42">
            <a:extLst>
              <a:ext uri="{FF2B5EF4-FFF2-40B4-BE49-F238E27FC236}">
                <a16:creationId xmlns:a16="http://schemas.microsoft.com/office/drawing/2014/main" id="{0531947A-14B4-F3A8-80EC-4C7B25A5586E}"/>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74298735-B213-15A4-3AAD-971E61D3263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65A94FFC-B628-C443-67DF-F0A8F3C419B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3F01437A-735C-1B8C-7AB8-34810DEC0FCE}"/>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3" name="文本框 2">
            <a:extLst>
              <a:ext uri="{FF2B5EF4-FFF2-40B4-BE49-F238E27FC236}">
                <a16:creationId xmlns:a16="http://schemas.microsoft.com/office/drawing/2014/main" id="{C7E9EC84-3265-5FB6-6965-7ABDDBAC51CE}"/>
              </a:ext>
            </a:extLst>
          </p:cNvPr>
          <p:cNvSpPr txBox="1"/>
          <p:nvPr/>
        </p:nvSpPr>
        <p:spPr>
          <a:xfrm>
            <a:off x="277624" y="953155"/>
            <a:ext cx="4676328"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设定断点前 </a:t>
            </a:r>
            <a:r>
              <a:rPr lang="en-US" altLang="zh-CN" dirty="0">
                <a:latin typeface="微软雅黑" panose="020B0503020204020204" pitchFamily="34" charset="-122"/>
                <a:ea typeface="微软雅黑" panose="020B0503020204020204" pitchFamily="34" charset="-122"/>
              </a:rPr>
              <a:t>49 </a:t>
            </a:r>
            <a:r>
              <a:rPr lang="zh-CN" altLang="en-US" dirty="0">
                <a:latin typeface="微软雅黑" panose="020B0503020204020204" pitchFamily="34" charset="-122"/>
                <a:ea typeface="微软雅黑" panose="020B0503020204020204" pitchFamily="34" charset="-122"/>
              </a:rPr>
              <a:t>天作为基准期，比较断点后 </a:t>
            </a:r>
            <a:r>
              <a:rPr lang="en-US" altLang="zh-CN" dirty="0">
                <a:latin typeface="微软雅黑" panose="020B0503020204020204" pitchFamily="34" charset="-122"/>
                <a:ea typeface="微软雅黑" panose="020B0503020204020204" pitchFamily="34" charset="-122"/>
              </a:rPr>
              <a:t>0-30 </a:t>
            </a:r>
            <a:r>
              <a:rPr lang="zh-CN" altLang="en-US" dirty="0">
                <a:latin typeface="微软雅黑" panose="020B0503020204020204" pitchFamily="34" charset="-122"/>
                <a:ea typeface="微软雅黑" panose="020B0503020204020204" pitchFamily="34" charset="-122"/>
              </a:rPr>
              <a:t>天、</a:t>
            </a:r>
            <a:r>
              <a:rPr lang="en-US" altLang="zh-CN" dirty="0">
                <a:latin typeface="微软雅黑" panose="020B0503020204020204" pitchFamily="34" charset="-122"/>
                <a:ea typeface="微软雅黑" panose="020B0503020204020204" pitchFamily="34" charset="-122"/>
              </a:rPr>
              <a:t>31-90</a:t>
            </a:r>
            <a:r>
              <a:rPr lang="zh-CN" altLang="en-US" dirty="0">
                <a:latin typeface="微软雅黑" panose="020B0503020204020204" pitchFamily="34" charset="-122"/>
                <a:ea typeface="微软雅黑" panose="020B0503020204020204" pitchFamily="34" charset="-122"/>
              </a:rPr>
              <a:t> 天、</a:t>
            </a:r>
            <a:r>
              <a:rPr lang="en-US" altLang="zh-CN" dirty="0">
                <a:latin typeface="微软雅黑" panose="020B0503020204020204" pitchFamily="34" charset="-122"/>
                <a:ea typeface="微软雅黑" panose="020B0503020204020204" pitchFamily="34" charset="-122"/>
              </a:rPr>
              <a:t>91-180 </a:t>
            </a:r>
            <a:r>
              <a:rPr lang="zh-CN" altLang="en-US" dirty="0">
                <a:latin typeface="微软雅黑" panose="020B0503020204020204" pitchFamily="34" charset="-122"/>
                <a:ea typeface="微软雅黑" panose="020B0503020204020204" pitchFamily="34" charset="-122"/>
              </a:rPr>
              <a:t>天的平均变化。</a:t>
            </a:r>
          </a:p>
        </p:txBody>
      </p:sp>
      <p:sp>
        <p:nvSpPr>
          <p:cNvPr id="8" name="文本框 7">
            <a:extLst>
              <a:ext uri="{FF2B5EF4-FFF2-40B4-BE49-F238E27FC236}">
                <a16:creationId xmlns:a16="http://schemas.microsoft.com/office/drawing/2014/main" id="{0F80258F-7033-5ACD-593F-64EB58243433}"/>
              </a:ext>
            </a:extLst>
          </p:cNvPr>
          <p:cNvSpPr txBox="1"/>
          <p:nvPr/>
        </p:nvSpPr>
        <p:spPr>
          <a:xfrm>
            <a:off x="277624" y="1786710"/>
            <a:ext cx="4995447" cy="286232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构造事件研究：</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Light" panose="020B0502040204020203" pitchFamily="34" charset="-122"/>
                <a:ea typeface="微软雅黑 Light" panose="020B0502040204020203" pitchFamily="34" charset="-122"/>
              </a:rPr>
              <a:t>对通行量变量，使用 </a:t>
            </a:r>
            <a:r>
              <a:rPr lang="en-US" altLang="zh-CN" dirty="0">
                <a:latin typeface="微软雅黑 Light" panose="020B0502040204020203" pitchFamily="34" charset="-122"/>
                <a:ea typeface="微软雅黑 Light" panose="020B0502040204020203" pitchFamily="34" charset="-122"/>
              </a:rPr>
              <a:t>ln(Y+1) </a:t>
            </a:r>
            <a:r>
              <a:rPr lang="zh-CN" altLang="en-US" dirty="0">
                <a:latin typeface="微软雅黑 Light" panose="020B0502040204020203" pitchFamily="34" charset="-122"/>
                <a:ea typeface="微软雅黑 Light" panose="020B0502040204020203" pitchFamily="34" charset="-122"/>
              </a:rPr>
              <a:t>后再转换为相对基准期的百分比变化；</a:t>
            </a:r>
            <a:endParaRPr lang="en-US" altLang="zh-CN"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对绕航指数和苏伊士占比，则计算相对基准期的水平差。</a:t>
            </a:r>
          </a:p>
        </p:txBody>
      </p:sp>
      <p:pic>
        <p:nvPicPr>
          <p:cNvPr id="17" name="图片 16">
            <a:extLst>
              <a:ext uri="{FF2B5EF4-FFF2-40B4-BE49-F238E27FC236}">
                <a16:creationId xmlns:a16="http://schemas.microsoft.com/office/drawing/2014/main" id="{83953494-1D36-CA27-C1AA-A662E8BBFB0C}"/>
              </a:ext>
            </a:extLst>
          </p:cNvPr>
          <p:cNvPicPr>
            <a:picLocks noChangeAspect="1"/>
          </p:cNvPicPr>
          <p:nvPr/>
        </p:nvPicPr>
        <p:blipFill>
          <a:blip r:embed="rId4"/>
          <a:stretch>
            <a:fillRect/>
          </a:stretch>
        </p:blipFill>
        <p:spPr>
          <a:xfrm>
            <a:off x="1745714" y="4464086"/>
            <a:ext cx="1653962" cy="663692"/>
          </a:xfrm>
          <a:prstGeom prst="rect">
            <a:avLst/>
          </a:prstGeom>
        </p:spPr>
      </p:pic>
      <p:pic>
        <p:nvPicPr>
          <p:cNvPr id="20" name="图片 19">
            <a:extLst>
              <a:ext uri="{FF2B5EF4-FFF2-40B4-BE49-F238E27FC236}">
                <a16:creationId xmlns:a16="http://schemas.microsoft.com/office/drawing/2014/main" id="{A69ECC38-B14B-618D-B05B-2B0016959E8C}"/>
              </a:ext>
            </a:extLst>
          </p:cNvPr>
          <p:cNvPicPr>
            <a:picLocks noChangeAspect="1"/>
          </p:cNvPicPr>
          <p:nvPr/>
        </p:nvPicPr>
        <p:blipFill>
          <a:blip r:embed="rId5"/>
          <a:stretch>
            <a:fillRect/>
          </a:stretch>
        </p:blipFill>
        <p:spPr>
          <a:xfrm>
            <a:off x="1685219" y="2731053"/>
            <a:ext cx="1354520" cy="354454"/>
          </a:xfrm>
          <a:prstGeom prst="rect">
            <a:avLst/>
          </a:prstGeom>
        </p:spPr>
      </p:pic>
      <p:pic>
        <p:nvPicPr>
          <p:cNvPr id="24" name="图片 23">
            <a:extLst>
              <a:ext uri="{FF2B5EF4-FFF2-40B4-BE49-F238E27FC236}">
                <a16:creationId xmlns:a16="http://schemas.microsoft.com/office/drawing/2014/main" id="{3AFBD02F-355F-20AA-26E3-8D026BB242A6}"/>
              </a:ext>
            </a:extLst>
          </p:cNvPr>
          <p:cNvPicPr>
            <a:picLocks noChangeAspect="1"/>
          </p:cNvPicPr>
          <p:nvPr/>
        </p:nvPicPr>
        <p:blipFill>
          <a:blip r:embed="rId6"/>
          <a:stretch>
            <a:fillRect/>
          </a:stretch>
        </p:blipFill>
        <p:spPr>
          <a:xfrm>
            <a:off x="1163450" y="3173358"/>
            <a:ext cx="2770402" cy="510935"/>
          </a:xfrm>
          <a:prstGeom prst="rect">
            <a:avLst/>
          </a:prstGeom>
        </p:spPr>
      </p:pic>
      <p:pic>
        <p:nvPicPr>
          <p:cNvPr id="28" name="图片 27">
            <a:extLst>
              <a:ext uri="{FF2B5EF4-FFF2-40B4-BE49-F238E27FC236}">
                <a16:creationId xmlns:a16="http://schemas.microsoft.com/office/drawing/2014/main" id="{2BE414B7-E62D-D70F-C506-F91F5BE61320}"/>
              </a:ext>
            </a:extLst>
          </p:cNvPr>
          <p:cNvPicPr>
            <a:picLocks noChangeAspect="1"/>
          </p:cNvPicPr>
          <p:nvPr/>
        </p:nvPicPr>
        <p:blipFill>
          <a:blip r:embed="rId7"/>
          <a:stretch>
            <a:fillRect/>
          </a:stretch>
        </p:blipFill>
        <p:spPr>
          <a:xfrm>
            <a:off x="1685219" y="5165218"/>
            <a:ext cx="1603324" cy="558194"/>
          </a:xfrm>
          <a:prstGeom prst="rect">
            <a:avLst/>
          </a:prstGeom>
        </p:spPr>
      </p:pic>
      <p:sp>
        <p:nvSpPr>
          <p:cNvPr id="31" name="文本框 30">
            <a:extLst>
              <a:ext uri="{FF2B5EF4-FFF2-40B4-BE49-F238E27FC236}">
                <a16:creationId xmlns:a16="http://schemas.microsoft.com/office/drawing/2014/main" id="{FE2730A0-836D-8B18-0943-D63167322ED5}"/>
              </a:ext>
            </a:extLst>
          </p:cNvPr>
          <p:cNvSpPr txBox="1"/>
          <p:nvPr/>
        </p:nvSpPr>
        <p:spPr>
          <a:xfrm>
            <a:off x="6034696" y="950415"/>
            <a:ext cx="499544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构造中断时间序列模型：</a:t>
            </a:r>
            <a:endParaRPr lang="en-US" altLang="zh-CN" dirty="0">
              <a:latin typeface="微软雅黑" panose="020B0503020204020204" pitchFamily="34" charset="-122"/>
              <a:ea typeface="微软雅黑" panose="020B0503020204020204" pitchFamily="34" charset="-122"/>
            </a:endParaRPr>
          </a:p>
        </p:txBody>
      </p:sp>
      <p:pic>
        <p:nvPicPr>
          <p:cNvPr id="35" name="图片 34">
            <a:extLst>
              <a:ext uri="{FF2B5EF4-FFF2-40B4-BE49-F238E27FC236}">
                <a16:creationId xmlns:a16="http://schemas.microsoft.com/office/drawing/2014/main" id="{1E55CFD5-D8E9-0DA0-3E91-775190F73E54}"/>
              </a:ext>
            </a:extLst>
          </p:cNvPr>
          <p:cNvPicPr>
            <a:picLocks noChangeAspect="1"/>
          </p:cNvPicPr>
          <p:nvPr/>
        </p:nvPicPr>
        <p:blipFill>
          <a:blip r:embed="rId8"/>
          <a:srcRect r="6187"/>
          <a:stretch>
            <a:fillRect/>
          </a:stretch>
        </p:blipFill>
        <p:spPr>
          <a:xfrm>
            <a:off x="6794728" y="1425467"/>
            <a:ext cx="4356042" cy="490492"/>
          </a:xfrm>
          <a:prstGeom prst="rect">
            <a:avLst/>
          </a:prstGeom>
        </p:spPr>
      </p:pic>
      <p:sp>
        <p:nvSpPr>
          <p:cNvPr id="38" name="文本框 37">
            <a:extLst>
              <a:ext uri="{FF2B5EF4-FFF2-40B4-BE49-F238E27FC236}">
                <a16:creationId xmlns:a16="http://schemas.microsoft.com/office/drawing/2014/main" id="{AA994748-6448-5D5B-61DF-EA29E06DD385}"/>
              </a:ext>
            </a:extLst>
          </p:cNvPr>
          <p:cNvSpPr txBox="1"/>
          <p:nvPr/>
        </p:nvSpPr>
        <p:spPr>
          <a:xfrm>
            <a:off x="6096000" y="1998787"/>
            <a:ext cx="5680736" cy="2308324"/>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𝑝𝑜𝑠𝑡 </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日期是否在 </a:t>
            </a:r>
            <a:r>
              <a:rPr lang="en-US" altLang="zh-CN" dirty="0">
                <a:latin typeface="微软雅黑 Light" panose="020B0502040204020203" pitchFamily="34" charset="-122"/>
                <a:ea typeface="微软雅黑 Light" panose="020B0502040204020203" pitchFamily="34" charset="-122"/>
              </a:rPr>
              <a:t>2023 </a:t>
            </a:r>
            <a:r>
              <a:rPr lang="zh-CN" altLang="en-US" dirty="0">
                <a:latin typeface="微软雅黑 Light" panose="020B0502040204020203" pitchFamily="34" charset="-122"/>
                <a:ea typeface="微软雅黑 Light" panose="020B0502040204020203" pitchFamily="34" charset="-122"/>
              </a:rPr>
              <a:t>年 </a:t>
            </a:r>
            <a:r>
              <a:rPr lang="en-US" altLang="zh-CN" dirty="0">
                <a:latin typeface="微软雅黑 Light" panose="020B0502040204020203" pitchFamily="34" charset="-122"/>
                <a:ea typeface="微软雅黑 Light" panose="020B0502040204020203" pitchFamily="34" charset="-122"/>
              </a:rPr>
              <a:t>11 </a:t>
            </a:r>
            <a:r>
              <a:rPr lang="zh-CN" altLang="en-US" dirty="0">
                <a:latin typeface="微软雅黑 Light" panose="020B0502040204020203" pitchFamily="34" charset="-122"/>
                <a:ea typeface="微软雅黑 Light" panose="020B0502040204020203" pitchFamily="34" charset="-122"/>
              </a:rPr>
              <a:t>月 </a:t>
            </a:r>
            <a:r>
              <a:rPr lang="en-US" altLang="zh-CN" dirty="0">
                <a:latin typeface="微软雅黑 Light" panose="020B0502040204020203" pitchFamily="34" charset="-122"/>
                <a:ea typeface="微软雅黑 Light" panose="020B0502040204020203" pitchFamily="34" charset="-122"/>
              </a:rPr>
              <a:t>19 </a:t>
            </a:r>
            <a:r>
              <a:rPr lang="zh-CN" altLang="en-US" dirty="0">
                <a:latin typeface="微软雅黑 Light" panose="020B0502040204020203" pitchFamily="34" charset="-122"/>
                <a:ea typeface="微软雅黑 Light" panose="020B0502040204020203" pitchFamily="34" charset="-122"/>
              </a:rPr>
              <a:t>日及之前𝑡𝑖𝑚𝑒</a:t>
            </a:r>
            <a:r>
              <a:rPr lang="en-US" altLang="zh-CN" dirty="0">
                <a:latin typeface="微软雅黑 Light" panose="020B0502040204020203" pitchFamily="34" charset="-122"/>
                <a:ea typeface="微软雅黑 Light" panose="020B0502040204020203" pitchFamily="34" charset="-122"/>
              </a:rPr>
              <a:t>_</a:t>
            </a:r>
            <a:r>
              <a:rPr lang="zh-CN" altLang="en-US" dirty="0">
                <a:latin typeface="微软雅黑 Light" panose="020B0502040204020203" pitchFamily="34" charset="-122"/>
                <a:ea typeface="微软雅黑 Light" panose="020B0502040204020203" pitchFamily="34" charset="-122"/>
              </a:rPr>
              <a:t>𝑎𝑓𝑡𝑒𝑟 </a:t>
            </a:r>
            <a:r>
              <a:rPr lang="en-US" altLang="zh-CN" dirty="0">
                <a:latin typeface="微软雅黑 Light" panose="020B0502040204020203" pitchFamily="34" charset="-122"/>
                <a:ea typeface="微软雅黑 Light" panose="020B0502040204020203" pitchFamily="34" charset="-122"/>
              </a:rPr>
              <a:t>: </a:t>
            </a:r>
            <a:r>
              <a:rPr lang="zh-CN" altLang="en-US" dirty="0">
                <a:latin typeface="微软雅黑 Light" panose="020B0502040204020203" pitchFamily="34" charset="-122"/>
                <a:ea typeface="微软雅黑 Light" panose="020B0502040204020203" pitchFamily="34" charset="-122"/>
              </a:rPr>
              <a:t>断点后的时间趋势</a:t>
            </a:r>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𝑊</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 星期固定效应</a:t>
            </a:r>
            <a:endParaRPr lang="en-US" altLang="zh-CN"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𝛽</a:t>
            </a:r>
            <a:r>
              <a:rPr lang="en-US" altLang="zh-CN" dirty="0">
                <a:latin typeface="微软雅黑 Light" panose="020B0502040204020203" pitchFamily="34" charset="-122"/>
                <a:ea typeface="微软雅黑 Light" panose="020B0502040204020203" pitchFamily="34" charset="-122"/>
              </a:rPr>
              <a:t>2 </a:t>
            </a:r>
            <a:r>
              <a:rPr lang="zh-CN" altLang="en-US" dirty="0">
                <a:latin typeface="微软雅黑 Light" panose="020B0502040204020203" pitchFamily="34" charset="-122"/>
                <a:ea typeface="微软雅黑 Light" panose="020B0502040204020203" pitchFamily="34" charset="-122"/>
              </a:rPr>
              <a:t>衡量断点后的即时水平变化，𝛽</a:t>
            </a:r>
            <a:r>
              <a:rPr lang="en-US" altLang="zh-CN" dirty="0">
                <a:latin typeface="微软雅黑 Light" panose="020B0502040204020203" pitchFamily="34" charset="-122"/>
                <a:ea typeface="微软雅黑 Light" panose="020B0502040204020203" pitchFamily="34" charset="-122"/>
              </a:rPr>
              <a:t>3 </a:t>
            </a:r>
            <a:r>
              <a:rPr lang="zh-CN" altLang="en-US" dirty="0">
                <a:latin typeface="微软雅黑 Light" panose="020B0502040204020203" pitchFamily="34" charset="-122"/>
                <a:ea typeface="微软雅黑 Light" panose="020B0502040204020203" pitchFamily="34" charset="-122"/>
              </a:rPr>
              <a:t>衡量断点后的斜率变化。</a:t>
            </a:r>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若 𝛽</a:t>
            </a:r>
            <a:r>
              <a:rPr lang="en-US" altLang="zh-CN" dirty="0">
                <a:latin typeface="微软雅黑 Light" panose="020B0502040204020203" pitchFamily="34" charset="-122"/>
                <a:ea typeface="微软雅黑 Light" panose="020B0502040204020203" pitchFamily="34" charset="-122"/>
              </a:rPr>
              <a:t>3 </a:t>
            </a:r>
            <a:r>
              <a:rPr lang="zh-CN" altLang="en-US" dirty="0">
                <a:latin typeface="微软雅黑 Light" panose="020B0502040204020203" pitchFamily="34" charset="-122"/>
                <a:ea typeface="微软雅黑 Light" panose="020B0502040204020203" pitchFamily="34" charset="-122"/>
              </a:rPr>
              <a:t>显著为负，说明断点后结果变量下降速度加快；若 𝛽</a:t>
            </a:r>
            <a:r>
              <a:rPr lang="en-US" altLang="zh-CN" dirty="0">
                <a:latin typeface="微软雅黑 Light" panose="020B0502040204020203" pitchFamily="34" charset="-122"/>
                <a:ea typeface="微软雅黑 Light" panose="020B0502040204020203" pitchFamily="34" charset="-122"/>
              </a:rPr>
              <a:t>3 </a:t>
            </a:r>
            <a:r>
              <a:rPr lang="zh-CN" altLang="en-US" dirty="0">
                <a:latin typeface="微软雅黑 Light" panose="020B0502040204020203" pitchFamily="34" charset="-122"/>
                <a:ea typeface="微软雅黑 Light" panose="020B0502040204020203" pitchFamily="34" charset="-122"/>
              </a:rPr>
              <a:t>显著为正，说明断点后上升趋势增强。</a:t>
            </a:r>
          </a:p>
        </p:txBody>
      </p:sp>
      <p:sp>
        <p:nvSpPr>
          <p:cNvPr id="39" name="文本框 38">
            <a:extLst>
              <a:ext uri="{FF2B5EF4-FFF2-40B4-BE49-F238E27FC236}">
                <a16:creationId xmlns:a16="http://schemas.microsoft.com/office/drawing/2014/main" id="{50D6C661-E91B-C534-37C9-DD4FA2A8AEC3}"/>
              </a:ext>
            </a:extLst>
          </p:cNvPr>
          <p:cNvSpPr txBox="1"/>
          <p:nvPr/>
        </p:nvSpPr>
        <p:spPr>
          <a:xfrm>
            <a:off x="6167597" y="4719286"/>
            <a:ext cx="2915034"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结构突变： </a:t>
            </a:r>
            <a:r>
              <a:rPr lang="en-US" altLang="zh-CN" dirty="0">
                <a:latin typeface="微软雅黑" panose="020B0503020204020204" pitchFamily="34" charset="-122"/>
                <a:ea typeface="微软雅黑" panose="020B0503020204020204" pitchFamily="34" charset="-122"/>
              </a:rPr>
              <a:t>Chow </a:t>
            </a:r>
            <a:r>
              <a:rPr lang="zh-CN" altLang="en-US" dirty="0">
                <a:latin typeface="微软雅黑" panose="020B0503020204020204" pitchFamily="34" charset="-122"/>
                <a:ea typeface="微软雅黑" panose="020B0503020204020204" pitchFamily="34" charset="-122"/>
              </a:rPr>
              <a:t>检验</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Light" panose="020B0502040204020203" pitchFamily="34" charset="-122"/>
                <a:ea typeface="微软雅黑 Light" panose="020B0502040204020203" pitchFamily="34" charset="-122"/>
              </a:rPr>
              <a:t>假设断点前后参数相同</a:t>
            </a:r>
          </a:p>
        </p:txBody>
      </p:sp>
      <p:pic>
        <p:nvPicPr>
          <p:cNvPr id="42" name="图片 41">
            <a:extLst>
              <a:ext uri="{FF2B5EF4-FFF2-40B4-BE49-F238E27FC236}">
                <a16:creationId xmlns:a16="http://schemas.microsoft.com/office/drawing/2014/main" id="{173591F6-307D-A161-4F99-2CA8F54F07DE}"/>
              </a:ext>
            </a:extLst>
          </p:cNvPr>
          <p:cNvPicPr>
            <a:picLocks noChangeAspect="1"/>
          </p:cNvPicPr>
          <p:nvPr/>
        </p:nvPicPr>
        <p:blipFill>
          <a:blip r:embed="rId9"/>
          <a:stretch>
            <a:fillRect/>
          </a:stretch>
        </p:blipFill>
        <p:spPr>
          <a:xfrm>
            <a:off x="8836313" y="4848681"/>
            <a:ext cx="2193830" cy="558193"/>
          </a:xfrm>
          <a:prstGeom prst="rect">
            <a:avLst/>
          </a:prstGeom>
        </p:spPr>
      </p:pic>
      <p:sp>
        <p:nvSpPr>
          <p:cNvPr id="49" name="文本框 48">
            <a:extLst>
              <a:ext uri="{FF2B5EF4-FFF2-40B4-BE49-F238E27FC236}">
                <a16:creationId xmlns:a16="http://schemas.microsoft.com/office/drawing/2014/main" id="{F6F02E5A-882F-4F66-C72F-A0E3BE4A4C77}"/>
              </a:ext>
            </a:extLst>
          </p:cNvPr>
          <p:cNvSpPr txBox="1"/>
          <p:nvPr/>
        </p:nvSpPr>
        <p:spPr>
          <a:xfrm>
            <a:off x="6167597" y="5466535"/>
            <a:ext cx="2184741" cy="369332"/>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计算 </a:t>
            </a:r>
            <a:r>
              <a:rPr lang="en-US" altLang="zh-CN" dirty="0">
                <a:latin typeface="微软雅黑 Light" panose="020B0502040204020203" pitchFamily="34" charset="-122"/>
                <a:ea typeface="微软雅黑 Light" panose="020B0502040204020203" pitchFamily="34" charset="-122"/>
              </a:rPr>
              <a:t>F </a:t>
            </a:r>
            <a:r>
              <a:rPr lang="zh-CN" altLang="en-US" dirty="0">
                <a:latin typeface="微软雅黑 Light" panose="020B0502040204020203" pitchFamily="34" charset="-122"/>
                <a:ea typeface="微软雅黑 Light" panose="020B0502040204020203" pitchFamily="34" charset="-122"/>
              </a:rPr>
              <a:t>统计量</a:t>
            </a:r>
          </a:p>
        </p:txBody>
      </p:sp>
      <p:pic>
        <p:nvPicPr>
          <p:cNvPr id="56" name="图片 55">
            <a:extLst>
              <a:ext uri="{FF2B5EF4-FFF2-40B4-BE49-F238E27FC236}">
                <a16:creationId xmlns:a16="http://schemas.microsoft.com/office/drawing/2014/main" id="{CFFAB094-6334-BC4A-9A99-5B6F4F8726F3}"/>
              </a:ext>
            </a:extLst>
          </p:cNvPr>
          <p:cNvPicPr>
            <a:picLocks noChangeAspect="1"/>
          </p:cNvPicPr>
          <p:nvPr/>
        </p:nvPicPr>
        <p:blipFill>
          <a:blip r:embed="rId10"/>
          <a:stretch>
            <a:fillRect/>
          </a:stretch>
        </p:blipFill>
        <p:spPr>
          <a:xfrm>
            <a:off x="7801120" y="5651201"/>
            <a:ext cx="3877985" cy="646331"/>
          </a:xfrm>
          <a:prstGeom prst="rect">
            <a:avLst/>
          </a:prstGeom>
        </p:spPr>
      </p:pic>
    </p:spTree>
    <p:extLst>
      <p:ext uri="{BB962C8B-B14F-4D97-AF65-F5344CB8AC3E}">
        <p14:creationId xmlns:p14="http://schemas.microsoft.com/office/powerpoint/2010/main" val="3887048020"/>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5546A-6194-ED3D-1517-EC6FEC0914F1}"/>
            </a:ext>
          </a:extLst>
        </p:cNvPr>
        <p:cNvGrpSpPr/>
        <p:nvPr/>
      </p:nvGrpSpPr>
      <p:grpSpPr>
        <a:xfrm>
          <a:off x="0" y="0"/>
          <a:ext cx="0" cy="0"/>
          <a:chOff x="0" y="0"/>
          <a:chExt cx="0" cy="0"/>
        </a:xfrm>
      </p:grpSpPr>
      <p:pic>
        <p:nvPicPr>
          <p:cNvPr id="27" name="图片 26">
            <a:extLst>
              <a:ext uri="{FF2B5EF4-FFF2-40B4-BE49-F238E27FC236}">
                <a16:creationId xmlns:a16="http://schemas.microsoft.com/office/drawing/2014/main" id="{5170359D-F8A5-89F1-D07E-565BF75425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922E1BF9-ABD5-2489-4141-D3353718E7A5}"/>
              </a:ext>
            </a:extLst>
          </p:cNvPr>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05</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62BB70BC-9752-9AC9-CA01-CA879E744FA5}"/>
              </a:ext>
            </a:extLst>
          </p:cNvPr>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实证结果</a:t>
            </a:r>
          </a:p>
        </p:txBody>
      </p:sp>
      <p:grpSp>
        <p:nvGrpSpPr>
          <p:cNvPr id="4" name="组合 3">
            <a:extLst>
              <a:ext uri="{FF2B5EF4-FFF2-40B4-BE49-F238E27FC236}">
                <a16:creationId xmlns:a16="http://schemas.microsoft.com/office/drawing/2014/main" id="{ABA93D7A-1A8C-2106-ABD4-9A9A8ACB4157}"/>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97E4C42E-1539-76B8-52D1-0BF96932E59A}"/>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D0AD10AF-CCF3-374F-1831-857AE5172BBA}"/>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grpSp>
        <p:nvGrpSpPr>
          <p:cNvPr id="7" name="组合 6">
            <a:extLst>
              <a:ext uri="{FF2B5EF4-FFF2-40B4-BE49-F238E27FC236}">
                <a16:creationId xmlns:a16="http://schemas.microsoft.com/office/drawing/2014/main" id="{49739DA7-CF22-EE5E-8220-EFE54EAA8BDA}"/>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EA81869B-62E0-2AC0-F78B-54F8980E7353}"/>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9" name="平行四边形 8">
              <a:extLst>
                <a:ext uri="{FF2B5EF4-FFF2-40B4-BE49-F238E27FC236}">
                  <a16:creationId xmlns:a16="http://schemas.microsoft.com/office/drawing/2014/main" id="{F59845CB-BAFF-77CB-EA07-54F44386F2BF}"/>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16" name="直接连接符 15">
            <a:extLst>
              <a:ext uri="{FF2B5EF4-FFF2-40B4-BE49-F238E27FC236}">
                <a16:creationId xmlns:a16="http://schemas.microsoft.com/office/drawing/2014/main" id="{C10D2461-3CF0-9D25-AFBD-9788171DC4BF}"/>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439008CB-3D89-74AB-3CA4-0F21E0227D3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69B2E5B4-69ED-D185-1E03-C1A79769E2A4}"/>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2A276D9B-BAA8-A1AD-6BED-979149CDBBD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37B55960-8A54-6686-D7C9-622F40BF54D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4A0D3E86-9141-31DE-F632-467AEF4C42BB}"/>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Tree>
    <p:extLst>
      <p:ext uri="{BB962C8B-B14F-4D97-AF65-F5344CB8AC3E}">
        <p14:creationId xmlns:p14="http://schemas.microsoft.com/office/powerpoint/2010/main" val="194358376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zh-CN"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VAR</a:t>
            </a: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模型结果</a:t>
            </a:r>
          </a:p>
        </p:txBody>
      </p:sp>
      <p:sp>
        <p:nvSpPr>
          <p:cNvPr id="35" name="矩形: 圆角 34"/>
          <p:cNvSpPr/>
          <p:nvPr/>
        </p:nvSpPr>
        <p:spPr>
          <a:xfrm>
            <a:off x="598170" y="1558288"/>
            <a:ext cx="5543550" cy="695965"/>
          </a:xfrm>
          <a:prstGeom prst="roundRect">
            <a:avLst>
              <a:gd name="adj" fmla="val 50000"/>
            </a:avLst>
          </a:prstGeom>
          <a:noFill/>
          <a:ln w="19050" cap="flat" cmpd="sng" algn="ctr">
            <a:solidFill>
              <a:srgbClr val="02428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一阶滞后</a:t>
            </a:r>
            <a:r>
              <a:rPr kumimoji="0" lang="en-US" altLang="zh-CN"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L1_attack_count</a:t>
            </a:r>
            <a:r>
              <a:rPr kumimoji="0" lang="zh-CN" altLang="en-US"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对当前袭击事件数显著为正，</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系数为</a:t>
            </a:r>
            <a:r>
              <a:rPr kumimoji="0" lang="en-US" altLang="zh-CN"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0.721</a:t>
            </a:r>
            <a:r>
              <a:rPr kumimoji="0" lang="zh-CN" altLang="en-US"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a:t>
            </a:r>
            <a:r>
              <a:rPr kumimoji="0" lang="en-US" altLang="zh-CN"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p</a:t>
            </a:r>
            <a:r>
              <a:rPr kumimoji="0" lang="zh-CN" altLang="en-US"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值小于</a:t>
            </a:r>
            <a:r>
              <a:rPr kumimoji="0" lang="en-US" altLang="zh-CN" sz="1600" b="0" i="0" u="none" strike="noStrike" kern="0" cap="none" spc="0" normalizeH="0" baseline="0" noProof="0" dirty="0">
                <a:ln>
                  <a:noFill/>
                </a:ln>
                <a:solidFill>
                  <a:schemeClr val="tx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0.001</a:t>
            </a:r>
          </a:p>
        </p:txBody>
      </p:sp>
      <p:sp>
        <p:nvSpPr>
          <p:cNvPr id="41" name="圆角矩形 6"/>
          <p:cNvSpPr/>
          <p:nvPr/>
        </p:nvSpPr>
        <p:spPr>
          <a:xfrm>
            <a:off x="598170" y="937260"/>
            <a:ext cx="8105140" cy="490220"/>
          </a:xfrm>
          <a:prstGeom prst="roundRect">
            <a:avLst>
              <a:gd name="adj" fmla="val 37046"/>
            </a:avLst>
          </a:prstGeom>
          <a:gradFill>
            <a:gsLst>
              <a:gs pos="53000">
                <a:srgbClr val="024282"/>
              </a:gs>
              <a:gs pos="95000">
                <a:srgbClr val="024282">
                  <a:alpha val="0"/>
                </a:srgbClr>
              </a:gs>
              <a:gs pos="0">
                <a:srgbClr val="024282"/>
              </a:gs>
            </a:gsLst>
            <a:lin ang="20700000" scaled="0"/>
          </a:gra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模型使用</a:t>
            </a:r>
            <a:r>
              <a:rPr kumimoji="0" lang="en-US" altLang="zh-CN"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139</a:t>
            </a:r>
            <a:r>
              <a:rPr kumimoji="0" lang="zh-CN" altLang="en-US"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周数据，</a:t>
            </a:r>
            <a:r>
              <a:rPr kumimoji="0" lang="en-US" altLang="zh-CN"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AIC</a:t>
            </a:r>
            <a:r>
              <a:rPr kumimoji="0" lang="zh-CN" altLang="en-US"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自动选择的最佳滞后阶数为</a:t>
            </a:r>
            <a:r>
              <a:rPr kumimoji="0" lang="en-US" altLang="zh-CN"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3</a:t>
            </a:r>
            <a:r>
              <a:rPr kumimoji="0" lang="zh-CN" altLang="en-US"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周。</a:t>
            </a:r>
            <a:endParaRPr kumimoji="0" lang="en-US" altLang="zh-CN"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endParaRPr>
          </a:p>
        </p:txBody>
      </p:sp>
      <p:pic>
        <p:nvPicPr>
          <p:cNvPr id="52" name="图片 5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p:cNvGrpSpPr/>
          <p:nvPr/>
        </p:nvGrpSpPr>
        <p:grpSpPr>
          <a:xfrm>
            <a:off x="9154205" y="116633"/>
            <a:ext cx="2764918" cy="612776"/>
            <a:chOff x="1018596" y="583069"/>
            <a:chExt cx="4663274" cy="1033500"/>
          </a:xfrm>
        </p:grpSpPr>
        <p:pic>
          <p:nvPicPr>
            <p:cNvPr id="44" name="图片 4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cxnSp>
        <p:nvCxnSpPr>
          <p:cNvPr id="2" name="直接箭头连接符 1"/>
          <p:cNvCxnSpPr/>
          <p:nvPr/>
        </p:nvCxnSpPr>
        <p:spPr>
          <a:xfrm>
            <a:off x="6207760" y="1879600"/>
            <a:ext cx="456565" cy="0"/>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6681470" y="1694815"/>
            <a:ext cx="2802890" cy="368300"/>
          </a:xfrm>
          <a:prstGeom prst="rect">
            <a:avLst/>
          </a:prstGeom>
          <a:noFill/>
        </p:spPr>
        <p:txBody>
          <a:bodyPr wrap="square" rtlCol="0">
            <a:spAutoFit/>
          </a:bodyPr>
          <a:lstStyle/>
          <a:p>
            <a:r>
              <a:rPr lang="zh-CN" altLang="en-US" dirty="0">
                <a:solidFill>
                  <a:schemeClr val="tx2"/>
                </a:solidFill>
              </a:rPr>
              <a:t>安全事件本身存在持续性</a:t>
            </a:r>
          </a:p>
        </p:txBody>
      </p:sp>
      <p:pic>
        <p:nvPicPr>
          <p:cNvPr id="8" name="图片 7" descr="58F9809A-03B9-4E22-925F-4E7FA3C87884"/>
          <p:cNvPicPr>
            <a:picLocks noChangeAspect="1"/>
          </p:cNvPicPr>
          <p:nvPr/>
        </p:nvPicPr>
        <p:blipFill>
          <a:blip r:embed="rId7"/>
          <a:srcRect l="2549" t="27991" r="2556" b="22324"/>
          <a:stretch>
            <a:fillRect/>
          </a:stretch>
        </p:blipFill>
        <p:spPr>
          <a:xfrm>
            <a:off x="579120" y="2593340"/>
            <a:ext cx="6085205" cy="2389505"/>
          </a:xfrm>
          <a:prstGeom prst="rect">
            <a:avLst/>
          </a:prstGeom>
        </p:spPr>
      </p:pic>
      <p:sp>
        <p:nvSpPr>
          <p:cNvPr id="27" name="文本框 26"/>
          <p:cNvSpPr txBox="1"/>
          <p:nvPr/>
        </p:nvSpPr>
        <p:spPr>
          <a:xfrm>
            <a:off x="10012680" y="1694815"/>
            <a:ext cx="2190750" cy="398780"/>
          </a:xfrm>
          <a:prstGeom prst="rect">
            <a:avLst/>
          </a:prstGeom>
          <a:noFill/>
        </p:spPr>
        <p:txBody>
          <a:bodyPr wrap="square" rtlCol="0">
            <a:spAutoFit/>
          </a:bodyPr>
          <a:lstStyle/>
          <a:p>
            <a:r>
              <a:rPr lang="en-US" altLang="zh-CN" sz="2000" b="1">
                <a:solidFill>
                  <a:schemeClr val="tx2"/>
                </a:solidFill>
              </a:rPr>
              <a:t>H1</a:t>
            </a:r>
            <a:r>
              <a:rPr lang="zh-CN" altLang="en-US" sz="2000" b="1">
                <a:solidFill>
                  <a:schemeClr val="tx2"/>
                </a:solidFill>
              </a:rPr>
              <a:t>得到较强支持</a:t>
            </a:r>
          </a:p>
        </p:txBody>
      </p:sp>
      <p:sp>
        <p:nvSpPr>
          <p:cNvPr id="53" name="文本框 52"/>
          <p:cNvSpPr txBox="1"/>
          <p:nvPr/>
        </p:nvSpPr>
        <p:spPr>
          <a:xfrm>
            <a:off x="1605915" y="5290820"/>
            <a:ext cx="4535805" cy="1229995"/>
          </a:xfrm>
          <a:prstGeom prst="rect">
            <a:avLst/>
          </a:prstGeom>
          <a:noFill/>
        </p:spPr>
        <p:txBody>
          <a:bodyPr wrap="square" rtlCol="0">
            <a:spAutoFit/>
          </a:bodyPr>
          <a:lstStyle/>
          <a:p>
            <a:pPr algn="ctr"/>
            <a:r>
              <a:rPr lang="zh-CN" altLang="en-US" sz="2000" b="1" dirty="0">
                <a:solidFill>
                  <a:schemeClr val="tx2"/>
                </a:solidFill>
              </a:rPr>
              <a:t>H2 得到部分支持</a:t>
            </a:r>
            <a:endParaRPr dirty="0">
              <a:solidFill>
                <a:schemeClr val="accent1"/>
              </a:solidFill>
              <a:latin typeface="宋体" charset="0"/>
              <a:ea typeface="宋体" charset="0"/>
            </a:endParaRPr>
          </a:p>
          <a:p>
            <a:pPr algn="ctr"/>
            <a:r>
              <a:rPr dirty="0" err="1">
                <a:solidFill>
                  <a:schemeClr val="tx2"/>
                </a:solidFill>
                <a:latin typeface="宋体" charset="0"/>
                <a:ea typeface="宋体" charset="0"/>
              </a:rPr>
              <a:t>好望角通行量与袭击</a:t>
            </a:r>
            <a:endParaRPr dirty="0">
              <a:solidFill>
                <a:schemeClr val="tx2"/>
              </a:solidFill>
              <a:latin typeface="宋体" charset="0"/>
              <a:ea typeface="宋体" charset="0"/>
            </a:endParaRPr>
          </a:p>
          <a:p>
            <a:pPr algn="ctr"/>
            <a:r>
              <a:rPr dirty="0" err="1">
                <a:solidFill>
                  <a:schemeClr val="tx2"/>
                </a:solidFill>
                <a:latin typeface="宋体" charset="0"/>
                <a:ea typeface="宋体" charset="0"/>
              </a:rPr>
              <a:t>事件滞后项之间存在显著动态关系</a:t>
            </a:r>
            <a:endParaRPr dirty="0">
              <a:solidFill>
                <a:schemeClr val="tx2"/>
              </a:solidFill>
              <a:latin typeface="宋体" charset="0"/>
              <a:ea typeface="宋体" charset="0"/>
            </a:endParaRPr>
          </a:p>
          <a:p>
            <a:pPr algn="ctr"/>
            <a:r>
              <a:rPr dirty="0" err="1">
                <a:solidFill>
                  <a:schemeClr val="tx2"/>
                </a:solidFill>
                <a:latin typeface="宋体" charset="0"/>
                <a:ea typeface="宋体" charset="0"/>
              </a:rPr>
              <a:t>但曼德海峡通行量对袭击变量的响应不稳定</a:t>
            </a:r>
            <a:endParaRPr lang="zh-CN" dirty="0">
              <a:solidFill>
                <a:schemeClr val="tx2"/>
              </a:solidFill>
              <a:latin typeface="宋体" charset="0"/>
              <a:ea typeface="宋体" charset="0"/>
            </a:endParaRPr>
          </a:p>
        </p:txBody>
      </p:sp>
      <p:sp>
        <p:nvSpPr>
          <p:cNvPr id="54" name="右箭头 53"/>
          <p:cNvSpPr/>
          <p:nvPr>
            <p:custDataLst>
              <p:tags r:id="rId1"/>
            </p:custDataLst>
          </p:nvPr>
        </p:nvSpPr>
        <p:spPr>
          <a:xfrm>
            <a:off x="9484360" y="1761490"/>
            <a:ext cx="484505" cy="22923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55" name="图片 54" descr="E1EB6364-8A77-4E70-BA90-1289E8954671"/>
          <p:cNvPicPr>
            <a:picLocks noChangeAspect="1"/>
          </p:cNvPicPr>
          <p:nvPr/>
        </p:nvPicPr>
        <p:blipFill>
          <a:blip r:embed="rId8"/>
          <a:srcRect l="1597" t="9944" r="1694" b="4861"/>
          <a:stretch>
            <a:fillRect/>
          </a:stretch>
        </p:blipFill>
        <p:spPr>
          <a:xfrm>
            <a:off x="6919595" y="2330450"/>
            <a:ext cx="4979670" cy="3303270"/>
          </a:xfrm>
          <a:prstGeom prst="rect">
            <a:avLst/>
          </a:prstGeom>
        </p:spPr>
      </p:pic>
      <p:sp>
        <p:nvSpPr>
          <p:cNvPr id="56" name="下箭头 55"/>
          <p:cNvSpPr/>
          <p:nvPr/>
        </p:nvSpPr>
        <p:spPr>
          <a:xfrm>
            <a:off x="3657600" y="5034280"/>
            <a:ext cx="165735" cy="25463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脉冲响应</a:t>
            </a:r>
            <a:r>
              <a:rPr kumimoji="0" lang="en-US" altLang="zh-CN"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IRF</a:t>
            </a: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结果</a:t>
            </a:r>
          </a:p>
        </p:txBody>
      </p:sp>
      <p:pic>
        <p:nvPicPr>
          <p:cNvPr id="52" name="图片 51"/>
          <p:cNvPicPr>
            <a:picLocks noChangeAspect="1"/>
          </p:cNvPicPr>
          <p:nvPr/>
        </p:nvPicPr>
        <p:blipFill>
          <a:blip r:embed="rId5" cstate="print">
            <a:extLst>
              <a:ext uri="{BEBA8EAE-BF5A-486C-A8C5-ECC9F3942E4B}">
                <a14:imgProps xmlns:a14="http://schemas.microsoft.com/office/drawing/2010/main">
                  <a14:imgLayer r:embed="rId6">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p:cNvGrpSpPr/>
          <p:nvPr/>
        </p:nvGrpSpPr>
        <p:grpSpPr>
          <a:xfrm>
            <a:off x="9154205" y="116633"/>
            <a:ext cx="2764918" cy="612776"/>
            <a:chOff x="1018596" y="583069"/>
            <a:chExt cx="4663274" cy="1033500"/>
          </a:xfrm>
        </p:grpSpPr>
        <p:pic>
          <p:nvPicPr>
            <p:cNvPr id="44" name="图片 43"/>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27" name="矩形 26"/>
          <p:cNvSpPr/>
          <p:nvPr/>
        </p:nvSpPr>
        <p:spPr>
          <a:xfrm>
            <a:off x="7038340" y="1758315"/>
            <a:ext cx="3399155" cy="490220"/>
          </a:xfrm>
          <a:prstGeom prst="rect">
            <a:avLst/>
          </a:prstGeom>
          <a:solidFill>
            <a:srgbClr val="FFC000"/>
          </a:solidFill>
          <a:ln w="12700" cap="flat" cmpd="sng" algn="ctr">
            <a:noFill/>
            <a:prstDash val="solid"/>
            <a:miter lim="800000"/>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a:ln>
                  <a:noFill/>
                </a:ln>
                <a:solidFill>
                  <a:prstClr val="white"/>
                </a:solidFill>
                <a:effectLst/>
                <a:uLnTx/>
                <a:uFillTx/>
                <a:latin typeface="Century Gothic"/>
                <a:ea typeface="微软雅黑"/>
                <a:cs typeface="+mn-cs"/>
              </a:rPr>
              <a:t>曼德海峡响应较弱、不稳定</a:t>
            </a:r>
          </a:p>
        </p:txBody>
      </p:sp>
      <p:sp>
        <p:nvSpPr>
          <p:cNvPr id="41" name="圆角矩形 6"/>
          <p:cNvSpPr/>
          <p:nvPr>
            <p:custDataLst>
              <p:tags r:id="rId1"/>
            </p:custDataLst>
          </p:nvPr>
        </p:nvSpPr>
        <p:spPr>
          <a:xfrm>
            <a:off x="392430" y="1245870"/>
            <a:ext cx="2372360" cy="490220"/>
          </a:xfrm>
          <a:prstGeom prst="roundRect">
            <a:avLst>
              <a:gd name="adj" fmla="val 37046"/>
            </a:avLst>
          </a:prstGeom>
          <a:gradFill>
            <a:gsLst>
              <a:gs pos="53000">
                <a:srgbClr val="024282"/>
              </a:gs>
              <a:gs pos="95000">
                <a:srgbClr val="024282">
                  <a:alpha val="0"/>
                </a:srgbClr>
              </a:gs>
              <a:gs pos="0">
                <a:srgbClr val="024282"/>
              </a:gs>
            </a:gsLst>
            <a:lin ang="20700000" scaled="0"/>
          </a:gra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IRF</a:t>
            </a:r>
            <a:r>
              <a:rPr kumimoji="0" lang="zh-CN" altLang="en-US" sz="1800" b="0" i="0" u="none" strike="noStrike" kern="0" cap="none" spc="0" normalizeH="0" baseline="0" noProof="0" dirty="0">
                <a:ln>
                  <a:noFill/>
                </a:ln>
                <a:solidFill>
                  <a:prstClr val="white"/>
                </a:solidFill>
                <a:effectLst/>
                <a:uLnTx/>
                <a:uFillTx/>
                <a:latin typeface="微软雅黑"/>
                <a:ea typeface="微软雅黑" panose="020B0503020204020204" pitchFamily="34" charset="-122"/>
                <a:cs typeface="+mn-cs"/>
              </a:rPr>
              <a:t>脉冲响应函数</a:t>
            </a:r>
          </a:p>
        </p:txBody>
      </p:sp>
      <p:pic>
        <p:nvPicPr>
          <p:cNvPr id="3" name="图片 2" descr="截屏2026-06-14 15.06.31"/>
          <p:cNvPicPr>
            <a:picLocks noChangeAspect="1"/>
          </p:cNvPicPr>
          <p:nvPr/>
        </p:nvPicPr>
        <p:blipFill>
          <a:blip r:embed="rId9"/>
          <a:stretch>
            <a:fillRect/>
          </a:stretch>
        </p:blipFill>
        <p:spPr>
          <a:xfrm>
            <a:off x="2647315" y="1078865"/>
            <a:ext cx="2667000" cy="850900"/>
          </a:xfrm>
          <a:prstGeom prst="rect">
            <a:avLst/>
          </a:prstGeom>
        </p:spPr>
      </p:pic>
      <p:sp>
        <p:nvSpPr>
          <p:cNvPr id="8" name="文本框 7"/>
          <p:cNvSpPr txBox="1"/>
          <p:nvPr/>
        </p:nvSpPr>
        <p:spPr>
          <a:xfrm>
            <a:off x="6937375" y="2418080"/>
            <a:ext cx="5040630" cy="645160"/>
          </a:xfrm>
          <a:prstGeom prst="rect">
            <a:avLst/>
          </a:prstGeom>
          <a:noFill/>
        </p:spPr>
        <p:txBody>
          <a:bodyPr wrap="square" rtlCol="0">
            <a:spAutoFit/>
          </a:bodyPr>
          <a:lstStyle/>
          <a:p>
            <a:r>
              <a:rPr lang="zh-CN" altLang="en-US" dirty="0">
                <a:latin typeface="Times New Roman Regular" panose="02020503050405090304" charset="0"/>
                <a:cs typeface="Times New Roman Regular" panose="02020503050405090304" charset="0"/>
              </a:rPr>
              <a:t>与</a:t>
            </a:r>
            <a:r>
              <a:rPr lang="en-US" altLang="zh-CN" dirty="0">
                <a:latin typeface="Times New Roman Regular" panose="02020503050405090304" charset="0"/>
                <a:cs typeface="Times New Roman Regular" panose="02020503050405090304" charset="0"/>
              </a:rPr>
              <a:t>VAR</a:t>
            </a:r>
            <a:r>
              <a:rPr lang="zh-CN" altLang="en-US" dirty="0">
                <a:latin typeface="Times New Roman Regular" panose="02020503050405090304" charset="0"/>
                <a:cs typeface="Times New Roman Regular" panose="02020503050405090304" charset="0"/>
              </a:rPr>
              <a:t>方程一致</a:t>
            </a:r>
          </a:p>
          <a:p>
            <a:r>
              <a:rPr lang="zh-CN" altLang="en-US" dirty="0">
                <a:latin typeface="Times New Roman Regular" panose="02020503050405090304" charset="0"/>
                <a:cs typeface="Times New Roman Regular" panose="02020503050405090304" charset="0"/>
              </a:rPr>
              <a:t>说明曼德海峡通行量不完全由安全事件决定</a:t>
            </a:r>
          </a:p>
        </p:txBody>
      </p:sp>
      <p:sp>
        <p:nvSpPr>
          <p:cNvPr id="9" name="矩形 8"/>
          <p:cNvSpPr/>
          <p:nvPr>
            <p:custDataLst>
              <p:tags r:id="rId2"/>
            </p:custDataLst>
          </p:nvPr>
        </p:nvSpPr>
        <p:spPr>
          <a:xfrm>
            <a:off x="7038340" y="4334510"/>
            <a:ext cx="3399155" cy="490220"/>
          </a:xfrm>
          <a:prstGeom prst="rect">
            <a:avLst/>
          </a:prstGeom>
          <a:solidFill>
            <a:srgbClr val="FFC000"/>
          </a:solidFill>
          <a:ln w="12700" cap="flat" cmpd="sng" algn="ctr">
            <a:noFill/>
            <a:prstDash val="solid"/>
            <a:miter lim="800000"/>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a:ln>
                  <a:noFill/>
                </a:ln>
                <a:solidFill>
                  <a:prstClr val="white"/>
                </a:solidFill>
                <a:effectLst/>
                <a:uLnTx/>
                <a:uFillTx/>
                <a:latin typeface="Century Gothic"/>
                <a:ea typeface="微软雅黑"/>
                <a:cs typeface="+mn-cs"/>
              </a:rPr>
              <a:t>好望角存在更明显滞后响应</a:t>
            </a:r>
          </a:p>
        </p:txBody>
      </p:sp>
      <p:pic>
        <p:nvPicPr>
          <p:cNvPr id="11" name="图片 10" descr="8a7e7311bc2c97b04553f46cbe5cfaa6"/>
          <p:cNvPicPr>
            <a:picLocks noChangeAspect="1"/>
          </p:cNvPicPr>
          <p:nvPr/>
        </p:nvPicPr>
        <p:blipFill>
          <a:blip r:embed="rId10"/>
          <a:srcRect t="8565"/>
          <a:stretch>
            <a:fillRect/>
          </a:stretch>
        </p:blipFill>
        <p:spPr>
          <a:xfrm>
            <a:off x="367665" y="2108835"/>
            <a:ext cx="6294755" cy="4156075"/>
          </a:xfrm>
          <a:prstGeom prst="rect">
            <a:avLst/>
          </a:prstGeom>
        </p:spPr>
      </p:pic>
      <p:sp>
        <p:nvSpPr>
          <p:cNvPr id="12" name="文本框 11"/>
          <p:cNvSpPr txBox="1"/>
          <p:nvPr/>
        </p:nvSpPr>
        <p:spPr>
          <a:xfrm>
            <a:off x="6965950" y="3063240"/>
            <a:ext cx="5331460" cy="1198880"/>
          </a:xfrm>
          <a:prstGeom prst="rect">
            <a:avLst/>
          </a:prstGeom>
          <a:noFill/>
        </p:spPr>
        <p:txBody>
          <a:bodyPr wrap="square" rtlCol="0">
            <a:spAutoFit/>
          </a:bodyPr>
          <a:lstStyle/>
          <a:p>
            <a:pPr algn="l">
              <a:buClrTx/>
              <a:buSzTx/>
              <a:buNone/>
            </a:pPr>
            <a:r>
              <a:rPr lang="en-US" altLang="zh-CN" dirty="0" err="1">
                <a:solidFill>
                  <a:schemeClr val="tx1">
                    <a:lumMod val="50000"/>
                    <a:lumOff val="50000"/>
                  </a:schemeClr>
                </a:solidFill>
                <a:latin typeface="Times New Roman Regular" panose="02020503050405090304" charset="0"/>
                <a:cs typeface="Times New Roman Regular" panose="02020503050405090304" charset="0"/>
              </a:rPr>
              <a:t>PortWatch</a:t>
            </a:r>
            <a:r>
              <a:rPr lang="en-US" altLang="zh-CN" dirty="0">
                <a:solidFill>
                  <a:schemeClr val="tx1">
                    <a:lumMod val="50000"/>
                    <a:lumOff val="50000"/>
                  </a:schemeClr>
                </a:solidFill>
                <a:latin typeface="Times New Roman Regular" panose="02020503050405090304" charset="0"/>
                <a:cs typeface="Times New Roman Regular" panose="02020503050405090304" charset="0"/>
              </a:rPr>
              <a:t> </a:t>
            </a:r>
            <a:r>
              <a:rPr lang="en-US" altLang="zh-CN" dirty="0" err="1">
                <a:solidFill>
                  <a:schemeClr val="tx1">
                    <a:lumMod val="50000"/>
                    <a:lumOff val="50000"/>
                  </a:schemeClr>
                </a:solidFill>
                <a:latin typeface="Times New Roman Regular" panose="02020503050405090304" charset="0"/>
                <a:cs typeface="Times New Roman Regular" panose="02020503050405090304" charset="0"/>
              </a:rPr>
              <a:t>指标反映聚合通行量</a:t>
            </a:r>
            <a:endParaRPr lang="en-US" altLang="zh-CN" dirty="0">
              <a:solidFill>
                <a:schemeClr val="tx1">
                  <a:lumMod val="50000"/>
                  <a:lumOff val="50000"/>
                </a:schemeClr>
              </a:solidFill>
              <a:latin typeface="Times New Roman Regular" panose="02020503050405090304" charset="0"/>
              <a:cs typeface="Times New Roman Regular" panose="02020503050405090304" charset="0"/>
            </a:endParaRPr>
          </a:p>
          <a:p>
            <a:pPr algn="l">
              <a:buClrTx/>
              <a:buSzTx/>
              <a:buNone/>
            </a:pPr>
            <a:r>
              <a:rPr lang="en-US" altLang="zh-CN" dirty="0" err="1">
                <a:solidFill>
                  <a:schemeClr val="tx1">
                    <a:lumMod val="50000"/>
                    <a:lumOff val="50000"/>
                  </a:schemeClr>
                </a:solidFill>
                <a:latin typeface="Times New Roman Regular" panose="02020503050405090304" charset="0"/>
                <a:cs typeface="Times New Roman Regular" panose="02020503050405090304" charset="0"/>
              </a:rPr>
              <a:t>其它事件影响</a:t>
            </a:r>
            <a:endParaRPr lang="en-US" altLang="zh-CN" dirty="0">
              <a:solidFill>
                <a:schemeClr val="tx1">
                  <a:lumMod val="50000"/>
                  <a:lumOff val="50000"/>
                </a:schemeClr>
              </a:solidFill>
              <a:latin typeface="Times New Roman Regular" panose="02020503050405090304" charset="0"/>
              <a:cs typeface="Times New Roman Regular" panose="02020503050405090304" charset="0"/>
            </a:endParaRPr>
          </a:p>
          <a:p>
            <a:pPr algn="l">
              <a:buClrTx/>
              <a:buSzTx/>
              <a:buNone/>
            </a:pPr>
            <a:r>
              <a:rPr lang="en-US" altLang="zh-CN" dirty="0">
                <a:solidFill>
                  <a:schemeClr val="tx1">
                    <a:lumMod val="50000"/>
                    <a:lumOff val="50000"/>
                  </a:schemeClr>
                </a:solidFill>
                <a:latin typeface="Times New Roman Regular" panose="02020503050405090304" charset="0"/>
                <a:cs typeface="Times New Roman Regular" panose="02020503050405090304" charset="0"/>
              </a:rPr>
              <a:t>ACLED </a:t>
            </a:r>
            <a:r>
              <a:rPr lang="en-US" altLang="zh-CN" dirty="0" err="1">
                <a:solidFill>
                  <a:schemeClr val="tx1">
                    <a:lumMod val="50000"/>
                    <a:lumOff val="50000"/>
                  </a:schemeClr>
                </a:solidFill>
                <a:latin typeface="Times New Roman Regular" panose="02020503050405090304" charset="0"/>
                <a:cs typeface="Times New Roman Regular" panose="02020503050405090304" charset="0"/>
              </a:rPr>
              <a:t>事件发生地与实际航运决策之间的关系</a:t>
            </a:r>
            <a:endParaRPr lang="en-US" altLang="zh-CN" dirty="0">
              <a:solidFill>
                <a:schemeClr val="tx1">
                  <a:lumMod val="50000"/>
                  <a:lumOff val="50000"/>
                </a:schemeClr>
              </a:solidFill>
              <a:latin typeface="Times New Roman Regular" panose="02020503050405090304" charset="0"/>
              <a:cs typeface="Times New Roman Regular" panose="02020503050405090304" charset="0"/>
            </a:endParaRPr>
          </a:p>
          <a:p>
            <a:pPr algn="l">
              <a:buClrTx/>
              <a:buSzTx/>
              <a:buNone/>
            </a:pPr>
            <a:r>
              <a:rPr lang="en-US" altLang="zh-CN" dirty="0">
                <a:solidFill>
                  <a:schemeClr val="tx1">
                    <a:lumMod val="50000"/>
                    <a:lumOff val="50000"/>
                  </a:schemeClr>
                </a:solidFill>
                <a:latin typeface="Times New Roman Regular" panose="02020503050405090304" charset="0"/>
                <a:cs typeface="Times New Roman Regular" panose="02020503050405090304" charset="0"/>
              </a:rPr>
              <a:t>...</a:t>
            </a:r>
          </a:p>
        </p:txBody>
      </p:sp>
      <p:sp>
        <p:nvSpPr>
          <p:cNvPr id="40" name="文本框 39"/>
          <p:cNvSpPr txBox="1"/>
          <p:nvPr>
            <p:custDataLst>
              <p:tags r:id="rId3"/>
            </p:custDataLst>
          </p:nvPr>
        </p:nvSpPr>
        <p:spPr>
          <a:xfrm>
            <a:off x="7038340" y="4897120"/>
            <a:ext cx="5040630" cy="1367155"/>
          </a:xfrm>
          <a:prstGeom prst="rect">
            <a:avLst/>
          </a:prstGeom>
          <a:noFill/>
        </p:spPr>
        <p:txBody>
          <a:bodyPr wrap="square" rtlCol="0">
            <a:noAutofit/>
          </a:bodyPr>
          <a:lstStyle/>
          <a:p>
            <a:r>
              <a:rPr lang="zh-CN" altLang="en-US">
                <a:latin typeface="Times New Roman Regular" panose="02020503050405090304" charset="0"/>
                <a:cs typeface="Times New Roman Regular" panose="02020503050405090304" charset="0"/>
              </a:rPr>
              <a:t>经济含义符合现实机制</a:t>
            </a:r>
          </a:p>
          <a:p>
            <a:endParaRPr lang="zh-CN" altLang="en-US">
              <a:latin typeface="Times New Roman Regular" panose="02020503050405090304" charset="0"/>
              <a:cs typeface="Times New Roman Regular" panose="02020503050405090304" charset="0"/>
            </a:endParaRPr>
          </a:p>
          <a:p>
            <a:r>
              <a:rPr lang="zh-CN" altLang="en-US">
                <a:solidFill>
                  <a:schemeClr val="tx1">
                    <a:lumMod val="50000"/>
                    <a:lumOff val="50000"/>
                  </a:schemeClr>
                </a:solidFill>
                <a:latin typeface="Times New Roman Regular" panose="02020503050405090304" charset="0"/>
                <a:cs typeface="Times New Roman Regular" panose="02020503050405090304" charset="0"/>
              </a:rPr>
              <a:t>航运企业的反应、评估</a:t>
            </a:r>
          </a:p>
          <a:p>
            <a:r>
              <a:rPr lang="en-US" altLang="zh-CN">
                <a:solidFill>
                  <a:schemeClr val="tx1">
                    <a:lumMod val="50000"/>
                    <a:lumOff val="50000"/>
                  </a:schemeClr>
                </a:solidFill>
                <a:latin typeface="Times New Roman Regular" panose="02020503050405090304" charset="0"/>
                <a:cs typeface="Times New Roman Regular" panose="02020503050405090304" charset="0"/>
              </a:rPr>
              <a:t>...</a:t>
            </a:r>
            <a:endParaRPr lang="zh-CN" altLang="en-US">
              <a:solidFill>
                <a:schemeClr val="tx1">
                  <a:lumMod val="50000"/>
                  <a:lumOff val="50000"/>
                </a:schemeClr>
              </a:solidFill>
              <a:latin typeface="Times New Roman Regular" panose="02020503050405090304" charset="0"/>
              <a:cs typeface="Times New Roman Regular" panose="02020503050405090304" charset="0"/>
            </a:endParaRPr>
          </a:p>
          <a:p>
            <a:endParaRPr lang="zh-CN" altLang="en-US">
              <a:solidFill>
                <a:schemeClr val="tx1">
                  <a:lumMod val="50000"/>
                  <a:lumOff val="50000"/>
                </a:schemeClr>
              </a:solidFill>
              <a:latin typeface="Times New Roman Regular" panose="02020503050405090304" charset="0"/>
              <a:cs typeface="Times New Roman Regular" panose="02020503050405090304" charset="0"/>
            </a:endParaRPr>
          </a:p>
        </p:txBody>
      </p:sp>
      <p:sp>
        <p:nvSpPr>
          <p:cNvPr id="42" name="文本框 41"/>
          <p:cNvSpPr txBox="1"/>
          <p:nvPr/>
        </p:nvSpPr>
        <p:spPr>
          <a:xfrm>
            <a:off x="6965950" y="889635"/>
            <a:ext cx="4208145" cy="645160"/>
          </a:xfrm>
          <a:prstGeom prst="rect">
            <a:avLst/>
          </a:prstGeom>
          <a:noFill/>
        </p:spPr>
        <p:txBody>
          <a:bodyPr wrap="square" rtlCol="0">
            <a:spAutoFit/>
          </a:bodyPr>
          <a:lstStyle/>
          <a:p>
            <a:r>
              <a:rPr lang="zh-CN" altLang="en-US">
                <a:solidFill>
                  <a:schemeClr val="tx2"/>
                </a:solidFill>
              </a:rPr>
              <a:t>如果安全事件增加一个标准差，</a:t>
            </a:r>
          </a:p>
          <a:p>
            <a:r>
              <a:rPr lang="zh-CN" altLang="en-US">
                <a:solidFill>
                  <a:schemeClr val="tx2"/>
                </a:solidFill>
              </a:rPr>
              <a:t>未来</a:t>
            </a:r>
            <a:r>
              <a:rPr lang="en-US" altLang="zh-CN" b="1">
                <a:solidFill>
                  <a:schemeClr val="tx2"/>
                </a:solidFill>
              </a:rPr>
              <a:t>8</a:t>
            </a:r>
            <a:r>
              <a:rPr lang="zh-CN" altLang="en-US">
                <a:solidFill>
                  <a:schemeClr val="tx2"/>
                </a:solidFill>
              </a:rPr>
              <a:t>周航道通行量会怎么反应？</a:t>
            </a: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760" y="193675"/>
            <a:ext cx="6647815"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事件研究：</a:t>
            </a:r>
            <a:r>
              <a:rPr kumimoji="0" lang="en-US" altLang="zh-CN"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2023-11-19</a:t>
            </a: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劫持事件</a:t>
            </a:r>
          </a:p>
        </p:txBody>
      </p:sp>
      <p:pic>
        <p:nvPicPr>
          <p:cNvPr id="52" name="图片 51"/>
          <p:cNvPicPr>
            <a:picLocks noChangeAspect="1"/>
          </p:cNvPicPr>
          <p:nvPr/>
        </p:nvPicPr>
        <p:blipFill>
          <a:blip r:embed="rId6" cstate="print">
            <a:extLst>
              <a:ext uri="{BEBA8EAE-BF5A-486C-A8C5-ECC9F3942E4B}">
                <a14:imgProps xmlns:a14="http://schemas.microsoft.com/office/drawing/2010/main">
                  <a14:imgLayer r:embed="rId7">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p:cNvGrpSpPr/>
          <p:nvPr/>
        </p:nvGrpSpPr>
        <p:grpSpPr>
          <a:xfrm>
            <a:off x="9154205" y="116633"/>
            <a:ext cx="2764918" cy="612776"/>
            <a:chOff x="1018596" y="583069"/>
            <a:chExt cx="4663274" cy="1033500"/>
          </a:xfrm>
        </p:grpSpPr>
        <p:pic>
          <p:nvPicPr>
            <p:cNvPr id="44" name="图片 43"/>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13" name="矩形 12"/>
          <p:cNvSpPr/>
          <p:nvPr/>
        </p:nvSpPr>
        <p:spPr>
          <a:xfrm>
            <a:off x="1578610" y="5375275"/>
            <a:ext cx="9067800" cy="975995"/>
          </a:xfrm>
          <a:prstGeom prst="rect">
            <a:avLst/>
          </a:prstGeom>
        </p:spPr>
        <p:txBody>
          <a:bodyPr wrap="square">
            <a:spAutoFit/>
          </a:bodyPr>
          <a:lstStyle/>
          <a:p>
            <a:pPr algn="l">
              <a:lnSpc>
                <a:spcPct val="120000"/>
              </a:lnSpc>
            </a:pPr>
            <a:r>
              <a:rPr lang="zh-CN" altLang="en-US" sz="1600" dirty="0">
                <a:solidFill>
                  <a:srgbClr val="E7E6E6">
                    <a:lumMod val="50000"/>
                  </a:srgbClr>
                </a:solidFill>
                <a:latin typeface="微软雅黑"/>
                <a:ea typeface="微软雅黑"/>
              </a:rPr>
              <a:t>断点后最初 30 天变化较小，但在断点后 31-90 天和 91-180 天，航道结构开始出现明显分化：</a:t>
            </a:r>
          </a:p>
          <a:p>
            <a:pPr algn="l">
              <a:lnSpc>
                <a:spcPct val="120000"/>
              </a:lnSpc>
            </a:pPr>
            <a:r>
              <a:rPr lang="zh-CN" altLang="en-US" sz="1600" dirty="0">
                <a:solidFill>
                  <a:srgbClr val="E7E6E6">
                    <a:lumMod val="50000"/>
                  </a:srgbClr>
                </a:solidFill>
                <a:latin typeface="微软雅黑"/>
                <a:ea typeface="微软雅黑"/>
              </a:rPr>
              <a:t>曼德海峡和苏伊士运河通行量持续低于断点前基准，好望角通行量和绕航指数显著高于基准。</a:t>
            </a:r>
          </a:p>
          <a:p>
            <a:pPr algn="l">
              <a:lnSpc>
                <a:spcPct val="120000"/>
              </a:lnSpc>
            </a:pPr>
            <a:r>
              <a:rPr lang="zh-CN" altLang="en-US" sz="1600" b="1" dirty="0">
                <a:solidFill>
                  <a:srgbClr val="E7E6E6">
                    <a:lumMod val="50000"/>
                  </a:srgbClr>
                </a:solidFill>
                <a:latin typeface="微软雅黑"/>
                <a:ea typeface="微软雅黑"/>
              </a:rPr>
              <a:t>断点后不是立即跳变，而是逐步调整。</a:t>
            </a:r>
          </a:p>
        </p:txBody>
      </p:sp>
      <p:sp>
        <p:nvSpPr>
          <p:cNvPr id="14" name="矩形 13"/>
          <p:cNvSpPr/>
          <p:nvPr/>
        </p:nvSpPr>
        <p:spPr>
          <a:xfrm>
            <a:off x="5071745" y="4860290"/>
            <a:ext cx="2081530" cy="460375"/>
          </a:xfrm>
          <a:prstGeom prst="rect">
            <a:avLst/>
          </a:prstGeom>
        </p:spPr>
        <p:txBody>
          <a:bodyPr wrap="square">
            <a:spAutoFit/>
          </a:bodyPr>
          <a:lstStyle/>
          <a:p>
            <a:pPr algn="ctr">
              <a:lnSpc>
                <a:spcPct val="120000"/>
              </a:lnSpc>
            </a:pPr>
            <a:r>
              <a:rPr lang="zh-CN" altLang="en-US" sz="2000" b="1" dirty="0">
                <a:solidFill>
                  <a:srgbClr val="E7E6E6">
                    <a:lumMod val="50000"/>
                  </a:srgbClr>
                </a:solidFill>
                <a:latin typeface="微软雅黑"/>
                <a:ea typeface="微软雅黑"/>
              </a:rPr>
              <a:t>构造事件研究</a:t>
            </a:r>
          </a:p>
        </p:txBody>
      </p:sp>
      <p:cxnSp>
        <p:nvCxnSpPr>
          <p:cNvPr id="15" name="直接连接符 14"/>
          <p:cNvCxnSpPr/>
          <p:nvPr/>
        </p:nvCxnSpPr>
        <p:spPr>
          <a:xfrm>
            <a:off x="5960269" y="5336205"/>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3" name="箭头: 五边形 22"/>
          <p:cNvSpPr/>
          <p:nvPr/>
        </p:nvSpPr>
        <p:spPr>
          <a:xfrm>
            <a:off x="7730771" y="1949603"/>
            <a:ext cx="720080" cy="1479532"/>
          </a:xfrm>
          <a:prstGeom prst="homePlate">
            <a:avLst>
              <a:gd name="adj" fmla="val 79183"/>
            </a:avLst>
          </a:prstGeom>
          <a:gradFill flip="none" rotWithShape="1">
            <a:gsLst>
              <a:gs pos="53000">
                <a:srgbClr val="FFC000">
                  <a:alpha val="20000"/>
                </a:srgbClr>
              </a:gs>
              <a:gs pos="3000">
                <a:srgbClr val="FFC000">
                  <a:alpha val="0"/>
                </a:srgbClr>
              </a:gs>
              <a:gs pos="100000">
                <a:srgbClr val="FFC00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五边形 23"/>
          <p:cNvSpPr/>
          <p:nvPr/>
        </p:nvSpPr>
        <p:spPr>
          <a:xfrm flipH="1">
            <a:off x="188357" y="1949625"/>
            <a:ext cx="720080" cy="1479532"/>
          </a:xfrm>
          <a:prstGeom prst="homePlate">
            <a:avLst>
              <a:gd name="adj" fmla="val 79183"/>
            </a:avLst>
          </a:prstGeom>
          <a:gradFill flip="none" rotWithShape="1">
            <a:gsLst>
              <a:gs pos="53000">
                <a:srgbClr val="FFC000">
                  <a:alpha val="20000"/>
                </a:srgbClr>
              </a:gs>
              <a:gs pos="3000">
                <a:srgbClr val="FFC000">
                  <a:alpha val="0"/>
                </a:srgbClr>
              </a:gs>
              <a:gs pos="100000">
                <a:srgbClr val="FFC00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red_sea_event_study_2023_11_19"/>
          <p:cNvPicPr>
            <a:picLocks noChangeAspect="1"/>
          </p:cNvPicPr>
          <p:nvPr/>
        </p:nvPicPr>
        <p:blipFill>
          <a:blip r:embed="rId10"/>
          <a:stretch>
            <a:fillRect/>
          </a:stretch>
        </p:blipFill>
        <p:spPr>
          <a:xfrm>
            <a:off x="1127760" y="998855"/>
            <a:ext cx="6383655" cy="3940810"/>
          </a:xfrm>
          <a:prstGeom prst="rect">
            <a:avLst/>
          </a:prstGeom>
        </p:spPr>
      </p:pic>
      <p:sp>
        <p:nvSpPr>
          <p:cNvPr id="3" name="矩形 2"/>
          <p:cNvSpPr/>
          <p:nvPr>
            <p:custDataLst>
              <p:tags r:id="rId1"/>
            </p:custDataLst>
          </p:nvPr>
        </p:nvSpPr>
        <p:spPr>
          <a:xfrm>
            <a:off x="9064625" y="1868170"/>
            <a:ext cx="2117725" cy="460375"/>
          </a:xfrm>
          <a:prstGeom prst="rect">
            <a:avLst/>
          </a:prstGeom>
        </p:spPr>
        <p:txBody>
          <a:bodyPr wrap="square">
            <a:spAutoFit/>
          </a:bodyPr>
          <a:lstStyle/>
          <a:p>
            <a:pPr algn="ctr">
              <a:lnSpc>
                <a:spcPct val="120000"/>
              </a:lnSpc>
            </a:pPr>
            <a:r>
              <a:rPr lang="zh-CN" altLang="en-US" sz="2000" b="1" dirty="0">
                <a:solidFill>
                  <a:schemeClr val="tx2"/>
                </a:solidFill>
                <a:latin typeface="微软雅黑"/>
                <a:ea typeface="微软雅黑"/>
              </a:rPr>
              <a:t>构造事件研究</a:t>
            </a:r>
          </a:p>
        </p:txBody>
      </p:sp>
      <p:sp>
        <p:nvSpPr>
          <p:cNvPr id="8" name="矩形 7"/>
          <p:cNvSpPr/>
          <p:nvPr>
            <p:custDataLst>
              <p:tags r:id="rId2"/>
            </p:custDataLst>
          </p:nvPr>
        </p:nvSpPr>
        <p:spPr>
          <a:xfrm>
            <a:off x="9064625" y="2533015"/>
            <a:ext cx="2117725" cy="460375"/>
          </a:xfrm>
          <a:prstGeom prst="rect">
            <a:avLst/>
          </a:prstGeom>
        </p:spPr>
        <p:txBody>
          <a:bodyPr wrap="square">
            <a:spAutoFit/>
          </a:bodyPr>
          <a:lstStyle/>
          <a:p>
            <a:pPr algn="ctr">
              <a:lnSpc>
                <a:spcPct val="120000"/>
              </a:lnSpc>
            </a:pPr>
            <a:r>
              <a:rPr lang="zh-CN" altLang="en-US" sz="2000" b="1" dirty="0">
                <a:solidFill>
                  <a:srgbClr val="E7E6E6">
                    <a:lumMod val="50000"/>
                  </a:srgbClr>
                </a:solidFill>
                <a:latin typeface="微软雅黑"/>
                <a:ea typeface="微软雅黑"/>
              </a:rPr>
              <a:t>中断时间序列</a:t>
            </a:r>
          </a:p>
        </p:txBody>
      </p:sp>
      <p:sp>
        <p:nvSpPr>
          <p:cNvPr id="9" name="矩形 8"/>
          <p:cNvSpPr/>
          <p:nvPr>
            <p:custDataLst>
              <p:tags r:id="rId3"/>
            </p:custDataLst>
          </p:nvPr>
        </p:nvSpPr>
        <p:spPr>
          <a:xfrm>
            <a:off x="8927465" y="3197860"/>
            <a:ext cx="2454275" cy="460375"/>
          </a:xfrm>
          <a:prstGeom prst="rect">
            <a:avLst/>
          </a:prstGeom>
        </p:spPr>
        <p:txBody>
          <a:bodyPr wrap="square">
            <a:spAutoFit/>
          </a:bodyPr>
          <a:lstStyle/>
          <a:p>
            <a:pPr algn="ctr">
              <a:lnSpc>
                <a:spcPct val="120000"/>
              </a:lnSpc>
            </a:pPr>
            <a:r>
              <a:rPr lang="en-US" altLang="zh-CN" sz="2000" b="1" dirty="0">
                <a:solidFill>
                  <a:srgbClr val="E7E6E6">
                    <a:lumMod val="50000"/>
                  </a:srgbClr>
                </a:solidFill>
                <a:latin typeface="微软雅黑"/>
                <a:ea typeface="微软雅黑"/>
              </a:rPr>
              <a:t>Chow</a:t>
            </a:r>
            <a:r>
              <a:rPr lang="zh-CN" altLang="en-US" sz="2000" b="1" dirty="0">
                <a:solidFill>
                  <a:srgbClr val="E7E6E6">
                    <a:lumMod val="50000"/>
                  </a:srgbClr>
                </a:solidFill>
                <a:latin typeface="微软雅黑"/>
                <a:ea typeface="微软雅黑"/>
              </a:rPr>
              <a:t>结构突变检验</a:t>
            </a:r>
          </a:p>
        </p:txBody>
      </p:sp>
      <p:sp>
        <p:nvSpPr>
          <p:cNvPr id="12" name="下箭头 11"/>
          <p:cNvSpPr/>
          <p:nvPr/>
        </p:nvSpPr>
        <p:spPr>
          <a:xfrm>
            <a:off x="10110470" y="2297430"/>
            <a:ext cx="75565" cy="300355"/>
          </a:xfrm>
          <a:prstGeom prst="down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下箭头 25"/>
          <p:cNvSpPr/>
          <p:nvPr>
            <p:custDataLst>
              <p:tags r:id="rId4"/>
            </p:custDataLst>
          </p:nvPr>
        </p:nvSpPr>
        <p:spPr>
          <a:xfrm>
            <a:off x="10123170" y="2950210"/>
            <a:ext cx="75565" cy="300355"/>
          </a:xfrm>
          <a:prstGeom prst="down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760" y="193675"/>
            <a:ext cx="6647815"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事件研究：</a:t>
            </a:r>
            <a:r>
              <a:rPr kumimoji="0" lang="en-US" altLang="zh-CN"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2023-11-19</a:t>
            </a: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劫持事件</a:t>
            </a:r>
          </a:p>
        </p:txBody>
      </p:sp>
      <p:pic>
        <p:nvPicPr>
          <p:cNvPr id="52" name="图片 51"/>
          <p:cNvPicPr>
            <a:picLocks noChangeAspect="1"/>
          </p:cNvPicPr>
          <p:nvPr/>
        </p:nvPicPr>
        <p:blipFill>
          <a:blip r:embed="rId6" cstate="print">
            <a:extLst>
              <a:ext uri="{BEBA8EAE-BF5A-486C-A8C5-ECC9F3942E4B}">
                <a14:imgProps xmlns:a14="http://schemas.microsoft.com/office/drawing/2010/main">
                  <a14:imgLayer r:embed="rId7">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p:cNvGrpSpPr/>
          <p:nvPr/>
        </p:nvGrpSpPr>
        <p:grpSpPr>
          <a:xfrm>
            <a:off x="9154205" y="116633"/>
            <a:ext cx="2764918" cy="612776"/>
            <a:chOff x="1018596" y="583069"/>
            <a:chExt cx="4663274" cy="1033500"/>
          </a:xfrm>
        </p:grpSpPr>
        <p:pic>
          <p:nvPicPr>
            <p:cNvPr id="44" name="图片 43"/>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13" name="矩形 12"/>
          <p:cNvSpPr/>
          <p:nvPr/>
        </p:nvSpPr>
        <p:spPr>
          <a:xfrm>
            <a:off x="2663825" y="5945505"/>
            <a:ext cx="7103110" cy="386080"/>
          </a:xfrm>
          <a:prstGeom prst="rect">
            <a:avLst/>
          </a:prstGeom>
        </p:spPr>
        <p:txBody>
          <a:bodyPr wrap="square">
            <a:spAutoFit/>
          </a:bodyPr>
          <a:lstStyle/>
          <a:p>
            <a:pPr algn="l">
              <a:lnSpc>
                <a:spcPct val="120000"/>
              </a:lnSpc>
            </a:pPr>
            <a:r>
              <a:rPr lang="zh-CN" altLang="en-US" sz="1600" dirty="0">
                <a:solidFill>
                  <a:srgbClr val="E7E6E6">
                    <a:lumMod val="50000"/>
                  </a:srgbClr>
                </a:solidFill>
                <a:latin typeface="微软雅黑"/>
                <a:ea typeface="微软雅黑"/>
              </a:rPr>
              <a:t>红海危机的影响并非短期噪声，而是在更长样本中形成了持续的航道结构变化。</a:t>
            </a:r>
          </a:p>
        </p:txBody>
      </p:sp>
      <p:sp>
        <p:nvSpPr>
          <p:cNvPr id="14" name="矩形 13"/>
          <p:cNvSpPr/>
          <p:nvPr/>
        </p:nvSpPr>
        <p:spPr>
          <a:xfrm>
            <a:off x="5174615" y="5453380"/>
            <a:ext cx="2081530" cy="460375"/>
          </a:xfrm>
          <a:prstGeom prst="rect">
            <a:avLst/>
          </a:prstGeom>
        </p:spPr>
        <p:txBody>
          <a:bodyPr wrap="square">
            <a:spAutoFit/>
          </a:bodyPr>
          <a:lstStyle/>
          <a:p>
            <a:pPr algn="ctr">
              <a:lnSpc>
                <a:spcPct val="120000"/>
              </a:lnSpc>
            </a:pPr>
            <a:r>
              <a:rPr lang="zh-CN" altLang="en-US" sz="2000" b="1" dirty="0">
                <a:solidFill>
                  <a:srgbClr val="E7E6E6">
                    <a:lumMod val="50000"/>
                  </a:srgbClr>
                </a:solidFill>
                <a:latin typeface="微软雅黑"/>
                <a:ea typeface="微软雅黑"/>
              </a:rPr>
              <a:t>中断时间序列</a:t>
            </a:r>
          </a:p>
        </p:txBody>
      </p:sp>
      <p:cxnSp>
        <p:nvCxnSpPr>
          <p:cNvPr id="15" name="直接连接符 14"/>
          <p:cNvCxnSpPr/>
          <p:nvPr/>
        </p:nvCxnSpPr>
        <p:spPr>
          <a:xfrm>
            <a:off x="6052979" y="5929930"/>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3" name="箭头: 五边形 22"/>
          <p:cNvSpPr/>
          <p:nvPr/>
        </p:nvSpPr>
        <p:spPr>
          <a:xfrm>
            <a:off x="6312816" y="2359178"/>
            <a:ext cx="720080" cy="1479532"/>
          </a:xfrm>
          <a:prstGeom prst="homePlate">
            <a:avLst>
              <a:gd name="adj" fmla="val 79183"/>
            </a:avLst>
          </a:prstGeom>
          <a:gradFill flip="none" rotWithShape="1">
            <a:gsLst>
              <a:gs pos="53000">
                <a:srgbClr val="FFC000">
                  <a:alpha val="20000"/>
                </a:srgbClr>
              </a:gs>
              <a:gs pos="3000">
                <a:srgbClr val="FFC000">
                  <a:alpha val="0"/>
                </a:srgbClr>
              </a:gs>
              <a:gs pos="100000">
                <a:srgbClr val="FFC00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五边形 23"/>
          <p:cNvSpPr/>
          <p:nvPr/>
        </p:nvSpPr>
        <p:spPr>
          <a:xfrm flipH="1">
            <a:off x="200422" y="2361105"/>
            <a:ext cx="720080" cy="1479532"/>
          </a:xfrm>
          <a:prstGeom prst="homePlate">
            <a:avLst>
              <a:gd name="adj" fmla="val 79183"/>
            </a:avLst>
          </a:prstGeom>
          <a:gradFill flip="none" rotWithShape="1">
            <a:gsLst>
              <a:gs pos="53000">
                <a:srgbClr val="FFC000">
                  <a:alpha val="20000"/>
                </a:srgbClr>
              </a:gs>
              <a:gs pos="3000">
                <a:srgbClr val="FFC000">
                  <a:alpha val="0"/>
                </a:srgbClr>
              </a:gs>
              <a:gs pos="100000">
                <a:srgbClr val="FFC00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custDataLst>
              <p:tags r:id="rId1"/>
            </p:custDataLst>
          </p:nvPr>
        </p:nvSpPr>
        <p:spPr>
          <a:xfrm>
            <a:off x="9064625" y="1868170"/>
            <a:ext cx="2117725" cy="460375"/>
          </a:xfrm>
          <a:prstGeom prst="rect">
            <a:avLst/>
          </a:prstGeom>
        </p:spPr>
        <p:txBody>
          <a:bodyPr wrap="square">
            <a:spAutoFit/>
          </a:bodyPr>
          <a:lstStyle/>
          <a:p>
            <a:pPr algn="ctr">
              <a:lnSpc>
                <a:spcPct val="120000"/>
              </a:lnSpc>
            </a:pPr>
            <a:r>
              <a:rPr lang="zh-CN" altLang="en-US" sz="2000" b="1" dirty="0">
                <a:solidFill>
                  <a:srgbClr val="E7E6E6">
                    <a:lumMod val="50000"/>
                  </a:srgbClr>
                </a:solidFill>
                <a:latin typeface="微软雅黑"/>
                <a:ea typeface="微软雅黑"/>
              </a:rPr>
              <a:t>构造事件研究</a:t>
            </a:r>
          </a:p>
        </p:txBody>
      </p:sp>
      <p:sp>
        <p:nvSpPr>
          <p:cNvPr id="8" name="矩形 7"/>
          <p:cNvSpPr/>
          <p:nvPr>
            <p:custDataLst>
              <p:tags r:id="rId2"/>
            </p:custDataLst>
          </p:nvPr>
        </p:nvSpPr>
        <p:spPr>
          <a:xfrm>
            <a:off x="9064625" y="2533015"/>
            <a:ext cx="2117725" cy="460375"/>
          </a:xfrm>
          <a:prstGeom prst="rect">
            <a:avLst/>
          </a:prstGeom>
        </p:spPr>
        <p:txBody>
          <a:bodyPr wrap="square">
            <a:spAutoFit/>
          </a:bodyPr>
          <a:lstStyle/>
          <a:p>
            <a:pPr algn="ctr">
              <a:lnSpc>
                <a:spcPct val="120000"/>
              </a:lnSpc>
            </a:pPr>
            <a:r>
              <a:rPr lang="zh-CN" altLang="en-US" sz="2000" b="1" dirty="0">
                <a:solidFill>
                  <a:schemeClr val="tx2"/>
                </a:solidFill>
                <a:latin typeface="微软雅黑"/>
                <a:ea typeface="微软雅黑"/>
              </a:rPr>
              <a:t>中断时间序列</a:t>
            </a:r>
          </a:p>
        </p:txBody>
      </p:sp>
      <p:sp>
        <p:nvSpPr>
          <p:cNvPr id="9" name="矩形 8"/>
          <p:cNvSpPr/>
          <p:nvPr>
            <p:custDataLst>
              <p:tags r:id="rId3"/>
            </p:custDataLst>
          </p:nvPr>
        </p:nvSpPr>
        <p:spPr>
          <a:xfrm>
            <a:off x="8927465" y="3197860"/>
            <a:ext cx="2454275" cy="460375"/>
          </a:xfrm>
          <a:prstGeom prst="rect">
            <a:avLst/>
          </a:prstGeom>
        </p:spPr>
        <p:txBody>
          <a:bodyPr wrap="square">
            <a:spAutoFit/>
          </a:bodyPr>
          <a:lstStyle/>
          <a:p>
            <a:pPr algn="ctr">
              <a:lnSpc>
                <a:spcPct val="120000"/>
              </a:lnSpc>
            </a:pPr>
            <a:r>
              <a:rPr lang="en-US" altLang="zh-CN" sz="2000" b="1" dirty="0">
                <a:solidFill>
                  <a:srgbClr val="E7E6E6">
                    <a:lumMod val="50000"/>
                  </a:srgbClr>
                </a:solidFill>
                <a:latin typeface="微软雅黑"/>
                <a:ea typeface="微软雅黑"/>
              </a:rPr>
              <a:t>Chow</a:t>
            </a:r>
            <a:r>
              <a:rPr lang="zh-CN" altLang="en-US" sz="2000" b="1" dirty="0">
                <a:solidFill>
                  <a:srgbClr val="E7E6E6">
                    <a:lumMod val="50000"/>
                  </a:srgbClr>
                </a:solidFill>
                <a:latin typeface="微软雅黑"/>
                <a:ea typeface="微软雅黑"/>
              </a:rPr>
              <a:t>结构突变检验</a:t>
            </a:r>
          </a:p>
        </p:txBody>
      </p:sp>
      <p:sp>
        <p:nvSpPr>
          <p:cNvPr id="12" name="下箭头 11"/>
          <p:cNvSpPr/>
          <p:nvPr/>
        </p:nvSpPr>
        <p:spPr>
          <a:xfrm>
            <a:off x="10110470" y="2297430"/>
            <a:ext cx="75565" cy="300355"/>
          </a:xfrm>
          <a:prstGeom prst="down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下箭头 25"/>
          <p:cNvSpPr/>
          <p:nvPr>
            <p:custDataLst>
              <p:tags r:id="rId4"/>
            </p:custDataLst>
          </p:nvPr>
        </p:nvSpPr>
        <p:spPr>
          <a:xfrm>
            <a:off x="10123170" y="2950210"/>
            <a:ext cx="75565" cy="300355"/>
          </a:xfrm>
          <a:prstGeom prst="down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1" name="图片 10" descr="red_sea_interrupted_time_series_2023_11_19"/>
          <p:cNvPicPr>
            <a:picLocks noChangeAspect="1"/>
          </p:cNvPicPr>
          <p:nvPr/>
        </p:nvPicPr>
        <p:blipFill>
          <a:blip r:embed="rId10"/>
          <a:stretch>
            <a:fillRect/>
          </a:stretch>
        </p:blipFill>
        <p:spPr>
          <a:xfrm>
            <a:off x="965200" y="837565"/>
            <a:ext cx="5302885" cy="44202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760" y="193675"/>
            <a:ext cx="6647815"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事件研究：</a:t>
            </a:r>
            <a:r>
              <a:rPr kumimoji="0" lang="en-US" altLang="zh-CN"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2023-11-19</a:t>
            </a: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劫持事件</a:t>
            </a:r>
          </a:p>
        </p:txBody>
      </p:sp>
      <p:pic>
        <p:nvPicPr>
          <p:cNvPr id="52" name="图片 51"/>
          <p:cNvPicPr>
            <a:picLocks noChangeAspect="1"/>
          </p:cNvPicPr>
          <p:nvPr/>
        </p:nvPicPr>
        <p:blipFill>
          <a:blip r:embed="rId7" cstate="print">
            <a:extLst>
              <a:ext uri="{BEBA8EAE-BF5A-486C-A8C5-ECC9F3942E4B}">
                <a14:imgProps xmlns:a14="http://schemas.microsoft.com/office/drawing/2010/main">
                  <a14:imgLayer r:embed="rId8">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p:cNvGrpSpPr/>
          <p:nvPr/>
        </p:nvGrpSpPr>
        <p:grpSpPr>
          <a:xfrm>
            <a:off x="9154205" y="116633"/>
            <a:ext cx="2764918" cy="612776"/>
            <a:chOff x="1018596" y="583069"/>
            <a:chExt cx="4663274" cy="1033500"/>
          </a:xfrm>
        </p:grpSpPr>
        <p:pic>
          <p:nvPicPr>
            <p:cNvPr id="44" name="图片 43"/>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13" name="矩形 12"/>
          <p:cNvSpPr/>
          <p:nvPr/>
        </p:nvSpPr>
        <p:spPr>
          <a:xfrm>
            <a:off x="6951980" y="4921250"/>
            <a:ext cx="4735830" cy="975995"/>
          </a:xfrm>
          <a:prstGeom prst="rect">
            <a:avLst/>
          </a:prstGeom>
        </p:spPr>
        <p:txBody>
          <a:bodyPr wrap="square">
            <a:spAutoFit/>
          </a:bodyPr>
          <a:lstStyle/>
          <a:p>
            <a:pPr algn="l">
              <a:lnSpc>
                <a:spcPct val="120000"/>
              </a:lnSpc>
            </a:pPr>
            <a:r>
              <a:rPr lang="zh-CN" altLang="en-US" sz="1600" dirty="0">
                <a:solidFill>
                  <a:srgbClr val="E7E6E6">
                    <a:lumMod val="50000"/>
                  </a:srgbClr>
                </a:solidFill>
                <a:latin typeface="微软雅黑"/>
                <a:ea typeface="微软雅黑"/>
              </a:rPr>
              <a:t>曼德海峡和苏伊士运河通行量的 Chow 检验未达到常规显著水平，说明其变化更像是断点后逐渐调整，而不是简单的模型参数整体突变。</a:t>
            </a:r>
          </a:p>
        </p:txBody>
      </p:sp>
      <p:cxnSp>
        <p:nvCxnSpPr>
          <p:cNvPr id="15" name="直接连接符 14"/>
          <p:cNvCxnSpPr/>
          <p:nvPr/>
        </p:nvCxnSpPr>
        <p:spPr>
          <a:xfrm>
            <a:off x="9184164" y="4871385"/>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3" name="箭头: 五边形 22"/>
          <p:cNvSpPr/>
          <p:nvPr/>
        </p:nvSpPr>
        <p:spPr>
          <a:xfrm>
            <a:off x="6951626" y="2688108"/>
            <a:ext cx="720080" cy="1479532"/>
          </a:xfrm>
          <a:prstGeom prst="homePlate">
            <a:avLst>
              <a:gd name="adj" fmla="val 79183"/>
            </a:avLst>
          </a:prstGeom>
          <a:gradFill flip="none" rotWithShape="1">
            <a:gsLst>
              <a:gs pos="53000">
                <a:srgbClr val="FFC000">
                  <a:alpha val="20000"/>
                </a:srgbClr>
              </a:gs>
              <a:gs pos="3000">
                <a:srgbClr val="FFC000">
                  <a:alpha val="0"/>
                </a:srgbClr>
              </a:gs>
              <a:gs pos="100000">
                <a:srgbClr val="FFC00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五边形 23"/>
          <p:cNvSpPr/>
          <p:nvPr/>
        </p:nvSpPr>
        <p:spPr>
          <a:xfrm flipH="1">
            <a:off x="200422" y="2688130"/>
            <a:ext cx="720080" cy="1479532"/>
          </a:xfrm>
          <a:prstGeom prst="homePlate">
            <a:avLst>
              <a:gd name="adj" fmla="val 79183"/>
            </a:avLst>
          </a:prstGeom>
          <a:gradFill flip="none" rotWithShape="1">
            <a:gsLst>
              <a:gs pos="53000">
                <a:srgbClr val="FFC000">
                  <a:alpha val="20000"/>
                </a:srgbClr>
              </a:gs>
              <a:gs pos="3000">
                <a:srgbClr val="FFC000">
                  <a:alpha val="0"/>
                </a:srgbClr>
              </a:gs>
              <a:gs pos="100000">
                <a:srgbClr val="FFC00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custDataLst>
              <p:tags r:id="rId1"/>
            </p:custDataLst>
          </p:nvPr>
        </p:nvSpPr>
        <p:spPr>
          <a:xfrm>
            <a:off x="9064625" y="1868170"/>
            <a:ext cx="2117725" cy="460375"/>
          </a:xfrm>
          <a:prstGeom prst="rect">
            <a:avLst/>
          </a:prstGeom>
        </p:spPr>
        <p:txBody>
          <a:bodyPr wrap="square">
            <a:spAutoFit/>
          </a:bodyPr>
          <a:lstStyle/>
          <a:p>
            <a:pPr algn="ctr">
              <a:lnSpc>
                <a:spcPct val="120000"/>
              </a:lnSpc>
            </a:pPr>
            <a:r>
              <a:rPr lang="zh-CN" altLang="en-US" sz="2000" b="1" dirty="0">
                <a:solidFill>
                  <a:srgbClr val="E7E6E6">
                    <a:lumMod val="50000"/>
                  </a:srgbClr>
                </a:solidFill>
                <a:latin typeface="微软雅黑"/>
                <a:ea typeface="微软雅黑"/>
              </a:rPr>
              <a:t>构造事件研究</a:t>
            </a:r>
          </a:p>
        </p:txBody>
      </p:sp>
      <p:sp>
        <p:nvSpPr>
          <p:cNvPr id="8" name="矩形 7"/>
          <p:cNvSpPr/>
          <p:nvPr>
            <p:custDataLst>
              <p:tags r:id="rId2"/>
            </p:custDataLst>
          </p:nvPr>
        </p:nvSpPr>
        <p:spPr>
          <a:xfrm>
            <a:off x="9064625" y="2533015"/>
            <a:ext cx="2117725" cy="460375"/>
          </a:xfrm>
          <a:prstGeom prst="rect">
            <a:avLst/>
          </a:prstGeom>
        </p:spPr>
        <p:txBody>
          <a:bodyPr wrap="square">
            <a:spAutoFit/>
          </a:bodyPr>
          <a:lstStyle/>
          <a:p>
            <a:pPr algn="ctr">
              <a:lnSpc>
                <a:spcPct val="120000"/>
              </a:lnSpc>
            </a:pPr>
            <a:r>
              <a:rPr lang="zh-CN" altLang="en-US" sz="2000" b="1" dirty="0">
                <a:solidFill>
                  <a:srgbClr val="E7E6E6">
                    <a:lumMod val="50000"/>
                  </a:srgbClr>
                </a:solidFill>
                <a:latin typeface="微软雅黑"/>
                <a:ea typeface="微软雅黑"/>
              </a:rPr>
              <a:t>中断时间序列</a:t>
            </a:r>
          </a:p>
        </p:txBody>
      </p:sp>
      <p:sp>
        <p:nvSpPr>
          <p:cNvPr id="9" name="矩形 8"/>
          <p:cNvSpPr/>
          <p:nvPr>
            <p:custDataLst>
              <p:tags r:id="rId3"/>
            </p:custDataLst>
          </p:nvPr>
        </p:nvSpPr>
        <p:spPr>
          <a:xfrm>
            <a:off x="8927465" y="3197860"/>
            <a:ext cx="2454275" cy="460375"/>
          </a:xfrm>
          <a:prstGeom prst="rect">
            <a:avLst/>
          </a:prstGeom>
        </p:spPr>
        <p:txBody>
          <a:bodyPr wrap="square">
            <a:spAutoFit/>
          </a:bodyPr>
          <a:lstStyle/>
          <a:p>
            <a:pPr algn="ctr">
              <a:lnSpc>
                <a:spcPct val="120000"/>
              </a:lnSpc>
            </a:pPr>
            <a:r>
              <a:rPr lang="en-US" altLang="zh-CN" sz="2000" b="1" dirty="0">
                <a:solidFill>
                  <a:schemeClr val="tx2"/>
                </a:solidFill>
                <a:latin typeface="微软雅黑"/>
                <a:ea typeface="微软雅黑"/>
              </a:rPr>
              <a:t>Chow</a:t>
            </a:r>
            <a:r>
              <a:rPr lang="zh-CN" altLang="en-US" sz="2000" b="1" dirty="0">
                <a:solidFill>
                  <a:schemeClr val="tx2"/>
                </a:solidFill>
                <a:latin typeface="微软雅黑"/>
                <a:ea typeface="微软雅黑"/>
              </a:rPr>
              <a:t>结构突变检验</a:t>
            </a:r>
          </a:p>
        </p:txBody>
      </p:sp>
      <p:sp>
        <p:nvSpPr>
          <p:cNvPr id="12" name="下箭头 11"/>
          <p:cNvSpPr/>
          <p:nvPr/>
        </p:nvSpPr>
        <p:spPr>
          <a:xfrm>
            <a:off x="10110470" y="2297430"/>
            <a:ext cx="75565" cy="300355"/>
          </a:xfrm>
          <a:prstGeom prst="down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下箭头 25"/>
          <p:cNvSpPr/>
          <p:nvPr>
            <p:custDataLst>
              <p:tags r:id="rId4"/>
            </p:custDataLst>
          </p:nvPr>
        </p:nvSpPr>
        <p:spPr>
          <a:xfrm>
            <a:off x="10123170" y="2950210"/>
            <a:ext cx="75565" cy="300355"/>
          </a:xfrm>
          <a:prstGeom prst="down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矩形 10"/>
          <p:cNvSpPr/>
          <p:nvPr>
            <p:custDataLst>
              <p:tags r:id="rId5"/>
            </p:custDataLst>
          </p:nvPr>
        </p:nvSpPr>
        <p:spPr>
          <a:xfrm>
            <a:off x="8093075" y="4410710"/>
            <a:ext cx="2454275" cy="460375"/>
          </a:xfrm>
          <a:prstGeom prst="rect">
            <a:avLst/>
          </a:prstGeom>
        </p:spPr>
        <p:txBody>
          <a:bodyPr wrap="square">
            <a:spAutoFit/>
          </a:bodyPr>
          <a:lstStyle/>
          <a:p>
            <a:pPr algn="ctr">
              <a:lnSpc>
                <a:spcPct val="120000"/>
              </a:lnSpc>
            </a:pPr>
            <a:r>
              <a:rPr lang="en-US" altLang="zh-CN" sz="2000" b="1" dirty="0">
                <a:solidFill>
                  <a:srgbClr val="E7E6E6">
                    <a:lumMod val="50000"/>
                  </a:srgbClr>
                </a:solidFill>
                <a:latin typeface="微软雅黑"/>
                <a:ea typeface="微软雅黑"/>
              </a:rPr>
              <a:t>Chow</a:t>
            </a:r>
            <a:r>
              <a:rPr lang="zh-CN" altLang="en-US" sz="2000" b="1" dirty="0">
                <a:solidFill>
                  <a:srgbClr val="E7E6E6">
                    <a:lumMod val="50000"/>
                  </a:srgbClr>
                </a:solidFill>
                <a:latin typeface="微软雅黑"/>
                <a:ea typeface="微软雅黑"/>
              </a:rPr>
              <a:t>结构突变检验</a:t>
            </a:r>
          </a:p>
        </p:txBody>
      </p:sp>
      <p:pic>
        <p:nvPicPr>
          <p:cNvPr id="16" name="图片 15" descr="red_sea_structural_break_2023_11_19"/>
          <p:cNvPicPr>
            <a:picLocks noChangeAspect="1"/>
          </p:cNvPicPr>
          <p:nvPr/>
        </p:nvPicPr>
        <p:blipFill>
          <a:blip r:embed="rId11"/>
          <a:stretch>
            <a:fillRect/>
          </a:stretch>
        </p:blipFill>
        <p:spPr>
          <a:xfrm>
            <a:off x="1151890" y="1086485"/>
            <a:ext cx="5616575" cy="46818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760" y="193675"/>
            <a:ext cx="6647815"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事件研究：</a:t>
            </a:r>
            <a:r>
              <a:rPr kumimoji="0" lang="en-US" altLang="zh-CN"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2023-11-19</a:t>
            </a: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劫持事件</a:t>
            </a:r>
          </a:p>
        </p:txBody>
      </p:sp>
      <p:pic>
        <p:nvPicPr>
          <p:cNvPr id="52" name="图片 51"/>
          <p:cNvPicPr>
            <a:picLocks noChangeAspect="1"/>
          </p:cNvPicPr>
          <p:nvPr/>
        </p:nvPicPr>
        <p:blipFill>
          <a:blip r:embed="rId5" cstate="print">
            <a:extLst>
              <a:ext uri="{BEBA8EAE-BF5A-486C-A8C5-ECC9F3942E4B}">
                <a14:imgProps xmlns:a14="http://schemas.microsoft.com/office/drawing/2010/main">
                  <a14:imgLayer r:embed="rId6">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p:cNvGrpSpPr/>
          <p:nvPr/>
        </p:nvGrpSpPr>
        <p:grpSpPr>
          <a:xfrm>
            <a:off x="9154205" y="116633"/>
            <a:ext cx="2764918" cy="612776"/>
            <a:chOff x="1018596" y="583069"/>
            <a:chExt cx="4663274" cy="1033500"/>
          </a:xfrm>
        </p:grpSpPr>
        <p:pic>
          <p:nvPicPr>
            <p:cNvPr id="44" name="图片 43"/>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13" name="矩形 12"/>
          <p:cNvSpPr/>
          <p:nvPr/>
        </p:nvSpPr>
        <p:spPr>
          <a:xfrm>
            <a:off x="367665" y="4673600"/>
            <a:ext cx="11362690" cy="975995"/>
          </a:xfrm>
          <a:prstGeom prst="rect">
            <a:avLst/>
          </a:prstGeom>
        </p:spPr>
        <p:txBody>
          <a:bodyPr wrap="square">
            <a:spAutoFit/>
          </a:bodyPr>
          <a:lstStyle/>
          <a:p>
            <a:pPr algn="l">
              <a:lnSpc>
                <a:spcPct val="120000"/>
              </a:lnSpc>
            </a:pPr>
            <a:r>
              <a:rPr lang="zh-CN" altLang="en-US" sz="1600" dirty="0">
                <a:solidFill>
                  <a:srgbClr val="E7E6E6">
                    <a:lumMod val="50000"/>
                  </a:srgbClr>
                </a:solidFill>
                <a:latin typeface="微软雅黑"/>
                <a:ea typeface="微软雅黑"/>
              </a:rPr>
              <a:t>综合三类断点方法，H3 获得较强支持：</a:t>
            </a:r>
          </a:p>
          <a:p>
            <a:pPr algn="l">
              <a:lnSpc>
                <a:spcPct val="120000"/>
              </a:lnSpc>
            </a:pPr>
            <a:r>
              <a:rPr lang="zh-CN" altLang="en-US" sz="1600" dirty="0">
                <a:solidFill>
                  <a:srgbClr val="E7E6E6">
                    <a:lumMod val="50000"/>
                  </a:srgbClr>
                </a:solidFill>
                <a:latin typeface="微软雅黑"/>
                <a:ea typeface="微软雅黑"/>
              </a:rPr>
              <a:t>2023 年 11 月 19 日之后，航运结构确实朝 “红海/苏伊士路径下降、好望角替代路径上升” 的方向变化。</a:t>
            </a:r>
          </a:p>
          <a:p>
            <a:pPr algn="l">
              <a:lnSpc>
                <a:spcPct val="120000"/>
              </a:lnSpc>
            </a:pPr>
            <a:r>
              <a:rPr lang="zh-CN" altLang="en-US" sz="1600" dirty="0">
                <a:solidFill>
                  <a:srgbClr val="E7E6E6">
                    <a:lumMod val="50000"/>
                  </a:srgbClr>
                </a:solidFill>
                <a:latin typeface="微软雅黑"/>
                <a:ea typeface="微软雅黑"/>
              </a:rPr>
              <a:t>由于断点前 PortWatch 样本只有 49 天，本文仍将这一证据表述为准实验式的探索性因果识别，而不是最终的强因果估计。</a:t>
            </a:r>
          </a:p>
        </p:txBody>
      </p:sp>
      <p:pic>
        <p:nvPicPr>
          <p:cNvPr id="14" name="图片 13" descr="red_sea_event_study_2023_11_19"/>
          <p:cNvPicPr>
            <a:picLocks noChangeAspect="1"/>
          </p:cNvPicPr>
          <p:nvPr>
            <p:custDataLst>
              <p:tags r:id="rId1"/>
            </p:custDataLst>
          </p:nvPr>
        </p:nvPicPr>
        <p:blipFill>
          <a:blip r:embed="rId9"/>
          <a:stretch>
            <a:fillRect/>
          </a:stretch>
        </p:blipFill>
        <p:spPr>
          <a:xfrm>
            <a:off x="285115" y="1243330"/>
            <a:ext cx="4288790" cy="2647950"/>
          </a:xfrm>
          <a:prstGeom prst="rect">
            <a:avLst/>
          </a:prstGeom>
        </p:spPr>
      </p:pic>
      <p:pic>
        <p:nvPicPr>
          <p:cNvPr id="16" name="图片 15" descr="red_sea_interrupted_time_series_2023_11_19"/>
          <p:cNvPicPr>
            <a:picLocks noChangeAspect="1"/>
          </p:cNvPicPr>
          <p:nvPr>
            <p:custDataLst>
              <p:tags r:id="rId2"/>
            </p:custDataLst>
          </p:nvPr>
        </p:nvPicPr>
        <p:blipFill>
          <a:blip r:embed="rId10"/>
          <a:stretch>
            <a:fillRect/>
          </a:stretch>
        </p:blipFill>
        <p:spPr>
          <a:xfrm>
            <a:off x="4824730" y="1184275"/>
            <a:ext cx="3065145" cy="2555240"/>
          </a:xfrm>
          <a:prstGeom prst="rect">
            <a:avLst/>
          </a:prstGeom>
        </p:spPr>
      </p:pic>
      <p:pic>
        <p:nvPicPr>
          <p:cNvPr id="17" name="图片 16" descr="red_sea_structural_break_2023_11_19"/>
          <p:cNvPicPr>
            <a:picLocks noChangeAspect="1"/>
          </p:cNvPicPr>
          <p:nvPr>
            <p:custDataLst>
              <p:tags r:id="rId3"/>
            </p:custDataLst>
          </p:nvPr>
        </p:nvPicPr>
        <p:blipFill>
          <a:blip r:embed="rId11"/>
          <a:stretch>
            <a:fillRect/>
          </a:stretch>
        </p:blipFill>
        <p:spPr>
          <a:xfrm>
            <a:off x="8185150" y="1158240"/>
            <a:ext cx="3176270" cy="26479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17529" y="140750"/>
            <a:ext cx="7019929" cy="7019929"/>
          </a:xfrm>
          <a:prstGeom prst="rect">
            <a:avLst/>
          </a:prstGeom>
        </p:spPr>
      </p:pic>
      <p:sp>
        <p:nvSpPr>
          <p:cNvPr id="2" name="文本占位符 3"/>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06</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讨论与解释</a:t>
            </a:r>
          </a:p>
        </p:txBody>
      </p:sp>
      <p:grpSp>
        <p:nvGrpSpPr>
          <p:cNvPr id="4" name="组合 3"/>
          <p:cNvGrpSpPr/>
          <p:nvPr/>
        </p:nvGrpSpPr>
        <p:grpSpPr>
          <a:xfrm>
            <a:off x="-3049556" y="-2033814"/>
            <a:ext cx="7489372" cy="4795157"/>
            <a:chOff x="-3802743" y="-2148114"/>
            <a:chExt cx="7489372" cy="4795157"/>
          </a:xfrm>
        </p:grpSpPr>
        <p:sp>
          <p:nvSpPr>
            <p:cNvPr id="5" name="平行四边形 4"/>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grpSp>
        <p:nvGrpSpPr>
          <p:cNvPr id="7" name="组合 6"/>
          <p:cNvGrpSpPr/>
          <p:nvPr/>
        </p:nvGrpSpPr>
        <p:grpSpPr>
          <a:xfrm flipH="1" flipV="1">
            <a:off x="7824192" y="4149080"/>
            <a:ext cx="7489372" cy="4651141"/>
            <a:chOff x="-3802743" y="-2004098"/>
            <a:chExt cx="7489372" cy="4651141"/>
          </a:xfrm>
        </p:grpSpPr>
        <p:sp>
          <p:nvSpPr>
            <p:cNvPr id="8" name="平行四边形 7"/>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9" name="平行四边形 8"/>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16" name="直接连接符 15"/>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60134" y="6274257"/>
            <a:ext cx="2583927" cy="412859"/>
          </a:xfrm>
          <a:prstGeom prst="rect">
            <a:avLst/>
          </a:prstGeom>
        </p:spPr>
      </p:pic>
      <p:grpSp>
        <p:nvGrpSpPr>
          <p:cNvPr id="23" name="组合 22"/>
          <p:cNvGrpSpPr/>
          <p:nvPr/>
        </p:nvGrpSpPr>
        <p:grpSpPr>
          <a:xfrm>
            <a:off x="9114765" y="102733"/>
            <a:ext cx="2879308" cy="743473"/>
            <a:chOff x="825667" y="458497"/>
            <a:chExt cx="4856203" cy="1253932"/>
          </a:xfrm>
        </p:grpSpPr>
        <p:pic>
          <p:nvPicPr>
            <p:cNvPr id="24" name="图片 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26" name="矩形 2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760" y="193675"/>
            <a:ext cx="6942455" cy="612775"/>
          </a:xfrm>
          <a:prstGeom prst="rect">
            <a:avLst/>
          </a:prstGeom>
        </p:spPr>
        <p:txBody>
          <a:bodyPr vert="horz" lIns="91440" tIns="45720" rIns="91440" bIns="45720" rtlCol="0">
            <a:normAutofit fontScale="80000" lnSpcReduction="10000"/>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结果解释：安全冲击如何传导到航运结构变化？</a:t>
            </a:r>
          </a:p>
        </p:txBody>
      </p:sp>
      <p:pic>
        <p:nvPicPr>
          <p:cNvPr id="52" name="图片 51"/>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p:cNvGrpSpPr/>
          <p:nvPr/>
        </p:nvGrpSpPr>
        <p:grpSpPr>
          <a:xfrm>
            <a:off x="9154205" y="116633"/>
            <a:ext cx="2764918" cy="612776"/>
            <a:chOff x="1018596" y="583069"/>
            <a:chExt cx="4663274" cy="1033500"/>
          </a:xfrm>
        </p:grpSpPr>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13" name="文本占位符 26"/>
          <p:cNvSpPr txBox="1"/>
          <p:nvPr/>
        </p:nvSpPr>
        <p:spPr>
          <a:xfrm>
            <a:off x="523875" y="1757045"/>
            <a:ext cx="2280285" cy="369570"/>
          </a:xfrm>
          <a:prstGeom prst="rect">
            <a:avLst/>
          </a:prstGeom>
        </p:spPr>
        <p:txBody>
          <a:bodyPr vert="horz" lIns="91440" tIns="45720" rIns="91440" bIns="45720" rtlCol="0"/>
          <a:lstStyle>
            <a:lvl1pPr marL="0" indent="0" algn="l" defTabSz="914400" rtl="0" eaLnBrk="1" latinLnBrk="0" hangingPunct="1">
              <a:lnSpc>
                <a:spcPct val="90000"/>
              </a:lnSpc>
              <a:spcBef>
                <a:spcPts val="1000"/>
              </a:spcBef>
              <a:buFont typeface="Arial" panose="020B060402020209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1800"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不是简单的即时冲击</a:t>
            </a:r>
          </a:p>
        </p:txBody>
      </p:sp>
      <p:sp>
        <p:nvSpPr>
          <p:cNvPr id="14" name="文本占位符 27"/>
          <p:cNvSpPr txBox="1"/>
          <p:nvPr/>
        </p:nvSpPr>
        <p:spPr>
          <a:xfrm>
            <a:off x="426085" y="2750820"/>
            <a:ext cx="2700655" cy="2935605"/>
          </a:xfrm>
          <a:prstGeom prst="rect">
            <a:avLst/>
          </a:prstGeom>
        </p:spPr>
        <p:txBody>
          <a:bodyPr vert="horz" lIns="91440" tIns="45720" rIns="91440" bIns="45720" rtlCol="0"/>
          <a:lstStyle>
            <a:lvl1pPr marL="0" marR="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R="0" lvl="0" algn="l" defTabSz="914400" rtl="0">
              <a:lnSpc>
                <a:spcPct val="120000"/>
              </a:lnSpc>
              <a:spcBef>
                <a:spcPts val="1000"/>
              </a:spcBef>
              <a:buClrTx/>
              <a:buSzTx/>
              <a:buFont typeface="Arial" panose="020B0604020202090204" pitchFamily="34" charset="0"/>
              <a:buNone/>
            </a:pPr>
            <a:r>
              <a:rPr kumimoji="0" lang="zh-CN" altLang="en-US" sz="1400" b="0" i="0" u="none" strike="noStrike" cap="none" spc="0" normalizeH="0" baseline="0" dirty="0">
                <a:solidFill>
                  <a:srgbClr val="E7E6E6">
                    <a:lumMod val="50000"/>
                  </a:srgbClr>
                </a:solidFill>
                <a:latin typeface="微软雅黑"/>
                <a:ea typeface="微软雅黑"/>
              </a:rPr>
              <a:t>安全事件增加后，并不是马上表现为“曼德海峡通行量立即下降”。</a:t>
            </a:r>
          </a:p>
          <a:p>
            <a:pPr marR="0" lvl="0" algn="l" defTabSz="914400" rtl="0">
              <a:lnSpc>
                <a:spcPct val="70000"/>
              </a:lnSpc>
              <a:spcBef>
                <a:spcPts val="1000"/>
              </a:spcBef>
              <a:buClrTx/>
              <a:buSzTx/>
              <a:buFont typeface="Arial" panose="020B0604020202090204" pitchFamily="34" charset="0"/>
              <a:buNone/>
            </a:pPr>
            <a:r>
              <a:rPr kumimoji="0" lang="zh-CN" altLang="en-US" sz="1400" b="0" i="0" u="none" strike="noStrike" cap="none" spc="0" normalizeH="0" baseline="0" dirty="0">
                <a:solidFill>
                  <a:srgbClr val="E7E6E6">
                    <a:lumMod val="50000"/>
                  </a:srgbClr>
                </a:solidFill>
                <a:latin typeface="微软雅黑"/>
                <a:ea typeface="微软雅黑"/>
              </a:rPr>
              <a:t>VAR 和 IRF 结果显示：</a:t>
            </a:r>
          </a:p>
          <a:p>
            <a:pPr marR="0" lvl="0" algn="l" defTabSz="914400" rtl="0">
              <a:lnSpc>
                <a:spcPct val="70000"/>
              </a:lnSpc>
              <a:spcBef>
                <a:spcPts val="1000"/>
              </a:spcBef>
              <a:buClrTx/>
              <a:buSzTx/>
              <a:buFont typeface="Arial" panose="020B0604020202090204" pitchFamily="34" charset="0"/>
              <a:buNone/>
            </a:pPr>
            <a:r>
              <a:rPr kumimoji="0" lang="zh-CN" altLang="en-US" sz="1400" b="0" i="0" u="none" strike="noStrike" cap="none" spc="0" normalizeH="0" baseline="0" dirty="0">
                <a:solidFill>
                  <a:srgbClr val="E7E6E6">
                    <a:lumMod val="50000"/>
                  </a:srgbClr>
                </a:solidFill>
                <a:latin typeface="微软雅黑"/>
                <a:ea typeface="微软雅黑"/>
              </a:rPr>
              <a:t>曼德海峡响应较弱、不稳定；</a:t>
            </a:r>
          </a:p>
          <a:p>
            <a:pPr marR="0" lvl="0" algn="l" defTabSz="914400" rtl="0">
              <a:lnSpc>
                <a:spcPct val="70000"/>
              </a:lnSpc>
              <a:spcBef>
                <a:spcPts val="1000"/>
              </a:spcBef>
              <a:buClrTx/>
              <a:buSzTx/>
              <a:buFont typeface="Arial" panose="020B0604020202090204" pitchFamily="34" charset="0"/>
              <a:buNone/>
            </a:pPr>
            <a:r>
              <a:rPr kumimoji="0" lang="zh-CN" altLang="en-US" sz="1400" b="0" i="0" u="none" strike="noStrike" cap="none" spc="0" normalizeH="0" baseline="0" dirty="0">
                <a:solidFill>
                  <a:srgbClr val="E7E6E6">
                    <a:lumMod val="50000"/>
                  </a:srgbClr>
                </a:solidFill>
                <a:latin typeface="微软雅黑"/>
                <a:ea typeface="微软雅黑"/>
              </a:rPr>
              <a:t>好望角通行量更能体现滞后响应。</a:t>
            </a:r>
          </a:p>
          <a:p>
            <a:pPr marR="0" lvl="0" algn="l" defTabSz="914400" rtl="0">
              <a:lnSpc>
                <a:spcPct val="120000"/>
              </a:lnSpc>
              <a:spcBef>
                <a:spcPts val="1000"/>
              </a:spcBef>
              <a:buClrTx/>
              <a:buSzTx/>
              <a:buFont typeface="Arial" panose="020B0604020202090204" pitchFamily="34" charset="0"/>
              <a:buNone/>
            </a:pPr>
            <a:r>
              <a:rPr kumimoji="0" lang="zh-CN" altLang="en-US" sz="1400" b="0" i="0" u="none" strike="noStrike" cap="none" spc="0" normalizeH="0" baseline="0" dirty="0">
                <a:solidFill>
                  <a:srgbClr val="E7E6E6">
                    <a:lumMod val="50000"/>
                  </a:srgbClr>
                </a:solidFill>
                <a:latin typeface="微软雅黑"/>
                <a:ea typeface="微软雅黑"/>
              </a:rPr>
              <a:t>这说明安全事件的影响不是单期、即时、机械式变化。</a:t>
            </a:r>
          </a:p>
        </p:txBody>
      </p:sp>
      <p:sp>
        <p:nvSpPr>
          <p:cNvPr id="15" name="文本占位符 28"/>
          <p:cNvSpPr txBox="1"/>
          <p:nvPr/>
        </p:nvSpPr>
        <p:spPr>
          <a:xfrm>
            <a:off x="2852420" y="1258570"/>
            <a:ext cx="3543300" cy="364490"/>
          </a:xfrm>
          <a:prstGeom prst="rect">
            <a:avLst/>
          </a:prstGeom>
        </p:spPr>
        <p:txBody>
          <a:bodyPr vert="horz" lIns="91440" tIns="45720" rIns="91440" bIns="45720" rtlCol="0"/>
          <a:lstStyle>
            <a:lvl1pPr marL="0" indent="0" algn="l" defTabSz="914400" rtl="0" eaLnBrk="1" latinLnBrk="0" hangingPunct="1">
              <a:lnSpc>
                <a:spcPct val="90000"/>
              </a:lnSpc>
              <a:spcBef>
                <a:spcPts val="1000"/>
              </a:spcBef>
              <a:buFont typeface="Arial" panose="020B060402020209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180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cs"/>
              </a:rPr>
              <a:t>更合理的机制是“风险预期改变”</a:t>
            </a:r>
          </a:p>
        </p:txBody>
      </p:sp>
      <p:sp>
        <p:nvSpPr>
          <p:cNvPr id="16" name="文本占位符 29"/>
          <p:cNvSpPr txBox="1"/>
          <p:nvPr/>
        </p:nvSpPr>
        <p:spPr>
          <a:xfrm>
            <a:off x="3415061" y="2750971"/>
            <a:ext cx="2378275" cy="2935367"/>
          </a:xfrm>
          <a:prstGeom prst="rect">
            <a:avLst/>
          </a:prstGeom>
        </p:spPr>
        <p:txBody>
          <a:bodyPr vert="horz" lIns="91440" tIns="45720" rIns="91440" bIns="45720" rtlCol="0">
            <a:normAutofit/>
          </a:bodyPr>
          <a:lstStyle>
            <a:lvl1pPr marL="0" marR="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l">
              <a:lnSpc>
                <a:spcPct val="110000"/>
              </a:lnSpc>
              <a:buNone/>
            </a:pPr>
            <a:r>
              <a:rPr lang="zh-CN" altLang="en-US" sz="1400" dirty="0">
                <a:solidFill>
                  <a:schemeClr val="tx2"/>
                </a:solidFill>
                <a:latin typeface="微软雅黑"/>
                <a:ea typeface="微软雅黑"/>
              </a:rPr>
              <a:t>安全事件增加后，航运企业会重新评估红海航线的综合成本：</a:t>
            </a:r>
          </a:p>
          <a:p>
            <a:pPr lvl="0" algn="l">
              <a:lnSpc>
                <a:spcPct val="70000"/>
              </a:lnSpc>
              <a:buNone/>
            </a:pPr>
            <a:r>
              <a:rPr lang="zh-CN" altLang="en-US" sz="1400" dirty="0">
                <a:solidFill>
                  <a:schemeClr val="tx2"/>
                </a:solidFill>
                <a:latin typeface="微软雅黑"/>
                <a:ea typeface="微软雅黑"/>
              </a:rPr>
              <a:t>保险成本上升；</a:t>
            </a:r>
          </a:p>
          <a:p>
            <a:pPr lvl="0" algn="l">
              <a:lnSpc>
                <a:spcPct val="70000"/>
              </a:lnSpc>
              <a:buNone/>
            </a:pPr>
            <a:r>
              <a:rPr lang="zh-CN" altLang="en-US" sz="1400" dirty="0">
                <a:solidFill>
                  <a:schemeClr val="tx2"/>
                </a:solidFill>
                <a:latin typeface="微软雅黑"/>
                <a:ea typeface="微软雅黑"/>
              </a:rPr>
              <a:t>安全风险上升；</a:t>
            </a:r>
          </a:p>
          <a:p>
            <a:pPr lvl="0" algn="l">
              <a:lnSpc>
                <a:spcPct val="70000"/>
              </a:lnSpc>
              <a:buNone/>
            </a:pPr>
            <a:r>
              <a:rPr lang="zh-CN" altLang="en-US" sz="1400" dirty="0">
                <a:solidFill>
                  <a:schemeClr val="tx2"/>
                </a:solidFill>
                <a:latin typeface="微软雅黑"/>
                <a:ea typeface="微软雅黑"/>
              </a:rPr>
              <a:t>延误和改港风险上升；</a:t>
            </a:r>
          </a:p>
          <a:p>
            <a:pPr lvl="0" algn="l">
              <a:lnSpc>
                <a:spcPct val="70000"/>
              </a:lnSpc>
              <a:buNone/>
            </a:pPr>
            <a:r>
              <a:rPr lang="zh-CN" altLang="en-US" sz="1400" dirty="0">
                <a:solidFill>
                  <a:schemeClr val="tx2"/>
                </a:solidFill>
                <a:latin typeface="微软雅黑"/>
                <a:ea typeface="微软雅黑"/>
              </a:rPr>
              <a:t>船期安排需要调整。</a:t>
            </a:r>
          </a:p>
          <a:p>
            <a:pPr lvl="0" algn="l">
              <a:lnSpc>
                <a:spcPct val="120000"/>
              </a:lnSpc>
              <a:buNone/>
            </a:pPr>
            <a:r>
              <a:rPr lang="zh-CN" altLang="en-US" sz="1400" dirty="0">
                <a:solidFill>
                  <a:schemeClr val="tx2"/>
                </a:solidFill>
                <a:latin typeface="微软雅黑"/>
                <a:ea typeface="微软雅黑"/>
              </a:rPr>
              <a:t>因此，航线调整需要时间。</a:t>
            </a:r>
          </a:p>
        </p:txBody>
      </p:sp>
      <p:sp>
        <p:nvSpPr>
          <p:cNvPr id="18" name="文本占位符 30"/>
          <p:cNvSpPr txBox="1"/>
          <p:nvPr/>
        </p:nvSpPr>
        <p:spPr>
          <a:xfrm>
            <a:off x="5960745" y="1757045"/>
            <a:ext cx="3032760" cy="364490"/>
          </a:xfrm>
          <a:prstGeom prst="rect">
            <a:avLst/>
          </a:prstGeom>
        </p:spPr>
        <p:txBody>
          <a:bodyPr vert="horz" lIns="91440" tIns="45720" rIns="91440" bIns="45720" rtlCol="0"/>
          <a:lstStyle>
            <a:lvl1pPr marL="0" indent="0" algn="l" defTabSz="914400" rtl="0" eaLnBrk="1" latinLnBrk="0" hangingPunct="1">
              <a:lnSpc>
                <a:spcPct val="90000"/>
              </a:lnSpc>
              <a:spcBef>
                <a:spcPts val="1000"/>
              </a:spcBef>
              <a:buFont typeface="Arial" panose="020B060402020209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180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好望角是更直接的绕航指标</a:t>
            </a:r>
          </a:p>
        </p:txBody>
      </p:sp>
      <p:sp>
        <p:nvSpPr>
          <p:cNvPr id="19" name="文本占位符 32"/>
          <p:cNvSpPr txBox="1"/>
          <p:nvPr/>
        </p:nvSpPr>
        <p:spPr>
          <a:xfrm>
            <a:off x="8993505" y="1278255"/>
            <a:ext cx="2925445" cy="36449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cs"/>
              </a:rPr>
              <a:t>断点分析强化了这一解释</a:t>
            </a:r>
          </a:p>
        </p:txBody>
      </p:sp>
      <p:cxnSp>
        <p:nvCxnSpPr>
          <p:cNvPr id="20" name="直接箭头连接符 19"/>
          <p:cNvCxnSpPr/>
          <p:nvPr/>
        </p:nvCxnSpPr>
        <p:spPr>
          <a:xfrm>
            <a:off x="491924" y="2399599"/>
            <a:ext cx="11113622" cy="0"/>
          </a:xfrm>
          <a:prstGeom prst="straightConnector1">
            <a:avLst/>
          </a:prstGeom>
          <a:ln w="28575">
            <a:solidFill>
              <a:srgbClr val="024282"/>
            </a:solidFill>
            <a:tailEnd type="triangle"/>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1393029" y="2255583"/>
            <a:ext cx="288032" cy="288032"/>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4317815" y="2256178"/>
            <a:ext cx="288032" cy="288032"/>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7141121" y="2255583"/>
            <a:ext cx="288032" cy="288032"/>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0065907" y="2255583"/>
            <a:ext cx="288032" cy="288032"/>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占位符 27"/>
          <p:cNvSpPr txBox="1"/>
          <p:nvPr/>
        </p:nvSpPr>
        <p:spPr>
          <a:xfrm>
            <a:off x="6081166" y="2677738"/>
            <a:ext cx="2378275" cy="2935374"/>
          </a:xfrm>
          <a:prstGeom prst="rect">
            <a:avLst/>
          </a:prstGeom>
        </p:spPr>
        <p:txBody>
          <a:bodyPr vert="horz" lIns="91440" tIns="45720" rIns="91440" bIns="45720" rtlCol="0">
            <a:noAutofit/>
          </a:bodyPr>
          <a:lstStyle>
            <a:lvl1pPr marL="0" marR="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1300" b="0" i="0" u="none" strike="noStrike" cap="none" spc="0" normalizeH="0" baseline="0" dirty="0">
                <a:solidFill>
                  <a:srgbClr val="E7E6E6">
                    <a:lumMod val="50000"/>
                  </a:srgbClr>
                </a:solidFill>
                <a:latin typeface="微软雅黑"/>
                <a:ea typeface="微软雅黑"/>
                <a:cs typeface="+mn-cs"/>
              </a:rPr>
              <a:t>曼德海峡通行量下降可能受到多种因素影响：</a:t>
            </a:r>
          </a:p>
          <a:p>
            <a:pPr marL="0" marR="0" lvl="0" indent="0" algn="l" defTabSz="914400" rtl="0" eaLnBrk="1" fontAlgn="auto" latinLnBrk="0" hangingPunct="1">
              <a:lnSpc>
                <a:spcPct val="70000"/>
              </a:lnSpc>
              <a:spcBef>
                <a:spcPts val="1000"/>
              </a:spcBef>
              <a:spcAft>
                <a:spcPts val="0"/>
              </a:spcAft>
              <a:buClrTx/>
              <a:buSzTx/>
              <a:buFont typeface="Arial" panose="020B0604020202090204" pitchFamily="34" charset="0"/>
              <a:buNone/>
              <a:defRPr/>
            </a:pPr>
            <a:r>
              <a:rPr kumimoji="0" lang="zh-CN" altLang="en-US" sz="1300" b="0" i="0" u="none" strike="noStrike" cap="none" spc="0" normalizeH="0" baseline="0" dirty="0">
                <a:solidFill>
                  <a:srgbClr val="E7E6E6">
                    <a:lumMod val="50000"/>
                  </a:srgbClr>
                </a:solidFill>
                <a:latin typeface="微软雅黑"/>
                <a:ea typeface="微软雅黑"/>
                <a:cs typeface="+mn-cs"/>
              </a:rPr>
              <a:t>贸易需求；</a:t>
            </a:r>
          </a:p>
          <a:p>
            <a:pPr marL="0" marR="0" lvl="0" indent="0" algn="l" defTabSz="914400" rtl="0" eaLnBrk="1" fontAlgn="auto" latinLnBrk="0" hangingPunct="1">
              <a:lnSpc>
                <a:spcPct val="70000"/>
              </a:lnSpc>
              <a:spcBef>
                <a:spcPts val="1000"/>
              </a:spcBef>
              <a:spcAft>
                <a:spcPts val="0"/>
              </a:spcAft>
              <a:buClrTx/>
              <a:buSzTx/>
              <a:buFont typeface="Arial" panose="020B0604020202090204" pitchFamily="34" charset="0"/>
              <a:buNone/>
              <a:defRPr/>
            </a:pPr>
            <a:r>
              <a:rPr kumimoji="0" lang="zh-CN" altLang="en-US" sz="1300" b="0" i="0" u="none" strike="noStrike" cap="none" spc="0" normalizeH="0" baseline="0" dirty="0">
                <a:solidFill>
                  <a:srgbClr val="E7E6E6">
                    <a:lumMod val="50000"/>
                  </a:srgbClr>
                </a:solidFill>
                <a:latin typeface="微软雅黑"/>
                <a:ea typeface="微软雅黑"/>
                <a:cs typeface="+mn-cs"/>
              </a:rPr>
              <a:t>能源运输刚性；</a:t>
            </a:r>
          </a:p>
          <a:p>
            <a:pPr marL="0" marR="0" lvl="0" indent="0" algn="l" defTabSz="914400" rtl="0" eaLnBrk="1" fontAlgn="auto" latinLnBrk="0" hangingPunct="1">
              <a:lnSpc>
                <a:spcPct val="70000"/>
              </a:lnSpc>
              <a:spcBef>
                <a:spcPts val="1000"/>
              </a:spcBef>
              <a:spcAft>
                <a:spcPts val="0"/>
              </a:spcAft>
              <a:buClrTx/>
              <a:buSzTx/>
              <a:buFont typeface="Arial" panose="020B0604020202090204" pitchFamily="34" charset="0"/>
              <a:buNone/>
              <a:defRPr/>
            </a:pPr>
            <a:r>
              <a:rPr kumimoji="0" lang="zh-CN" altLang="en-US" sz="1300" b="0" i="0" u="none" strike="noStrike" cap="none" spc="0" normalizeH="0" baseline="0" dirty="0">
                <a:solidFill>
                  <a:srgbClr val="E7E6E6">
                    <a:lumMod val="50000"/>
                  </a:srgbClr>
                </a:solidFill>
                <a:latin typeface="微软雅黑"/>
                <a:ea typeface="微软雅黑"/>
                <a:cs typeface="+mn-cs"/>
              </a:rPr>
              <a:t>护航安排；</a:t>
            </a:r>
          </a:p>
          <a:p>
            <a:pPr marL="0" marR="0" lvl="0" indent="0" algn="l" defTabSz="914400" rtl="0" eaLnBrk="1" fontAlgn="auto" latinLnBrk="0" hangingPunct="1">
              <a:lnSpc>
                <a:spcPct val="70000"/>
              </a:lnSpc>
              <a:spcBef>
                <a:spcPts val="1000"/>
              </a:spcBef>
              <a:spcAft>
                <a:spcPts val="0"/>
              </a:spcAft>
              <a:buClrTx/>
              <a:buSzTx/>
              <a:buFont typeface="Arial" panose="020B0604020202090204" pitchFamily="34" charset="0"/>
              <a:buNone/>
              <a:defRPr/>
            </a:pPr>
            <a:r>
              <a:rPr kumimoji="0" lang="zh-CN" altLang="en-US" sz="1300" b="0" i="0" u="none" strike="noStrike" cap="none" spc="0" normalizeH="0" baseline="0" dirty="0">
                <a:solidFill>
                  <a:srgbClr val="E7E6E6">
                    <a:lumMod val="50000"/>
                  </a:srgbClr>
                </a:solidFill>
                <a:latin typeface="微软雅黑"/>
                <a:ea typeface="微软雅黑"/>
                <a:cs typeface="+mn-cs"/>
              </a:rPr>
              <a:t>船队调度；</a:t>
            </a:r>
          </a:p>
          <a:p>
            <a:pPr marL="0" marR="0" lvl="0" indent="0" algn="l" defTabSz="914400" rtl="0" eaLnBrk="1" fontAlgn="auto" latinLnBrk="0" hangingPunct="1">
              <a:lnSpc>
                <a:spcPct val="70000"/>
              </a:lnSpc>
              <a:spcBef>
                <a:spcPts val="1000"/>
              </a:spcBef>
              <a:spcAft>
                <a:spcPts val="0"/>
              </a:spcAft>
              <a:buClrTx/>
              <a:buSzTx/>
              <a:buFont typeface="Arial" panose="020B0604020202090204" pitchFamily="34" charset="0"/>
              <a:buNone/>
              <a:defRPr/>
            </a:pPr>
            <a:r>
              <a:rPr kumimoji="0" lang="zh-CN" altLang="en-US" sz="1300" b="0" i="0" u="none" strike="noStrike" cap="none" spc="0" normalizeH="0" baseline="0" dirty="0">
                <a:solidFill>
                  <a:srgbClr val="E7E6E6">
                    <a:lumMod val="50000"/>
                  </a:srgbClr>
                </a:solidFill>
                <a:latin typeface="微软雅黑"/>
                <a:ea typeface="微软雅黑"/>
                <a:cs typeface="+mn-cs"/>
              </a:rPr>
              <a:t>季节性波动。</a:t>
            </a:r>
          </a:p>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1300" b="0" i="0" u="none" strike="noStrike" cap="none" spc="0" normalizeH="0" baseline="0" dirty="0">
                <a:solidFill>
                  <a:srgbClr val="E7E6E6">
                    <a:lumMod val="50000"/>
                  </a:srgbClr>
                </a:solidFill>
                <a:latin typeface="微软雅黑"/>
                <a:ea typeface="微软雅黑"/>
                <a:cs typeface="+mn-cs"/>
              </a:rPr>
              <a:t>而好望角通行量上升，更直接反映船舶从红海—苏伊士路径转向替代路径。</a:t>
            </a:r>
          </a:p>
        </p:txBody>
      </p:sp>
      <p:sp>
        <p:nvSpPr>
          <p:cNvPr id="26" name="文本占位符 29"/>
          <p:cNvSpPr txBox="1"/>
          <p:nvPr/>
        </p:nvSpPr>
        <p:spPr>
          <a:xfrm>
            <a:off x="8993432" y="2941897"/>
            <a:ext cx="2378275" cy="2935367"/>
          </a:xfrm>
          <a:prstGeom prst="rect">
            <a:avLst/>
          </a:prstGeom>
        </p:spPr>
        <p:txBody>
          <a:bodyPr vert="horz" lIns="91440" tIns="45720" rIns="91440" bIns="45720" rtlCol="0">
            <a:normAutofit/>
          </a:bodyPr>
          <a:lstStyle>
            <a:lvl1pPr marL="0" marR="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l">
              <a:lnSpc>
                <a:spcPct val="70000"/>
              </a:lnSpc>
              <a:buNone/>
            </a:pPr>
            <a:r>
              <a:rPr lang="zh-CN" altLang="en-US" sz="1400" dirty="0">
                <a:solidFill>
                  <a:schemeClr val="tx2"/>
                </a:solidFill>
                <a:latin typeface="微软雅黑"/>
                <a:ea typeface="微软雅黑"/>
              </a:rPr>
              <a:t>2023 年 11 月 19 日之后：</a:t>
            </a:r>
          </a:p>
          <a:p>
            <a:pPr lvl="0" algn="l">
              <a:lnSpc>
                <a:spcPct val="100000"/>
              </a:lnSpc>
              <a:buNone/>
            </a:pPr>
            <a:r>
              <a:rPr lang="zh-CN" altLang="en-US" sz="1400" dirty="0">
                <a:solidFill>
                  <a:schemeClr val="tx2"/>
                </a:solidFill>
                <a:latin typeface="微软雅黑"/>
                <a:ea typeface="微软雅黑"/>
              </a:rPr>
              <a:t>曼德海峡和苏伊士运河通行量下降；</a:t>
            </a:r>
          </a:p>
          <a:p>
            <a:pPr lvl="0" algn="l">
              <a:lnSpc>
                <a:spcPct val="70000"/>
              </a:lnSpc>
              <a:buNone/>
            </a:pPr>
            <a:r>
              <a:rPr lang="zh-CN" altLang="en-US" sz="1400" dirty="0">
                <a:solidFill>
                  <a:schemeClr val="tx2"/>
                </a:solidFill>
                <a:latin typeface="微软雅黑"/>
                <a:ea typeface="微软雅黑"/>
              </a:rPr>
              <a:t>好望角通行量上升；</a:t>
            </a:r>
          </a:p>
          <a:p>
            <a:pPr lvl="0" algn="l">
              <a:lnSpc>
                <a:spcPct val="70000"/>
              </a:lnSpc>
              <a:buNone/>
            </a:pPr>
            <a:r>
              <a:rPr lang="zh-CN" altLang="en-US" sz="1400" dirty="0">
                <a:solidFill>
                  <a:schemeClr val="tx2"/>
                </a:solidFill>
                <a:latin typeface="微软雅黑"/>
                <a:ea typeface="微软雅黑"/>
              </a:rPr>
              <a:t>绕航指数上升；</a:t>
            </a:r>
          </a:p>
          <a:p>
            <a:pPr lvl="0" algn="l">
              <a:lnSpc>
                <a:spcPct val="70000"/>
              </a:lnSpc>
              <a:buNone/>
            </a:pPr>
            <a:r>
              <a:rPr lang="zh-CN" altLang="en-US" sz="1400" dirty="0">
                <a:solidFill>
                  <a:schemeClr val="tx2"/>
                </a:solidFill>
                <a:latin typeface="微软雅黑"/>
                <a:ea typeface="微软雅黑"/>
              </a:rPr>
              <a:t>苏伊士占比下降。</a:t>
            </a:r>
          </a:p>
          <a:p>
            <a:pPr lvl="0" algn="l">
              <a:lnSpc>
                <a:spcPct val="90000"/>
              </a:lnSpc>
              <a:buNone/>
            </a:pPr>
            <a:r>
              <a:rPr lang="zh-CN" altLang="en-US" sz="1400" dirty="0">
                <a:solidFill>
                  <a:schemeClr val="tx2"/>
                </a:solidFill>
                <a:latin typeface="微软雅黑"/>
                <a:ea typeface="微软雅黑"/>
              </a:rPr>
              <a:t>这说明危机升级后，航运结构出现了方向一致的调整。</a:t>
            </a: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17529" y="140750"/>
            <a:ext cx="7019929" cy="7019929"/>
          </a:xfrm>
          <a:prstGeom prst="rect">
            <a:avLst/>
          </a:prstGeom>
        </p:spPr>
      </p:pic>
      <p:sp>
        <p:nvSpPr>
          <p:cNvPr id="2" name="文本占位符 3"/>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07</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p:cNvSpPr txBox="1"/>
          <p:nvPr/>
        </p:nvSpPr>
        <p:spPr>
          <a:xfrm>
            <a:off x="1852930" y="3246755"/>
            <a:ext cx="7750175"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稳健型与局限</a:t>
            </a:r>
          </a:p>
        </p:txBody>
      </p:sp>
      <p:grpSp>
        <p:nvGrpSpPr>
          <p:cNvPr id="4" name="组合 3"/>
          <p:cNvGrpSpPr/>
          <p:nvPr/>
        </p:nvGrpSpPr>
        <p:grpSpPr>
          <a:xfrm>
            <a:off x="-3049556" y="-2033814"/>
            <a:ext cx="7489372" cy="4795157"/>
            <a:chOff x="-3802743" y="-2148114"/>
            <a:chExt cx="7489372" cy="4795157"/>
          </a:xfrm>
        </p:grpSpPr>
        <p:sp>
          <p:nvSpPr>
            <p:cNvPr id="5" name="平行四边形 4"/>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grpSp>
        <p:nvGrpSpPr>
          <p:cNvPr id="7" name="组合 6"/>
          <p:cNvGrpSpPr/>
          <p:nvPr/>
        </p:nvGrpSpPr>
        <p:grpSpPr>
          <a:xfrm flipH="1" flipV="1">
            <a:off x="7824192" y="4149080"/>
            <a:ext cx="7489372" cy="4651141"/>
            <a:chOff x="-3802743" y="-2004098"/>
            <a:chExt cx="7489372" cy="4651141"/>
          </a:xfrm>
        </p:grpSpPr>
        <p:sp>
          <p:nvSpPr>
            <p:cNvPr id="8" name="平行四边形 7"/>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9" name="平行四边形 8"/>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16" name="直接连接符 15"/>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60134" y="6274257"/>
            <a:ext cx="2583927" cy="412859"/>
          </a:xfrm>
          <a:prstGeom prst="rect">
            <a:avLst/>
          </a:prstGeom>
        </p:spPr>
      </p:pic>
      <p:grpSp>
        <p:nvGrpSpPr>
          <p:cNvPr id="23" name="组合 22"/>
          <p:cNvGrpSpPr/>
          <p:nvPr/>
        </p:nvGrpSpPr>
        <p:grpSpPr>
          <a:xfrm>
            <a:off x="9114765" y="102733"/>
            <a:ext cx="2879308" cy="743473"/>
            <a:chOff x="825667" y="458497"/>
            <a:chExt cx="4856203" cy="1253932"/>
          </a:xfrm>
        </p:grpSpPr>
        <p:pic>
          <p:nvPicPr>
            <p:cNvPr id="24" name="图片 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26" name="矩形 2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稳健性与局限</a:t>
            </a:r>
          </a:p>
        </p:txBody>
      </p:sp>
      <p:pic>
        <p:nvPicPr>
          <p:cNvPr id="52" name="图片 51"/>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p:cNvGrpSpPr/>
          <p:nvPr/>
        </p:nvGrpSpPr>
        <p:grpSpPr>
          <a:xfrm>
            <a:off x="9154205" y="116633"/>
            <a:ext cx="2764918" cy="612776"/>
            <a:chOff x="1018596" y="583069"/>
            <a:chExt cx="4663274" cy="1033500"/>
          </a:xfrm>
        </p:grpSpPr>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
        <p:nvSpPr>
          <p:cNvPr id="13" name="矩形 12"/>
          <p:cNvSpPr/>
          <p:nvPr/>
        </p:nvSpPr>
        <p:spPr>
          <a:xfrm>
            <a:off x="695400" y="1340768"/>
            <a:ext cx="4965700" cy="4622800"/>
          </a:xfrm>
          <a:prstGeom prst="rect">
            <a:avLst/>
          </a:prstGeom>
          <a:solidFill>
            <a:sysClr val="window" lastClr="FFFFFF"/>
          </a:solidFill>
          <a:ln w="12700" cap="flat" cmpd="sng" algn="ctr">
            <a:no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4" name="矩形 13"/>
          <p:cNvSpPr/>
          <p:nvPr/>
        </p:nvSpPr>
        <p:spPr>
          <a:xfrm>
            <a:off x="695400" y="1340768"/>
            <a:ext cx="4965700" cy="759239"/>
          </a:xfrm>
          <a:prstGeom prst="rect">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5" name="矩形 14"/>
          <p:cNvSpPr/>
          <p:nvPr/>
        </p:nvSpPr>
        <p:spPr>
          <a:xfrm>
            <a:off x="1247623" y="2555040"/>
            <a:ext cx="4248605" cy="681355"/>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排除 Protests 和 Riots，仅保留更贴近安全冲击的事件类型，以减少解释变量噪声。</a:t>
            </a:r>
          </a:p>
        </p:txBody>
      </p:sp>
      <p:sp>
        <p:nvSpPr>
          <p:cNvPr id="16" name="矩形 15"/>
          <p:cNvSpPr/>
          <p:nvPr/>
        </p:nvSpPr>
        <p:spPr>
          <a:xfrm>
            <a:off x="883346" y="1478135"/>
            <a:ext cx="4304499" cy="460375"/>
          </a:xfrm>
          <a:prstGeom prst="rect">
            <a:avLst/>
          </a:prstGeom>
        </p:spPr>
        <p:txBody>
          <a:bodyPr wrap="square" anchor="ctr">
            <a:spAutoFit/>
          </a:bodyPr>
          <a:lstStyle/>
          <a:p>
            <a:pPr algn="l">
              <a:lnSpc>
                <a:spcPct val="120000"/>
              </a:lnSpc>
            </a:pPr>
            <a:r>
              <a:rPr lang="zh-CN" altLang="en-US" sz="2000" b="1" dirty="0">
                <a:solidFill>
                  <a:srgbClr val="FFFFFF"/>
                </a:solidFill>
                <a:latin typeface="微软雅黑"/>
                <a:ea typeface="微软雅黑"/>
              </a:rPr>
              <a:t>稳健性处理</a:t>
            </a:r>
          </a:p>
        </p:txBody>
      </p:sp>
      <p:sp>
        <p:nvSpPr>
          <p:cNvPr id="18" name="矩形 17"/>
          <p:cNvSpPr/>
          <p:nvPr/>
        </p:nvSpPr>
        <p:spPr>
          <a:xfrm>
            <a:off x="1247623" y="3720900"/>
            <a:ext cx="4248605" cy="681355"/>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将日度数据聚合为周度数据，以降低日度随机波动并允许航运决策存在滞后。</a:t>
            </a:r>
          </a:p>
        </p:txBody>
      </p:sp>
      <p:sp>
        <p:nvSpPr>
          <p:cNvPr id="19" name="矩形 18"/>
          <p:cNvSpPr/>
          <p:nvPr/>
        </p:nvSpPr>
        <p:spPr>
          <a:xfrm>
            <a:off x="1247623" y="4948355"/>
            <a:ext cx="4248605" cy="681355"/>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使用</a:t>
            </a:r>
            <a:r>
              <a:rPr lang="en-US" altLang="zh-CN" sz="1600" dirty="0">
                <a:solidFill>
                  <a:prstClr val="black">
                    <a:lumMod val="75000"/>
                    <a:lumOff val="25000"/>
                  </a:prstClr>
                </a:solidFill>
                <a:latin typeface="微软雅黑"/>
                <a:ea typeface="微软雅黑"/>
              </a:rPr>
              <a:t>VAR</a:t>
            </a:r>
            <a:r>
              <a:rPr lang="zh-CN" altLang="en-US" sz="1600" dirty="0">
                <a:solidFill>
                  <a:prstClr val="black">
                    <a:lumMod val="75000"/>
                    <a:lumOff val="25000"/>
                  </a:prstClr>
                </a:solidFill>
                <a:latin typeface="微软雅黑"/>
                <a:ea typeface="微软雅黑"/>
              </a:rPr>
              <a:t>、</a:t>
            </a:r>
            <a:r>
              <a:rPr lang="en-US" altLang="zh-CN" sz="1600" dirty="0">
                <a:solidFill>
                  <a:prstClr val="black">
                    <a:lumMod val="75000"/>
                    <a:lumOff val="25000"/>
                  </a:prstClr>
                </a:solidFill>
                <a:latin typeface="微软雅黑"/>
                <a:ea typeface="微软雅黑"/>
              </a:rPr>
              <a:t>IRF</a:t>
            </a:r>
            <a:r>
              <a:rPr lang="zh-CN" altLang="en-US" sz="1600" dirty="0">
                <a:solidFill>
                  <a:prstClr val="black">
                    <a:lumMod val="75000"/>
                    <a:lumOff val="25000"/>
                  </a:prstClr>
                </a:solidFill>
                <a:latin typeface="微软雅黑"/>
                <a:ea typeface="微软雅黑"/>
              </a:rPr>
              <a:t>、事件研究、</a:t>
            </a:r>
            <a:r>
              <a:rPr lang="en-US" altLang="zh-CN" sz="1600" dirty="0">
                <a:solidFill>
                  <a:prstClr val="black">
                    <a:lumMod val="75000"/>
                    <a:lumOff val="25000"/>
                  </a:prstClr>
                </a:solidFill>
                <a:latin typeface="微软雅黑"/>
                <a:ea typeface="微软雅黑"/>
              </a:rPr>
              <a:t>ITS</a:t>
            </a:r>
            <a:r>
              <a:rPr lang="zh-CN" altLang="en-US" sz="1600" dirty="0">
                <a:solidFill>
                  <a:prstClr val="black">
                    <a:lumMod val="75000"/>
                    <a:lumOff val="25000"/>
                  </a:prstClr>
                </a:solidFill>
                <a:latin typeface="微软雅黑"/>
                <a:ea typeface="微软雅黑"/>
              </a:rPr>
              <a:t>、</a:t>
            </a:r>
            <a:r>
              <a:rPr lang="en-US" altLang="zh-CN" sz="1600" dirty="0">
                <a:solidFill>
                  <a:prstClr val="black">
                    <a:lumMod val="75000"/>
                    <a:lumOff val="25000"/>
                  </a:prstClr>
                </a:solidFill>
                <a:latin typeface="微软雅黑"/>
                <a:ea typeface="微软雅黑"/>
              </a:rPr>
              <a:t>Chow</a:t>
            </a:r>
            <a:r>
              <a:rPr lang="zh-CN" altLang="en-US" sz="1600" dirty="0">
                <a:solidFill>
                  <a:prstClr val="black">
                    <a:lumMod val="75000"/>
                    <a:lumOff val="25000"/>
                  </a:prstClr>
                </a:solidFill>
                <a:latin typeface="微软雅黑"/>
                <a:ea typeface="微软雅黑"/>
              </a:rPr>
              <a:t>多方法验证</a:t>
            </a:r>
          </a:p>
        </p:txBody>
      </p:sp>
      <p:sp>
        <p:nvSpPr>
          <p:cNvPr id="20" name="矩形 19"/>
          <p:cNvSpPr/>
          <p:nvPr/>
        </p:nvSpPr>
        <p:spPr>
          <a:xfrm>
            <a:off x="798044" y="242417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1</a:t>
            </a:r>
            <a:endParaRPr lang="zh-CN" altLang="en-US" sz="4400" dirty="0">
              <a:solidFill>
                <a:prstClr val="black">
                  <a:lumMod val="75000"/>
                  <a:lumOff val="25000"/>
                </a:prstClr>
              </a:solidFill>
              <a:latin typeface="Century Gothic"/>
              <a:ea typeface="微软雅黑"/>
            </a:endParaRPr>
          </a:p>
        </p:txBody>
      </p:sp>
      <p:sp>
        <p:nvSpPr>
          <p:cNvPr id="21" name="矩形 20"/>
          <p:cNvSpPr/>
          <p:nvPr/>
        </p:nvSpPr>
        <p:spPr>
          <a:xfrm>
            <a:off x="798044" y="3595746"/>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2</a:t>
            </a:r>
            <a:endParaRPr lang="zh-CN" altLang="en-US" sz="4400" dirty="0">
              <a:solidFill>
                <a:prstClr val="black">
                  <a:lumMod val="75000"/>
                  <a:lumOff val="25000"/>
                </a:prstClr>
              </a:solidFill>
              <a:latin typeface="Century Gothic"/>
              <a:ea typeface="微软雅黑"/>
            </a:endParaRPr>
          </a:p>
        </p:txBody>
      </p:sp>
      <p:sp>
        <p:nvSpPr>
          <p:cNvPr id="22" name="矩形 21"/>
          <p:cNvSpPr/>
          <p:nvPr/>
        </p:nvSpPr>
        <p:spPr>
          <a:xfrm>
            <a:off x="798044" y="476732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3</a:t>
            </a:r>
            <a:endParaRPr lang="zh-CN" altLang="en-US" sz="4400" dirty="0">
              <a:solidFill>
                <a:prstClr val="black">
                  <a:lumMod val="75000"/>
                  <a:lumOff val="25000"/>
                </a:prstClr>
              </a:solidFill>
              <a:latin typeface="Century Gothic"/>
              <a:ea typeface="微软雅黑"/>
            </a:endParaRPr>
          </a:p>
        </p:txBody>
      </p:sp>
      <p:cxnSp>
        <p:nvCxnSpPr>
          <p:cNvPr id="23" name="直接连接符 22"/>
          <p:cNvCxnSpPr/>
          <p:nvPr/>
        </p:nvCxnSpPr>
        <p:spPr>
          <a:xfrm>
            <a:off x="883247" y="3444239"/>
            <a:ext cx="4590006" cy="0"/>
          </a:xfrm>
          <a:prstGeom prst="line">
            <a:avLst/>
          </a:prstGeom>
          <a:noFill/>
          <a:ln w="6350" cap="flat" cmpd="sng" algn="ctr">
            <a:solidFill>
              <a:sysClr val="windowText" lastClr="000000">
                <a:lumMod val="50000"/>
                <a:lumOff val="50000"/>
              </a:sysClr>
            </a:solidFill>
            <a:prstDash val="solid"/>
            <a:miter lim="800000"/>
          </a:ln>
          <a:effectLst/>
        </p:spPr>
      </p:cxnSp>
      <p:cxnSp>
        <p:nvCxnSpPr>
          <p:cNvPr id="24" name="直接连接符 23"/>
          <p:cNvCxnSpPr/>
          <p:nvPr/>
        </p:nvCxnSpPr>
        <p:spPr>
          <a:xfrm>
            <a:off x="883247" y="4632959"/>
            <a:ext cx="4590006" cy="0"/>
          </a:xfrm>
          <a:prstGeom prst="line">
            <a:avLst/>
          </a:prstGeom>
          <a:noFill/>
          <a:ln w="6350" cap="flat" cmpd="sng" algn="ctr">
            <a:solidFill>
              <a:sysClr val="windowText" lastClr="000000">
                <a:lumMod val="50000"/>
                <a:lumOff val="50000"/>
              </a:sysClr>
            </a:solidFill>
            <a:prstDash val="solid"/>
            <a:miter lim="800000"/>
          </a:ln>
          <a:effectLst/>
        </p:spPr>
      </p:cxnSp>
      <p:sp>
        <p:nvSpPr>
          <p:cNvPr id="26" name="矩形 25"/>
          <p:cNvSpPr/>
          <p:nvPr/>
        </p:nvSpPr>
        <p:spPr>
          <a:xfrm>
            <a:off x="6588200" y="1340768"/>
            <a:ext cx="4965700" cy="4622800"/>
          </a:xfrm>
          <a:prstGeom prst="rect">
            <a:avLst/>
          </a:prstGeom>
          <a:solidFill>
            <a:sysClr val="window" lastClr="FFFFFF"/>
          </a:solidFill>
          <a:ln w="12700" cap="flat" cmpd="sng" algn="ctr">
            <a:no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7" name="矩形 26"/>
          <p:cNvSpPr/>
          <p:nvPr/>
        </p:nvSpPr>
        <p:spPr>
          <a:xfrm>
            <a:off x="6588200" y="1340768"/>
            <a:ext cx="4965700" cy="759239"/>
          </a:xfrm>
          <a:prstGeom prst="rect">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8" name="矩形 27"/>
          <p:cNvSpPr/>
          <p:nvPr/>
        </p:nvSpPr>
        <p:spPr>
          <a:xfrm>
            <a:off x="7140423" y="2688390"/>
            <a:ext cx="4248605" cy="386080"/>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ACLED 关键词筛选存在误筛和漏筛风险。</a:t>
            </a:r>
          </a:p>
        </p:txBody>
      </p:sp>
      <p:sp>
        <p:nvSpPr>
          <p:cNvPr id="29" name="矩形 28"/>
          <p:cNvSpPr/>
          <p:nvPr/>
        </p:nvSpPr>
        <p:spPr>
          <a:xfrm>
            <a:off x="6776146" y="1478770"/>
            <a:ext cx="4304499" cy="460375"/>
          </a:xfrm>
          <a:prstGeom prst="rect">
            <a:avLst/>
          </a:prstGeom>
        </p:spPr>
        <p:txBody>
          <a:bodyPr wrap="square" anchor="ctr">
            <a:spAutoFit/>
          </a:bodyPr>
          <a:lstStyle/>
          <a:p>
            <a:pPr algn="l">
              <a:lnSpc>
                <a:spcPct val="120000"/>
              </a:lnSpc>
            </a:pPr>
            <a:r>
              <a:rPr lang="zh-CN" altLang="en-US" sz="2000" b="1" dirty="0">
                <a:solidFill>
                  <a:prstClr val="black">
                    <a:lumMod val="75000"/>
                    <a:lumOff val="25000"/>
                  </a:prstClr>
                </a:solidFill>
                <a:latin typeface="微软雅黑"/>
                <a:ea typeface="微软雅黑"/>
              </a:rPr>
              <a:t>局限</a:t>
            </a:r>
          </a:p>
        </p:txBody>
      </p:sp>
      <p:sp>
        <p:nvSpPr>
          <p:cNvPr id="30" name="矩形 29"/>
          <p:cNvSpPr/>
          <p:nvPr/>
        </p:nvSpPr>
        <p:spPr>
          <a:xfrm>
            <a:off x="7140423" y="3709470"/>
            <a:ext cx="4248605" cy="681355"/>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PortWatch 数据是聚合通行指标，无法识别单船、船东、目的港或具体航线决策。</a:t>
            </a:r>
          </a:p>
        </p:txBody>
      </p:sp>
      <p:sp>
        <p:nvSpPr>
          <p:cNvPr id="31" name="矩形 30"/>
          <p:cNvSpPr/>
          <p:nvPr/>
        </p:nvSpPr>
        <p:spPr>
          <a:xfrm>
            <a:off x="7140423" y="4818180"/>
            <a:ext cx="4248605" cy="975995"/>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本文没有引入全球贸易需求、油价、保险费率、运价指数、港口拥堵和季节性贸易周期等控制变量。</a:t>
            </a:r>
          </a:p>
        </p:txBody>
      </p:sp>
      <p:sp>
        <p:nvSpPr>
          <p:cNvPr id="32" name="矩形 31"/>
          <p:cNvSpPr/>
          <p:nvPr/>
        </p:nvSpPr>
        <p:spPr>
          <a:xfrm>
            <a:off x="6690844" y="242417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1</a:t>
            </a:r>
            <a:endParaRPr lang="zh-CN" altLang="en-US" sz="4400" dirty="0">
              <a:solidFill>
                <a:prstClr val="black">
                  <a:lumMod val="75000"/>
                  <a:lumOff val="25000"/>
                </a:prstClr>
              </a:solidFill>
              <a:latin typeface="Century Gothic"/>
              <a:ea typeface="微软雅黑"/>
            </a:endParaRPr>
          </a:p>
        </p:txBody>
      </p:sp>
      <p:sp>
        <p:nvSpPr>
          <p:cNvPr id="33" name="矩形 32"/>
          <p:cNvSpPr/>
          <p:nvPr/>
        </p:nvSpPr>
        <p:spPr>
          <a:xfrm>
            <a:off x="6690844" y="3595746"/>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2</a:t>
            </a:r>
            <a:endParaRPr lang="zh-CN" altLang="en-US" sz="4400" dirty="0">
              <a:solidFill>
                <a:prstClr val="black">
                  <a:lumMod val="75000"/>
                  <a:lumOff val="25000"/>
                </a:prstClr>
              </a:solidFill>
              <a:latin typeface="Century Gothic"/>
              <a:ea typeface="微软雅黑"/>
            </a:endParaRPr>
          </a:p>
        </p:txBody>
      </p:sp>
      <p:sp>
        <p:nvSpPr>
          <p:cNvPr id="34" name="矩形 33"/>
          <p:cNvSpPr/>
          <p:nvPr/>
        </p:nvSpPr>
        <p:spPr>
          <a:xfrm>
            <a:off x="6690844" y="476732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3</a:t>
            </a:r>
            <a:endParaRPr lang="zh-CN" altLang="en-US" sz="4400" dirty="0">
              <a:solidFill>
                <a:prstClr val="black">
                  <a:lumMod val="75000"/>
                  <a:lumOff val="25000"/>
                </a:prstClr>
              </a:solidFill>
              <a:latin typeface="Century Gothic"/>
              <a:ea typeface="微软雅黑"/>
            </a:endParaRPr>
          </a:p>
        </p:txBody>
      </p:sp>
      <p:cxnSp>
        <p:nvCxnSpPr>
          <p:cNvPr id="35" name="直接连接符 34"/>
          <p:cNvCxnSpPr/>
          <p:nvPr/>
        </p:nvCxnSpPr>
        <p:spPr>
          <a:xfrm>
            <a:off x="6776047" y="3444239"/>
            <a:ext cx="4590006" cy="0"/>
          </a:xfrm>
          <a:prstGeom prst="line">
            <a:avLst/>
          </a:prstGeom>
          <a:noFill/>
          <a:ln w="6350" cap="flat" cmpd="sng" algn="ctr">
            <a:solidFill>
              <a:sysClr val="windowText" lastClr="000000">
                <a:lumMod val="50000"/>
                <a:lumOff val="50000"/>
              </a:sysClr>
            </a:solidFill>
            <a:prstDash val="solid"/>
            <a:miter lim="800000"/>
          </a:ln>
          <a:effectLst/>
        </p:spPr>
      </p:cxnSp>
      <p:cxnSp>
        <p:nvCxnSpPr>
          <p:cNvPr id="36" name="直接连接符 35"/>
          <p:cNvCxnSpPr/>
          <p:nvPr/>
        </p:nvCxnSpPr>
        <p:spPr>
          <a:xfrm>
            <a:off x="6776047" y="4632959"/>
            <a:ext cx="4590006" cy="0"/>
          </a:xfrm>
          <a:prstGeom prst="line">
            <a:avLst/>
          </a:prstGeom>
          <a:noFill/>
          <a:ln w="6350" cap="flat" cmpd="sng" algn="ctr">
            <a:solidFill>
              <a:sysClr val="windowText" lastClr="000000">
                <a:lumMod val="50000"/>
                <a:lumOff val="50000"/>
              </a:sysClr>
            </a:solidFill>
            <a:prstDash val="solid"/>
            <a:miter lim="800000"/>
          </a:ln>
          <a:effectLst/>
        </p:spPr>
      </p:cxnSp>
      <p:sp>
        <p:nvSpPr>
          <p:cNvPr id="38" name="矩形 37"/>
          <p:cNvSpPr/>
          <p:nvPr/>
        </p:nvSpPr>
        <p:spPr>
          <a:xfrm>
            <a:off x="695400" y="5917849"/>
            <a:ext cx="4965700" cy="45719"/>
          </a:xfrm>
          <a:prstGeom prst="rect">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9" name="矩形 38"/>
          <p:cNvSpPr/>
          <p:nvPr/>
        </p:nvSpPr>
        <p:spPr>
          <a:xfrm>
            <a:off x="6588200" y="5917849"/>
            <a:ext cx="4965700" cy="45719"/>
          </a:xfrm>
          <a:prstGeom prst="rect">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17529" y="140750"/>
            <a:ext cx="7019929" cy="7019929"/>
          </a:xfrm>
          <a:prstGeom prst="rect">
            <a:avLst/>
          </a:prstGeom>
        </p:spPr>
      </p:pic>
      <p:sp>
        <p:nvSpPr>
          <p:cNvPr id="2" name="文本占位符 3"/>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a:t>
            </a:r>
            <a:r>
              <a:rPr lang="en-US" altLang="zh-CN" sz="19900" dirty="0">
                <a:latin typeface="Arial Black" panose="020B0A04020102020204" pitchFamily="34" charset="0"/>
              </a:rPr>
              <a:t>8</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p:cNvSpPr txBox="1"/>
          <p:nvPr/>
        </p:nvSpPr>
        <p:spPr>
          <a:xfrm>
            <a:off x="1852930" y="3246755"/>
            <a:ext cx="7750175"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结论</a:t>
            </a:r>
          </a:p>
        </p:txBody>
      </p:sp>
      <p:grpSp>
        <p:nvGrpSpPr>
          <p:cNvPr id="4" name="组合 3"/>
          <p:cNvGrpSpPr/>
          <p:nvPr/>
        </p:nvGrpSpPr>
        <p:grpSpPr>
          <a:xfrm>
            <a:off x="-3049556" y="-2033814"/>
            <a:ext cx="7489372" cy="4795157"/>
            <a:chOff x="-3802743" y="-2148114"/>
            <a:chExt cx="7489372" cy="4795157"/>
          </a:xfrm>
        </p:grpSpPr>
        <p:sp>
          <p:nvSpPr>
            <p:cNvPr id="5" name="平行四边形 4"/>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grpSp>
        <p:nvGrpSpPr>
          <p:cNvPr id="7" name="组合 6"/>
          <p:cNvGrpSpPr/>
          <p:nvPr/>
        </p:nvGrpSpPr>
        <p:grpSpPr>
          <a:xfrm flipH="1" flipV="1">
            <a:off x="7824192" y="4149080"/>
            <a:ext cx="7489372" cy="4651141"/>
            <a:chOff x="-3802743" y="-2004098"/>
            <a:chExt cx="7489372" cy="4651141"/>
          </a:xfrm>
        </p:grpSpPr>
        <p:sp>
          <p:nvSpPr>
            <p:cNvPr id="8" name="平行四边形 7"/>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9" name="平行四边形 8"/>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16" name="直接连接符 15"/>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60134" y="6274257"/>
            <a:ext cx="2583927" cy="412859"/>
          </a:xfrm>
          <a:prstGeom prst="rect">
            <a:avLst/>
          </a:prstGeom>
        </p:spPr>
      </p:pic>
      <p:grpSp>
        <p:nvGrpSpPr>
          <p:cNvPr id="23" name="组合 22"/>
          <p:cNvGrpSpPr/>
          <p:nvPr/>
        </p:nvGrpSpPr>
        <p:grpSpPr>
          <a:xfrm>
            <a:off x="9114765" y="102733"/>
            <a:ext cx="2879308" cy="743473"/>
            <a:chOff x="825667" y="458497"/>
            <a:chExt cx="4856203" cy="1253932"/>
          </a:xfrm>
        </p:grpSpPr>
        <p:pic>
          <p:nvPicPr>
            <p:cNvPr id="24" name="图片 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26" name="矩形 2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a:ea typeface="宋体" pitchFamily="2" charset="-122"/>
                  <a:cs typeface="+mn-cs"/>
                </a:rPr>
                <a:t>BEIHANG UNIVERSITY</a:t>
              </a:r>
            </a:p>
          </p:txBody>
        </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结论</a:t>
            </a:r>
          </a:p>
        </p:txBody>
      </p:sp>
      <p:sp>
        <p:nvSpPr>
          <p:cNvPr id="15" name="矩形 14"/>
          <p:cNvSpPr/>
          <p:nvPr/>
        </p:nvSpPr>
        <p:spPr>
          <a:xfrm>
            <a:off x="343535" y="1269365"/>
            <a:ext cx="11513185" cy="2038350"/>
          </a:xfrm>
          <a:prstGeom prst="rect">
            <a:avLst/>
          </a:prstGeom>
          <a:solidFill>
            <a:srgbClr val="024282">
              <a:alpha val="2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nvGrpSpPr>
          <p:cNvPr id="16" name="组合 15"/>
          <p:cNvGrpSpPr/>
          <p:nvPr/>
        </p:nvGrpSpPr>
        <p:grpSpPr>
          <a:xfrm>
            <a:off x="619876" y="1356504"/>
            <a:ext cx="11101070" cy="2085340"/>
            <a:chOff x="640831" y="2302016"/>
            <a:chExt cx="11101070" cy="2085340"/>
          </a:xfrm>
        </p:grpSpPr>
        <p:sp>
          <p:nvSpPr>
            <p:cNvPr id="18" name="文本框 17"/>
            <p:cNvSpPr txBox="1"/>
            <p:nvPr/>
          </p:nvSpPr>
          <p:spPr>
            <a:xfrm>
              <a:off x="2314056" y="2302016"/>
              <a:ext cx="9427845" cy="2085340"/>
            </a:xfrm>
            <a:prstGeom prst="rect">
              <a:avLst/>
            </a:prstGeom>
            <a:noFill/>
          </p:spPr>
          <p:txBody>
            <a:bodyPr wrap="square" rtlCol="0">
              <a:normAutofit/>
            </a:bodyPr>
            <a:lstStyle/>
            <a:p>
              <a:pPr marL="0" marR="0" lvl="0" indent="0" algn="just" defTabSz="914400" rtl="0" eaLnBrk="1" fontAlgn="auto" latinLnBrk="0" hangingPunct="1">
                <a:lnSpc>
                  <a:spcPct val="130000"/>
                </a:lnSpc>
                <a:spcBef>
                  <a:spcPts val="600"/>
                </a:spcBef>
                <a:spcAft>
                  <a:spcPts val="0"/>
                </a:spcAft>
                <a:buClrTx/>
                <a:buSzTx/>
                <a:buFontTx/>
                <a:buNone/>
                <a:defRPr/>
              </a:pPr>
              <a:r>
                <a:rPr kumimoji="0" lang="zh-CN" altLang="en-US" sz="2000" i="0" u="none" strike="noStrike" kern="0" cap="none" spc="0" normalizeH="0" baseline="0" noProof="0" dirty="0">
                  <a:ln>
                    <a:noFill/>
                  </a:ln>
                  <a:solidFill>
                    <a:srgbClr val="222222"/>
                  </a:solidFill>
                  <a:effectLst/>
                  <a:uLnTx/>
                  <a:uFillTx/>
                  <a:latin typeface="Times New Roman Regular" panose="02020503050405090304" charset="0"/>
                  <a:ea typeface="宋体" charset="0"/>
                  <a:cs typeface="Times New Roman Regular" panose="02020503050405090304" charset="0"/>
                </a:rPr>
                <a:t>胡塞武装相关安全事件与红海航运通行结构变化存在聚合层面的统计关联，且围绕 2023 年 11 月 19 日断点的准实验分析支持 “红海/苏伊士路径下降、好望角替代路径上升” 的推断链。</a:t>
              </a:r>
            </a:p>
            <a:p>
              <a:pPr marL="0" marR="0" lvl="0" indent="0" algn="just" defTabSz="914400" rtl="0" eaLnBrk="1" fontAlgn="auto" latinLnBrk="0" hangingPunct="1">
                <a:lnSpc>
                  <a:spcPct val="130000"/>
                </a:lnSpc>
                <a:spcBef>
                  <a:spcPts val="600"/>
                </a:spcBef>
                <a:spcAft>
                  <a:spcPts val="0"/>
                </a:spcAft>
                <a:buClrTx/>
                <a:buSzTx/>
                <a:buFontTx/>
                <a:buNone/>
                <a:defRPr/>
              </a:pPr>
              <a:r>
                <a:rPr kumimoji="0" lang="zh-CN" altLang="en-US" sz="2000" i="0" u="none" strike="noStrike" kern="0" cap="none" spc="0" normalizeH="0" baseline="0" noProof="0" dirty="0">
                  <a:ln>
                    <a:noFill/>
                  </a:ln>
                  <a:solidFill>
                    <a:srgbClr val="222222"/>
                  </a:solidFill>
                  <a:effectLst/>
                  <a:uLnTx/>
                  <a:uFillTx/>
                  <a:latin typeface="Times New Roman Regular" panose="02020503050405090304" charset="0"/>
                  <a:ea typeface="宋体" charset="0"/>
                  <a:cs typeface="Times New Roman Regular" panose="02020503050405090304" charset="0"/>
                </a:rPr>
                <a:t>但当前证据仍不足以支持单船风险、AIS 开关影响或船型敏感性结论。</a:t>
              </a:r>
            </a:p>
          </p:txBody>
        </p:sp>
        <p:grpSp>
          <p:nvGrpSpPr>
            <p:cNvPr id="19" name="组合 18"/>
            <p:cNvGrpSpPr/>
            <p:nvPr/>
          </p:nvGrpSpPr>
          <p:grpSpPr>
            <a:xfrm>
              <a:off x="640831" y="2372501"/>
              <a:ext cx="1194954" cy="509565"/>
              <a:chOff x="10129484" y="1805022"/>
              <a:chExt cx="1716908" cy="509565"/>
            </a:xfrm>
          </p:grpSpPr>
          <p:grpSp>
            <p:nvGrpSpPr>
              <p:cNvPr id="20" name="组合 19"/>
              <p:cNvGrpSpPr/>
              <p:nvPr/>
            </p:nvGrpSpPr>
            <p:grpSpPr>
              <a:xfrm>
                <a:off x="10135620" y="1805022"/>
                <a:ext cx="1710772" cy="509565"/>
                <a:chOff x="10135620" y="1805022"/>
                <a:chExt cx="1710772" cy="509565"/>
              </a:xfrm>
            </p:grpSpPr>
            <p:sp>
              <p:nvSpPr>
                <p:cNvPr id="22" name="平行四边形 21"/>
                <p:cNvSpPr/>
                <p:nvPr/>
              </p:nvSpPr>
              <p:spPr>
                <a:xfrm>
                  <a:off x="10223632" y="1805022"/>
                  <a:ext cx="1622760" cy="461665"/>
                </a:xfrm>
                <a:prstGeom prst="parallelogram">
                  <a:avLst>
                    <a:gd name="adj" fmla="val 0"/>
                  </a:avLst>
                </a:prstGeom>
                <a:noFill/>
                <a:ln w="9525" cap="flat" cmpd="sng" algn="ctr">
                  <a:solidFill>
                    <a:srgbClr val="02428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阿里巴巴普惠体 R"/>
                    <a:cs typeface="+mn-cs"/>
                  </a:endParaRPr>
                </a:p>
              </p:txBody>
            </p:sp>
            <p:sp>
              <p:nvSpPr>
                <p:cNvPr id="23" name="平行四边形 22"/>
                <p:cNvSpPr/>
                <p:nvPr/>
              </p:nvSpPr>
              <p:spPr>
                <a:xfrm>
                  <a:off x="10135620" y="1852922"/>
                  <a:ext cx="1622760" cy="461665"/>
                </a:xfrm>
                <a:prstGeom prst="parallelogram">
                  <a:avLst>
                    <a:gd name="adj" fmla="val 0"/>
                  </a:avLst>
                </a:prstGeom>
                <a:solidFill>
                  <a:srgbClr val="02428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阿里巴巴普惠体 R"/>
                    <a:cs typeface="+mn-cs"/>
                  </a:endParaRPr>
                </a:p>
              </p:txBody>
            </p:sp>
          </p:grpSp>
          <p:sp>
            <p:nvSpPr>
              <p:cNvPr id="21" name="文本框 20"/>
              <p:cNvSpPr txBox="1"/>
              <p:nvPr/>
            </p:nvSpPr>
            <p:spPr>
              <a:xfrm>
                <a:off x="10129484" y="1887774"/>
                <a:ext cx="1576571" cy="42354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阿里巴巴普惠体 H" panose="00020600040101010101" pitchFamily="18" charset="-122"/>
                    <a:ea typeface="阿里巴巴普惠体 H" panose="00020600040101010101" pitchFamily="18" charset="-122"/>
                    <a:cs typeface="阿里巴巴普惠体 H" panose="00020600040101010101" pitchFamily="18" charset="-122"/>
                  </a:rPr>
                  <a:t>主要结论</a:t>
                </a:r>
              </a:p>
            </p:txBody>
          </p:sp>
        </p:grpSp>
      </p:grpSp>
      <p:grpSp>
        <p:nvGrpSpPr>
          <p:cNvPr id="30" name="组合 29"/>
          <p:cNvGrpSpPr/>
          <p:nvPr/>
        </p:nvGrpSpPr>
        <p:grpSpPr>
          <a:xfrm>
            <a:off x="459105" y="3866515"/>
            <a:ext cx="1635125" cy="514350"/>
            <a:chOff x="9930591" y="1734537"/>
            <a:chExt cx="2349346" cy="514350"/>
          </a:xfrm>
        </p:grpSpPr>
        <p:grpSp>
          <p:nvGrpSpPr>
            <p:cNvPr id="31" name="组合 30"/>
            <p:cNvGrpSpPr/>
            <p:nvPr/>
          </p:nvGrpSpPr>
          <p:grpSpPr>
            <a:xfrm>
              <a:off x="10068105" y="1734537"/>
              <a:ext cx="2135852" cy="514350"/>
              <a:chOff x="10068105" y="1734537"/>
              <a:chExt cx="2135852" cy="514350"/>
            </a:xfrm>
          </p:grpSpPr>
          <p:sp>
            <p:nvSpPr>
              <p:cNvPr id="33" name="平行四边形 32"/>
              <p:cNvSpPr/>
              <p:nvPr/>
            </p:nvSpPr>
            <p:spPr>
              <a:xfrm>
                <a:off x="10135620" y="1734537"/>
                <a:ext cx="2068337" cy="461645"/>
              </a:xfrm>
              <a:prstGeom prst="parallelogram">
                <a:avLst>
                  <a:gd name="adj" fmla="val 0"/>
                </a:avLst>
              </a:prstGeom>
              <a:noFill/>
              <a:ln w="9525" cap="flat" cmpd="sng" algn="ctr">
                <a:solidFill>
                  <a:srgbClr val="02428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阿里巴巴普惠体 R"/>
                  <a:cs typeface="+mn-cs"/>
                </a:endParaRPr>
              </a:p>
            </p:txBody>
          </p:sp>
          <p:sp>
            <p:nvSpPr>
              <p:cNvPr id="34" name="平行四边形 33"/>
              <p:cNvSpPr/>
              <p:nvPr/>
            </p:nvSpPr>
            <p:spPr>
              <a:xfrm>
                <a:off x="10068105" y="1787242"/>
                <a:ext cx="2069249" cy="461645"/>
              </a:xfrm>
              <a:prstGeom prst="parallelogram">
                <a:avLst>
                  <a:gd name="adj" fmla="val 0"/>
                </a:avLst>
              </a:prstGeom>
              <a:solidFill>
                <a:srgbClr val="02428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阿里巴巴普惠体 R"/>
                  <a:cs typeface="+mn-cs"/>
                </a:endParaRPr>
              </a:p>
            </p:txBody>
          </p:sp>
        </p:grpSp>
        <p:sp>
          <p:nvSpPr>
            <p:cNvPr id="32" name="文本框 31"/>
            <p:cNvSpPr txBox="1"/>
            <p:nvPr/>
          </p:nvSpPr>
          <p:spPr>
            <a:xfrm>
              <a:off x="9930591" y="1825342"/>
              <a:ext cx="2349346" cy="42354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阿里巴巴普惠体 H" panose="00020600040101010101" pitchFamily="18" charset="-122"/>
                  <a:ea typeface="阿里巴巴普惠体 H" panose="00020600040101010101" pitchFamily="18" charset="-122"/>
                  <a:cs typeface="阿里巴巴普惠体 H" panose="00020600040101010101" pitchFamily="18" charset="-122"/>
                </a:rPr>
                <a:t>未来研究方向</a:t>
              </a:r>
            </a:p>
          </p:txBody>
        </p:sp>
      </p:grpSp>
      <p:pic>
        <p:nvPicPr>
          <p:cNvPr id="52" name="图片 51"/>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p:cNvGrpSpPr/>
          <p:nvPr/>
        </p:nvGrpSpPr>
        <p:grpSpPr>
          <a:xfrm>
            <a:off x="9154205" y="116633"/>
            <a:ext cx="2764918" cy="612776"/>
            <a:chOff x="1018596" y="583069"/>
            <a:chExt cx="4663274" cy="1033500"/>
          </a:xfrm>
        </p:grpSpPr>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sp>
        <p:nvSpPr>
          <p:cNvPr id="2" name="文本框 1"/>
          <p:cNvSpPr txBox="1"/>
          <p:nvPr/>
        </p:nvSpPr>
        <p:spPr>
          <a:xfrm>
            <a:off x="2292985" y="3847465"/>
            <a:ext cx="8972550" cy="1938020"/>
          </a:xfrm>
          <a:prstGeom prst="rect">
            <a:avLst/>
          </a:prstGeom>
          <a:noFill/>
        </p:spPr>
        <p:txBody>
          <a:bodyPr wrap="square" rtlCol="0">
            <a:spAutoFit/>
          </a:bodyPr>
          <a:lstStyle/>
          <a:p>
            <a:pPr marL="285750" indent="-285750">
              <a:buFont typeface="Arial" panose="020B0604020202090204" pitchFamily="34" charset="0"/>
              <a:buChar char="•"/>
            </a:pPr>
            <a:r>
              <a:rPr lang="zh-CN" altLang="en-US" sz="2000" kern="0" noProof="0" dirty="0">
                <a:ln>
                  <a:noFill/>
                </a:ln>
                <a:solidFill>
                  <a:schemeClr val="tx1">
                    <a:lumMod val="50000"/>
                    <a:lumOff val="50000"/>
                  </a:schemeClr>
                </a:solidFill>
                <a:effectLst/>
                <a:uLnTx/>
                <a:uFillTx/>
                <a:latin typeface="Times New Roman Regular" panose="02020503050405090304" charset="0"/>
                <a:ea typeface="宋体" charset="0"/>
                <a:cs typeface="Times New Roman Regular" panose="02020503050405090304" charset="0"/>
              </a:rPr>
              <a:t>在获得历史 AIS 单船轨迹和可靠对照组之后，另行研究船舶层面的航线选择和风险暴露，而不是在本文中混入当前无法验证的单船问题。</a:t>
            </a:r>
          </a:p>
          <a:p>
            <a:pPr marL="285750" indent="-285750">
              <a:buFont typeface="Arial" panose="020B0604020202090204" pitchFamily="34" charset="0"/>
              <a:buChar char="•"/>
            </a:pPr>
            <a:r>
              <a:rPr lang="zh-CN" altLang="en-US" sz="2000" kern="0" noProof="0" dirty="0">
                <a:ln>
                  <a:noFill/>
                </a:ln>
                <a:solidFill>
                  <a:schemeClr val="tx1">
                    <a:lumMod val="50000"/>
                    <a:lumOff val="50000"/>
                  </a:schemeClr>
                </a:solidFill>
                <a:effectLst/>
                <a:uLnTx/>
                <a:uFillTx/>
                <a:latin typeface="Times New Roman Regular" panose="02020503050405090304" charset="0"/>
                <a:ea typeface="宋体" charset="0"/>
                <a:cs typeface="Times New Roman Regular" panose="02020503050405090304" charset="0"/>
              </a:rPr>
              <a:t>加入运价、保险费率和燃油价格等经济变量，分析安全冲击如何通过成本渠道影响航线选择。</a:t>
            </a:r>
          </a:p>
          <a:p>
            <a:pPr marL="285750" indent="-285750">
              <a:buFont typeface="Arial" panose="020B0604020202090204" pitchFamily="34" charset="0"/>
              <a:buChar char="•"/>
            </a:pPr>
            <a:r>
              <a:rPr lang="zh-CN" altLang="en-US" sz="2000" kern="0" noProof="0" dirty="0">
                <a:ln>
                  <a:noFill/>
                </a:ln>
                <a:solidFill>
                  <a:schemeClr val="tx1">
                    <a:lumMod val="50000"/>
                    <a:lumOff val="50000"/>
                  </a:schemeClr>
                </a:solidFill>
                <a:effectLst/>
                <a:uLnTx/>
                <a:uFillTx/>
                <a:latin typeface="Times New Roman Regular" panose="02020503050405090304" charset="0"/>
                <a:ea typeface="宋体" charset="0"/>
                <a:cs typeface="Times New Roman Regular" panose="02020503050405090304" charset="0"/>
              </a:rPr>
              <a:t>加入更长的断点前样本或对照航线，形成差分中的差分或合成控制设计，从而进一步提高因果识别强度</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764852" y="1350313"/>
            <a:ext cx="6117528" cy="6117528"/>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91345" y="116631"/>
            <a:ext cx="11809308" cy="5226782"/>
          </a:xfrm>
          <a:prstGeom prst="rect">
            <a:avLst/>
          </a:prstGeom>
        </p:spPr>
      </p:pic>
      <p:sp>
        <p:nvSpPr>
          <p:cNvPr id="7" name="矩形 6"/>
          <p:cNvSpPr/>
          <p:nvPr/>
        </p:nvSpPr>
        <p:spPr>
          <a:xfrm>
            <a:off x="191345" y="116631"/>
            <a:ext cx="11809309" cy="5226782"/>
          </a:xfrm>
          <a:prstGeom prst="rect">
            <a:avLst/>
          </a:prstGeom>
          <a:solidFill>
            <a:srgbClr val="024282">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a:ea typeface="宋体" pitchFamily="2" charset="-122"/>
              <a:cs typeface="+mn-cs"/>
            </a:endParaRPr>
          </a:p>
        </p:txBody>
      </p:sp>
      <p:sp>
        <p:nvSpPr>
          <p:cNvPr id="10" name="平行四边形 9"/>
          <p:cNvSpPr/>
          <p:nvPr/>
        </p:nvSpPr>
        <p:spPr>
          <a:xfrm>
            <a:off x="4949527" y="5155867"/>
            <a:ext cx="2292946" cy="38382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15" name="文本占位符 30"/>
          <p:cNvSpPr txBox="1"/>
          <p:nvPr/>
        </p:nvSpPr>
        <p:spPr>
          <a:xfrm>
            <a:off x="3121932"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汇报人：小邱小邱</a:t>
            </a:r>
          </a:p>
        </p:txBody>
      </p:sp>
      <p:sp>
        <p:nvSpPr>
          <p:cNvPr id="16" name="文本占位符 31"/>
          <p:cNvSpPr txBox="1"/>
          <p:nvPr/>
        </p:nvSpPr>
        <p:spPr>
          <a:xfrm>
            <a:off x="6460218"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指导老师：大邱大邱</a:t>
            </a:r>
          </a:p>
        </p:txBody>
      </p:sp>
      <p:sp>
        <p:nvSpPr>
          <p:cNvPr id="17" name="文本占位符 32"/>
          <p:cNvSpPr txBox="1"/>
          <p:nvPr/>
        </p:nvSpPr>
        <p:spPr>
          <a:xfrm>
            <a:off x="4791075" y="521310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2026</a:t>
            </a:r>
            <a:r>
              <a:rPr kumimoji="0" lang="zh-CN" altLang="en-US"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年</a:t>
            </a:r>
            <a:r>
              <a:rPr lang="en-US" altLang="zh-CN" dirty="0"/>
              <a:t>6</a:t>
            </a:r>
            <a:r>
              <a:rPr kumimoji="0" lang="zh-CN" altLang="en-US"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月</a:t>
            </a:r>
            <a:r>
              <a:rPr lang="en-US" altLang="zh-CN" dirty="0"/>
              <a:t>16</a:t>
            </a:r>
            <a:r>
              <a:rPr kumimoji="0" lang="zh-CN" altLang="en-US"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日</a:t>
            </a:r>
          </a:p>
        </p:txBody>
      </p:sp>
      <p:grpSp>
        <p:nvGrpSpPr>
          <p:cNvPr id="19" name="组合 18"/>
          <p:cNvGrpSpPr/>
          <p:nvPr/>
        </p:nvGrpSpPr>
        <p:grpSpPr>
          <a:xfrm>
            <a:off x="3879975" y="1131474"/>
            <a:ext cx="4918925" cy="1253932"/>
            <a:chOff x="751446" y="486412"/>
            <a:chExt cx="4918925" cy="1253932"/>
          </a:xfrm>
        </p:grpSpPr>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22" name="图片 2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1960350" y="609785"/>
              <a:ext cx="3710021" cy="607920"/>
            </a:xfrm>
            <a:prstGeom prst="rect">
              <a:avLst/>
            </a:prstGeom>
          </p:spPr>
        </p:pic>
        <p:sp>
          <p:nvSpPr>
            <p:cNvPr id="23" name="矩形 22"/>
            <p:cNvSpPr/>
            <p:nvPr/>
          </p:nvSpPr>
          <p:spPr>
            <a:xfrm>
              <a:off x="2167394" y="1226892"/>
              <a:ext cx="3502977" cy="307777"/>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Calibri"/>
                  <a:ea typeface="宋体" pitchFamily="2" charset="-122"/>
                  <a:cs typeface="+mn-cs"/>
                </a:rPr>
                <a:t>BEIHANG UNIVERSITY</a:t>
              </a:r>
              <a:endParaRPr kumimoji="0" lang="zh-CN" altLang="en-US" sz="1400" b="1" i="0" u="none" strike="noStrike" kern="1200" cap="none" spc="0" normalizeH="0" baseline="0" noProof="0" dirty="0">
                <a:ln>
                  <a:noFill/>
                </a:ln>
                <a:solidFill>
                  <a:prstClr val="white"/>
                </a:solidFill>
                <a:effectLst/>
                <a:uLnTx/>
                <a:uFillTx/>
                <a:latin typeface="Calibri"/>
                <a:ea typeface="宋体" pitchFamily="2" charset="-122"/>
                <a:cs typeface="+mn-cs"/>
              </a:endParaRPr>
            </a:p>
          </p:txBody>
        </p:sp>
      </p:grpSp>
      <p:sp>
        <p:nvSpPr>
          <p:cNvPr id="18" name="文本占位符 24"/>
          <p:cNvSpPr txBox="1"/>
          <p:nvPr/>
        </p:nvSpPr>
        <p:spPr>
          <a:xfrm>
            <a:off x="191347" y="2324320"/>
            <a:ext cx="11809308" cy="141560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1000"/>
              </a:spcBef>
              <a:spcAft>
                <a:spcPts val="0"/>
              </a:spcAft>
              <a:buClrTx/>
              <a:buSzTx/>
              <a:buFont typeface="Arial" panose="020B0604020202090204" pitchFamily="34" charset="0"/>
              <a:buNone/>
              <a:defRPr/>
            </a:pPr>
            <a:r>
              <a:rPr kumimoji="0" lang="zh-CN" altLang="en-US" sz="72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  汇报结束  感谢聆听</a:t>
            </a:r>
            <a:r>
              <a:rPr kumimoji="0" lang="zh-CN" altLang="en-US" sz="7200" b="1" i="1"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a:t>
            </a:r>
          </a:p>
        </p:txBody>
      </p:sp>
      <p:cxnSp>
        <p:nvCxnSpPr>
          <p:cNvPr id="26" name="直接连接符 25"/>
          <p:cNvCxnSpPr/>
          <p:nvPr/>
        </p:nvCxnSpPr>
        <p:spPr>
          <a:xfrm>
            <a:off x="2567608" y="3888438"/>
            <a:ext cx="691276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7" name="图片 26"/>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2039657" y="4040776"/>
            <a:ext cx="8112685" cy="734387"/>
          </a:xfrm>
          <a:prstGeom prst="rect">
            <a:avLst/>
          </a:prstGeom>
        </p:spPr>
      </p:pic>
      <p:sp>
        <p:nvSpPr>
          <p:cNvPr id="3" name="平行四边形 2">
            <a:extLst>
              <a:ext uri="{FF2B5EF4-FFF2-40B4-BE49-F238E27FC236}">
                <a16:creationId xmlns:a16="http://schemas.microsoft.com/office/drawing/2014/main" id="{DA5E78D3-5816-39F7-EAD7-450B970E8A37}"/>
              </a:ext>
            </a:extLst>
          </p:cNvPr>
          <p:cNvSpPr/>
          <p:nvPr/>
        </p:nvSpPr>
        <p:spPr>
          <a:xfrm>
            <a:off x="3152056" y="6087611"/>
            <a:ext cx="2764598" cy="487239"/>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5" name="平行四边形 4">
            <a:extLst>
              <a:ext uri="{FF2B5EF4-FFF2-40B4-BE49-F238E27FC236}">
                <a16:creationId xmlns:a16="http://schemas.microsoft.com/office/drawing/2014/main" id="{D0E43B53-F159-3B25-5152-6831255BEB70}"/>
              </a:ext>
            </a:extLst>
          </p:cNvPr>
          <p:cNvSpPr/>
          <p:nvPr/>
        </p:nvSpPr>
        <p:spPr>
          <a:xfrm>
            <a:off x="6580148" y="6087610"/>
            <a:ext cx="2764598" cy="487239"/>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9" name="文本占位符 30">
            <a:extLst>
              <a:ext uri="{FF2B5EF4-FFF2-40B4-BE49-F238E27FC236}">
                <a16:creationId xmlns:a16="http://schemas.microsoft.com/office/drawing/2014/main" id="{90A37D96-6C47-1AEC-B562-69FC11F11EF5}"/>
              </a:ext>
            </a:extLst>
          </p:cNvPr>
          <p:cNvSpPr txBox="1"/>
          <p:nvPr/>
        </p:nvSpPr>
        <p:spPr>
          <a:xfrm>
            <a:off x="3274332" y="61862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 24421001 </a:t>
            </a: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黄婷</a:t>
            </a:r>
          </a:p>
        </p:txBody>
      </p:sp>
      <p:sp>
        <p:nvSpPr>
          <p:cNvPr id="14" name="文本占位符 31">
            <a:extLst>
              <a:ext uri="{FF2B5EF4-FFF2-40B4-BE49-F238E27FC236}">
                <a16:creationId xmlns:a16="http://schemas.microsoft.com/office/drawing/2014/main" id="{CA30B7EE-4784-FDDC-F135-8922B47B7328}"/>
              </a:ext>
            </a:extLst>
          </p:cNvPr>
          <p:cNvSpPr txBox="1"/>
          <p:nvPr/>
        </p:nvSpPr>
        <p:spPr>
          <a:xfrm>
            <a:off x="6612618" y="61862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24421020 </a:t>
            </a: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高嘉焕</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3552F-F0EC-E1DA-3D3D-32896B5B62A7}"/>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2A323A85-D7B6-819F-CEB3-6551C1329A2F}"/>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A9DAE8DB-48EA-4698-EE3C-247BE8895C36}"/>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sp>
          <p:nvSpPr>
            <p:cNvPr id="6" name="平行四边形 5">
              <a:extLst>
                <a:ext uri="{FF2B5EF4-FFF2-40B4-BE49-F238E27FC236}">
                  <a16:creationId xmlns:a16="http://schemas.microsoft.com/office/drawing/2014/main" id="{A04D8173-B5BC-5278-7802-C872510F8778}"/>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pitchFamily="2" charset="-122"/>
                <a:cs typeface="+mn-cs"/>
              </a:endParaRPr>
            </a:p>
          </p:txBody>
        </p:sp>
      </p:grpSp>
      <p:cxnSp>
        <p:nvCxnSpPr>
          <p:cNvPr id="7" name="直接连接符 6">
            <a:extLst>
              <a:ext uri="{FF2B5EF4-FFF2-40B4-BE49-F238E27FC236}">
                <a16:creationId xmlns:a16="http://schemas.microsoft.com/office/drawing/2014/main" id="{C32C461F-F27E-79AF-4907-C64412D0FA16}"/>
              </a:ext>
            </a:extLst>
          </p:cNvPr>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8064BC99-EF23-4935-9D91-340653F92247}"/>
              </a:ext>
            </a:extLst>
          </p:cNvPr>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附录</a:t>
            </a:r>
          </a:p>
        </p:txBody>
      </p:sp>
      <p:pic>
        <p:nvPicPr>
          <p:cNvPr id="52" name="图片 51">
            <a:extLst>
              <a:ext uri="{FF2B5EF4-FFF2-40B4-BE49-F238E27FC236}">
                <a16:creationId xmlns:a16="http://schemas.microsoft.com/office/drawing/2014/main" id="{A27A4906-18FA-9C02-C41F-81FACC480978}"/>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29411D8F-92E7-24A3-2325-60BA6ABC90B5}"/>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44166CDB-E610-80A4-B97D-D9624000E02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2A76C159-646D-67C8-BCB3-44ADBE5B6B5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4F0F7B92-D32A-43D4-B77E-E68D9A690CB7}"/>
                </a:ext>
              </a:extLst>
            </p:cNvPr>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sp>
        <p:nvSpPr>
          <p:cNvPr id="3" name="文本框 2">
            <a:extLst>
              <a:ext uri="{FF2B5EF4-FFF2-40B4-BE49-F238E27FC236}">
                <a16:creationId xmlns:a16="http://schemas.microsoft.com/office/drawing/2014/main" id="{A8A1A6E7-87C7-8C94-5925-BAD3D27D6555}"/>
              </a:ext>
            </a:extLst>
          </p:cNvPr>
          <p:cNvSpPr txBox="1"/>
          <p:nvPr/>
        </p:nvSpPr>
        <p:spPr>
          <a:xfrm>
            <a:off x="533911" y="1245793"/>
            <a:ext cx="10297740" cy="369332"/>
          </a:xfrm>
          <a:prstGeom prst="rect">
            <a:avLst/>
          </a:prstGeom>
          <a:noFill/>
        </p:spPr>
        <p:txBody>
          <a:bodyPr wrap="square" rtlCol="0">
            <a:spAutoFit/>
          </a:bodyPr>
          <a:lstStyle/>
          <a:p>
            <a:r>
              <a:rPr lang="zh-CN" altLang="en-US" dirty="0"/>
              <a:t>本项目分析代码已提交至 </a:t>
            </a:r>
            <a:r>
              <a:rPr lang="en-US" altLang="zh-CN" dirty="0" err="1"/>
              <a:t>github</a:t>
            </a:r>
            <a:r>
              <a:rPr lang="en-US" altLang="zh-CN" dirty="0"/>
              <a:t> </a:t>
            </a:r>
            <a:r>
              <a:rPr lang="zh-CN" altLang="en-US" dirty="0"/>
              <a:t>仓库 </a:t>
            </a:r>
            <a:r>
              <a:rPr lang="en-US" altLang="zh-CN" dirty="0">
                <a:hlinkClick r:id="rId6"/>
              </a:rPr>
              <a:t>https://github.com/Kelvin2005/Statistics_Project</a:t>
            </a:r>
            <a:r>
              <a:rPr lang="en-US" altLang="zh-CN" dirty="0"/>
              <a:t> </a:t>
            </a:r>
            <a:r>
              <a:rPr lang="zh-CN" altLang="en-US" dirty="0"/>
              <a:t>的 </a:t>
            </a:r>
            <a:r>
              <a:rPr lang="en-US" altLang="zh-CN" dirty="0"/>
              <a:t>Master </a:t>
            </a:r>
            <a:r>
              <a:rPr lang="zh-CN" altLang="en-US" dirty="0"/>
              <a:t>分支</a:t>
            </a:r>
          </a:p>
        </p:txBody>
      </p:sp>
      <p:graphicFrame>
        <p:nvGraphicFramePr>
          <p:cNvPr id="8" name="表格 7">
            <a:extLst>
              <a:ext uri="{FF2B5EF4-FFF2-40B4-BE49-F238E27FC236}">
                <a16:creationId xmlns:a16="http://schemas.microsoft.com/office/drawing/2014/main" id="{08D9CE55-BF1F-293A-65E0-72EA7DD32ECC}"/>
              </a:ext>
            </a:extLst>
          </p:cNvPr>
          <p:cNvGraphicFramePr>
            <a:graphicFrameLocks noGrp="1"/>
          </p:cNvGraphicFramePr>
          <p:nvPr>
            <p:extLst>
              <p:ext uri="{D42A27DB-BD31-4B8C-83A1-F6EECF244321}">
                <p14:modId xmlns:p14="http://schemas.microsoft.com/office/powerpoint/2010/main" val="4014599859"/>
              </p:ext>
            </p:extLst>
          </p:nvPr>
        </p:nvGraphicFramePr>
        <p:xfrm>
          <a:off x="586789" y="2189063"/>
          <a:ext cx="9250803" cy="1112520"/>
        </p:xfrm>
        <a:graphic>
          <a:graphicData uri="http://schemas.openxmlformats.org/drawingml/2006/table">
            <a:tbl>
              <a:tblPr firstRow="1" bandRow="1">
                <a:tableStyleId>{5C22544A-7EE6-4342-B048-85BDC9FD1C3A}</a:tableStyleId>
              </a:tblPr>
              <a:tblGrid>
                <a:gridCol w="1800592">
                  <a:extLst>
                    <a:ext uri="{9D8B030D-6E8A-4147-A177-3AD203B41FA5}">
                      <a16:colId xmlns:a16="http://schemas.microsoft.com/office/drawing/2014/main" val="3348602247"/>
                    </a:ext>
                  </a:extLst>
                </a:gridCol>
                <a:gridCol w="1920854">
                  <a:extLst>
                    <a:ext uri="{9D8B030D-6E8A-4147-A177-3AD203B41FA5}">
                      <a16:colId xmlns:a16="http://schemas.microsoft.com/office/drawing/2014/main" val="775818542"/>
                    </a:ext>
                  </a:extLst>
                </a:gridCol>
                <a:gridCol w="5529357">
                  <a:extLst>
                    <a:ext uri="{9D8B030D-6E8A-4147-A177-3AD203B41FA5}">
                      <a16:colId xmlns:a16="http://schemas.microsoft.com/office/drawing/2014/main" val="3306131007"/>
                    </a:ext>
                  </a:extLst>
                </a:gridCol>
              </a:tblGrid>
              <a:tr h="370840">
                <a:tc>
                  <a:txBody>
                    <a:bodyPr/>
                    <a:lstStyle/>
                    <a:p>
                      <a:pPr algn="ctr"/>
                      <a:r>
                        <a:rPr lang="zh-CN" altLang="en-US" dirty="0"/>
                        <a:t>学号</a:t>
                      </a:r>
                    </a:p>
                  </a:txBody>
                  <a:tcPr/>
                </a:tc>
                <a:tc>
                  <a:txBody>
                    <a:bodyPr/>
                    <a:lstStyle/>
                    <a:p>
                      <a:pPr algn="ctr"/>
                      <a:r>
                        <a:rPr lang="zh-CN" altLang="en-US" dirty="0"/>
                        <a:t>姓名</a:t>
                      </a:r>
                    </a:p>
                  </a:txBody>
                  <a:tcPr/>
                </a:tc>
                <a:tc>
                  <a:txBody>
                    <a:bodyPr/>
                    <a:lstStyle/>
                    <a:p>
                      <a:pPr algn="ctr"/>
                      <a:r>
                        <a:rPr lang="zh-CN" altLang="en-US" dirty="0"/>
                        <a:t>项目分工</a:t>
                      </a:r>
                    </a:p>
                  </a:txBody>
                  <a:tcPr/>
                </a:tc>
                <a:extLst>
                  <a:ext uri="{0D108BD9-81ED-4DB2-BD59-A6C34878D82A}">
                    <a16:rowId xmlns:a16="http://schemas.microsoft.com/office/drawing/2014/main" val="2793776961"/>
                  </a:ext>
                </a:extLst>
              </a:tr>
              <a:tr h="370840">
                <a:tc>
                  <a:txBody>
                    <a:bodyPr/>
                    <a:lstStyle/>
                    <a:p>
                      <a:pPr algn="ctr"/>
                      <a:r>
                        <a:rPr lang="en-US" altLang="zh-CN" dirty="0"/>
                        <a:t>24421001</a:t>
                      </a:r>
                      <a:endParaRPr lang="zh-CN" altLang="en-US" dirty="0"/>
                    </a:p>
                  </a:txBody>
                  <a:tcPr/>
                </a:tc>
                <a:tc>
                  <a:txBody>
                    <a:bodyPr/>
                    <a:lstStyle/>
                    <a:p>
                      <a:pPr algn="ctr"/>
                      <a:r>
                        <a:rPr lang="zh-CN" altLang="en-US" dirty="0"/>
                        <a:t>黄婷</a:t>
                      </a:r>
                    </a:p>
                  </a:txBody>
                  <a:tcPr/>
                </a:tc>
                <a:tc>
                  <a:txBody>
                    <a:bodyPr/>
                    <a:lstStyle/>
                    <a:p>
                      <a:pPr algn="ctr"/>
                      <a:r>
                        <a:rPr lang="en-US" altLang="zh-CN" dirty="0"/>
                        <a:t>PPT</a:t>
                      </a:r>
                      <a:r>
                        <a:rPr lang="zh-CN" altLang="en-US" dirty="0"/>
                        <a:t>制作，研究方法，运行结果分析，结果分析</a:t>
                      </a:r>
                    </a:p>
                  </a:txBody>
                  <a:tcPr/>
                </a:tc>
                <a:extLst>
                  <a:ext uri="{0D108BD9-81ED-4DB2-BD59-A6C34878D82A}">
                    <a16:rowId xmlns:a16="http://schemas.microsoft.com/office/drawing/2014/main" val="247541929"/>
                  </a:ext>
                </a:extLst>
              </a:tr>
              <a:tr h="370840">
                <a:tc>
                  <a:txBody>
                    <a:bodyPr/>
                    <a:lstStyle/>
                    <a:p>
                      <a:pPr algn="ctr"/>
                      <a:r>
                        <a:rPr lang="en-US" altLang="zh-CN" dirty="0"/>
                        <a:t>24421020</a:t>
                      </a:r>
                      <a:endParaRPr lang="zh-CN" altLang="en-US" dirty="0"/>
                    </a:p>
                  </a:txBody>
                  <a:tcPr/>
                </a:tc>
                <a:tc>
                  <a:txBody>
                    <a:bodyPr/>
                    <a:lstStyle/>
                    <a:p>
                      <a:pPr algn="ctr"/>
                      <a:r>
                        <a:rPr lang="zh-CN" altLang="en-US" dirty="0"/>
                        <a:t>高嘉焕</a:t>
                      </a:r>
                    </a:p>
                  </a:txBody>
                  <a:tcPr/>
                </a:tc>
                <a:tc>
                  <a:txBody>
                    <a:bodyPr/>
                    <a:lstStyle/>
                    <a:p>
                      <a:pPr algn="ctr"/>
                      <a:r>
                        <a:rPr lang="zh-CN" altLang="en-US" dirty="0"/>
                        <a:t>论文撰写，代码制作，数据获取与处理</a:t>
                      </a:r>
                    </a:p>
                  </a:txBody>
                  <a:tcPr/>
                </a:tc>
                <a:extLst>
                  <a:ext uri="{0D108BD9-81ED-4DB2-BD59-A6C34878D82A}">
                    <a16:rowId xmlns:a16="http://schemas.microsoft.com/office/drawing/2014/main" val="1363451219"/>
                  </a:ext>
                </a:extLst>
              </a:tr>
            </a:tbl>
          </a:graphicData>
        </a:graphic>
      </p:graphicFrame>
    </p:spTree>
    <p:extLst>
      <p:ext uri="{BB962C8B-B14F-4D97-AF65-F5344CB8AC3E}">
        <p14:creationId xmlns:p14="http://schemas.microsoft.com/office/powerpoint/2010/main" val="22909063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JmZDc2MTlmZWZhODY3YTY0ZDQ0MTk4NGMwNWZiMG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1705</Words>
  <Application>Microsoft Office PowerPoint</Application>
  <PresentationFormat>宽屏</PresentationFormat>
  <Paragraphs>258</Paragraphs>
  <Slides>28</Slides>
  <Notes>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Times New Roman Regular</vt:lpstr>
      <vt:lpstr>宋体</vt:lpstr>
      <vt:lpstr>微软雅黑</vt:lpstr>
      <vt:lpstr>微软雅黑 Light</vt:lpstr>
      <vt:lpstr>等线</vt:lpstr>
      <vt:lpstr>阿里巴巴普惠体 H</vt:lpstr>
      <vt:lpstr>阿里巴巴普惠体 M</vt:lpstr>
      <vt:lpstr>Arial</vt:lpstr>
      <vt:lpstr>Arial Black</vt:lpstr>
      <vt:lpstr>Calibri</vt:lpstr>
      <vt:lpstr>Century Gothic</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Kelvin Gao</cp:lastModifiedBy>
  <cp:revision>41</cp:revision>
  <dcterms:created xsi:type="dcterms:W3CDTF">2026-06-14T09:06:48Z</dcterms:created>
  <dcterms:modified xsi:type="dcterms:W3CDTF">2026-06-14T14:29:55Z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7305D3910C941B07286F2E6A056551E1_42</vt:lpwstr>
  </property>
  <property fmtid="{D5CDD505-2E9C-101B-9397-08002B2CF9AE}" pid="3" name="KSOProductBuildVer">
    <vt:lpwstr>2052-6.10.1.8873</vt:lpwstr>
  </property>
</Properties>
</file>